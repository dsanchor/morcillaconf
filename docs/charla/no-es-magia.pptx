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paso 1 de 1 · ≈ 1 min</a:t>
            </a:r>
          </a:p>
          <a:p/>
          <a:p>
            <a:r>
              <a:t>Presentaos: Jesús y David, burgaleses, de Microsoft. «Hoy os vamos a hacer un truco… y después os lo vamos a desmontar entero.» No expliquéis nada más todavía: la demo va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 · paso 1 de 1 · ≈ 5 min</a:t>
            </a:r>
          </a:p>
          <a:p/>
          <a:p>
            <a:r>
              <a:t>Cinco minutos, sin explicar: entrad con un nombre, pedid mesa y confirmad con el botón, decid que sois celíacos y preguntad qué os recomienda, pedid morcilla a la brasa y una caña, ved la burbuja de cocina y la de barra, pedid la cuenta y pagad con «Tarjeta». Encended «Bajo el capó» unos segundos. Si algo falla, también es arquitectura: contadlo.</a:t>
            </a:r>
          </a:p>
          <a:p/>
          <a:p>
            <a:r>
              <a:t>En PowerPoint: «Demo en vivo» o un clic en la imagen abre el navegador; vuelve con Cmd+Tab. La barra naranja cuenta los 5 minutos (un clic la completa; otro clic pasa a la siguiente). Si la red falla, «Demo grabada» enseña 5 capturas reales del 8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B: capturas reales de la demo en Azure (8 de octubre). Un clic pasa a la siguiente; tras la última vuelve a la demo. La flecha → sigue con «¿Magia?».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B: capturas reales de la demo en Azure (8 de octubre). Un clic pasa a la siguiente; tras la última vuelve a la demo. La flecha → sigue con «¿Magia?».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B: capturas reales de la demo en Azure (8 de octubre). Un clic pasa a la siguiente; tras la última vuelve a la demo. La flecha → sigue con «¿Magia?».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B: capturas reales de la demo en Azure (8 de octubre). Un clic pasa a la siguiente; tras la última vuelve a la demo. La flecha → sigue con «¿Magia?».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B: capturas reales de la demo en Azure (8 de octubre). Un clic pasa a la siguiente; tras la última vuelve a la demo. La flecha → sigue con «¿Magia?».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¿Magia? · paso 1 de 4 · ≈ 2 min</a:t>
            </a:r>
          </a:p>
          <a:p/>
          <a:p>
            <a:r>
              <a:t>¿Qué acaba de pasar? Parece magia: un camarero que lo entiende todo y lo coordina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¿Magia? · paso 2 de 4</a:t>
            </a:r>
          </a:p>
          <a:p/>
          <a:p>
            <a:r>
              <a:t>Cinco trucos: nos ha buscado mesa, se sabe la carta, la cocina trabaja a la vez, al celíaco no le ha puesto la caña y nos ha cobrado lo justo.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¿Magia? · paso 3 de 4</a:t>
            </a:r>
          </a:p>
          <a:p/>
          <a:p>
            <a:r>
              <a:t>Damos la vuelta a las cartas: detrás de cada truco hay una pieza con nombre y apellidos.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¿Magia? · paso 4 de 4</a:t>
            </a:r>
          </a:p>
          <a:p/>
          <a:p>
            <a:r>
              <a:t>No es magia: es arquitectura. Vamos a abrir las cajas una a una, empezando por el mago.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camarero · paso 1 de 3 · ≈ 3 min</a:t>
            </a:r>
          </a:p>
          <a:p/>
          <a:p>
            <a:r>
              <a:t>El camarero habla como una persona, se acuerda de ti («lo de siempre») y lo coordina todo. ¿Cómo?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camarero · paso 2 de 3</a:t>
            </a:r>
          </a:p>
          <a:p/>
          <a:p>
            <a:r>
              <a:t>Abrimos la caja. Dentro hay un modelo, la única caja negra de verdad, rodeado de cosas que sí diseñamos: instrucciones (cómo habla y qué no hace nunca), memoria (tus gustos entre visitas) y herramientas (a quién puede pedir cosas). No sabe hacerlo todo: sabe a quién pedírselo.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camarero · paso 3 de 3</a:t>
            </a:r>
          </a:p>
          <a:p/>
          <a:p>
            <a:r>
              <a:t>Para los técnicos: Microsoft Agent Framework y un modelo en Foundry. Cada turno: memoria, razonamiento, herramientas y una respuesta estructurada. Incluso «lo de siempre» lo decide un agente pequeño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ha buscado mesa · paso 1 de 3 · ≈ 2,5 min</a:t>
            </a:r>
          </a:p>
          <a:p/>
          <a:p>
            <a:r>
              <a:t>Primer truco: nos ha propuesto mesa y nos ha dejado decidir con botones.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ha buscado mesa · paso 2 de 3</a:t>
            </a:r>
          </a:p>
          <a:p/>
          <a:p>
            <a:r>
              <a:t>El camarero no ve el comedor. Pregunta al servicio de mesas, que es el único que sabe qué está libre. Aparta la mesa 2 y espera a que tú pulses. Si escribes «sí», no vale: solo el botón.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ha buscado mesa · paso 3 de 3</a:t>
            </a:r>
          </a:p>
          <a:p/>
          <a:p>
            <a:r>
              <a:t>Eso es MCP, un enchufe estándar para herramientas, más aprobación humana: el agente se queda en pausa hasta que pulsas.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sabe la carta · paso 1 de 3 · ≈ 2,5 min</a:t>
            </a:r>
          </a:p>
          <a:p/>
          <a:p>
            <a:r>
              <a:t>Segundo truco: se sabe la carta, sabe qué lleva gluten y cita 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sabe la carta · paso 2 de 3</a:t>
            </a:r>
          </a:p>
          <a:p/>
          <a:p>
            <a:r>
              <a:t>No se lo sabe de memoria: antes de hablar busca en la biblioteca de la casa, que tiene carta, recetario e ingredientes. La web solo sirve para cultura general, nunca para precios. Si no está en la carta, no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sabe la carta · paso 3 de 3</a:t>
            </a:r>
          </a:p>
          <a:p/>
          <a:p>
            <a:r>
              <a:t>Es Foundry IQ, una base de conocimiento sobre Azure AI Search. Devuelve fragmentos literales con su fuente y se consulta por MCP. Camarero, cocina y caja comparten la misma.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cocina trabaja a la vez · paso 1 de 3 · ≈ 3 min</a:t>
            </a:r>
          </a:p>
          <a:p/>
          <a:p>
            <a:r>
              <a:t>Tercer truco: la cocina responde con un plan completo, partida por partida.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cocina trabaja a la vez · paso 2 de 3</a:t>
            </a:r>
          </a:p>
          <a:p/>
          <a:p>
            <a:r>
              <a:t>La comanda sale del camarero hacia otro agente, el chef, que vive en otro contenedor. El chef reparte; el código comprueba que todo está en la carta y que nadie come lo que no puede; y las partidas confirman a la vez. Al chef solo le llega el pedido, nunca tus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cocina trabaja a la vez · paso 3 de 3</a:t>
            </a:r>
          </a:p>
          <a:p/>
          <a:p>
            <a:r>
              <a:t>Eso es A2A: agentes de equipos distintos que se hablan con un contrato. Si algo falla, aparece un error claro: jamás un plan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celíaco, ni una caña · paso 1 de 3 · ≈ 2 min</a:t>
            </a:r>
          </a:p>
          <a:p/>
          <a:p>
            <a:r>
              <a:t>Cuarto truco: el agua con gas sí, pero la caña al celíaco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celíaco, ni una caña · paso 2 de 3</a:t>
            </a:r>
          </a:p>
          <a:p/>
          <a:p>
            <a:r>
              <a:t>Las bebidas no van a cocina, las pone el camarero desde la barra. Pero no las pone «a ojo»: pasan por un control que es código puro. Mira la carta y aplica la misma regla de alérgenos que la cocina. La caña lleva cebada, así que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celíaco, ni una caña · paso 3 de 3</a:t>
            </a:r>
          </a:p>
          <a:p/>
          <a:p>
            <a:r>
              <a:t>El modelo decide cuándo y qué; el código decide si se puede. Misma entrada, mismo resultado. Si no puede comprobarlo, no lo sirve.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cobra lo justo · paso 1 de 3 · ≈ 2,5 min</a:t>
            </a:r>
          </a:p>
          <a:p/>
          <a:p>
            <a:r>
              <a:t>Quinto truco: la cuenta cuadra al céntimo y te deja elegir cómo pagar.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cobra lo justo · paso 2 de 3</a:t>
            </a:r>
          </a:p>
          <a:p/>
          <a:p>
            <a:r>
              <a:t>La aplicación lleva la libreta de la visita: qué se ha servido de verdad. La caña rechazada no está, así que no se cobra. La caja es otro agente: pone los precios de la carta, suma con código y espera a tu botón.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cobra lo justo · paso 3 de 3</a:t>
            </a:r>
          </a:p>
          <a:p/>
          <a:p>
            <a:r>
              <a:t>Técnicamente es A2A con una pausa: la tarea queda «esperando al cliente». Escribir «pago con tarjeta» no paga; pulsar dos veces da el mismo recibo.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≈ 3 min</a:t>
            </a:r>
          </a:p>
          <a:p/>
          <a:p>
            <a:r>
              <a:t>El telón se abre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1 de 3</a:t>
            </a:r>
          </a:p>
          <a:p/>
          <a:p>
            <a:r>
              <a:t>Este es el mesón entero. Seis contenedores en Azure Container Apps: sala, libreta, camarero, mesas, cocina y caja. Al lado, Microsoft Foundry con el modelo y la base de conocimiento. Debajo, cómo llega cada cambio: GitHub, pruebas, imágenes y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2 de 3 · escena 1 de 4 (avanza sola)</a:t>
            </a:r>
          </a:p>
          <a:p/>
          <a:p>
            <a:r>
              <a:t>Repetimos el truco a cámara lenta: mirad cómo viaja el pedido por cada pieza.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2 de 3 · escena 2 de 4 (avanza sola)</a:t>
            </a:r>
          </a:p>
          <a:p/>
          <a:p>
            <a:r>
              <a:t>Repetimos el truco a cámara lenta: mirad cómo viaja el pedido por cada pieza.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2 de 3 · escena 3 de 4 (avanza sola)</a:t>
            </a:r>
          </a:p>
          <a:p/>
          <a:p>
            <a:r>
              <a:t>Repetimos el truco a cámara lenta: mirad cómo viaja el pedido por cada pieza.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2 de 3 · escena 4 de 4 (avanza sola)</a:t>
            </a:r>
          </a:p>
          <a:p/>
          <a:p>
            <a:r>
              <a:t>Repetimos el truco a cámara lenta: mirad cómo viaja el pedido por cada pieza.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Detrás del telón · paso 3 de 3</a:t>
            </a:r>
          </a:p>
          <a:p/>
          <a:p>
            <a:r>
              <a:t>Ninguna pieza es mágica. Lo que parece magia es cómo encajan.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 la casa · paso 1 de 5 · ≈ 2 min</a:t>
            </a:r>
          </a:p>
          <a:p/>
          <a:p>
            <a:r>
              <a:t>Si os lleváis una cosa: cada uno a lo suyo. Agentes pequeños y un orquestador que sabe a quién pedir.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 la casa · paso 2 de 5</a:t>
            </a:r>
          </a:p>
          <a:p/>
          <a:p>
            <a:r>
              <a:t>Si no está en la carta, no existe: anclad la IA a vuestros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 la casa · paso 3 de 5</a:t>
            </a:r>
          </a:p>
          <a:p/>
          <a:p>
            <a:r>
              <a:t>Lo exacto, con código: dinero, salud y reservas no se dejan a la intuición.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 la casa · paso 4 de 5</a:t>
            </a:r>
          </a:p>
          <a:p/>
          <a:p>
            <a:r>
              <a:t>La IA propone y la persona decide: botones, no mensajes.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 la casa · paso 5 de 5</a:t>
            </a:r>
          </a:p>
          <a:p/>
          <a:p>
            <a:r>
              <a:t>Y la cocina, a la vista: si no ves lo que pasa, no puedes arreglarlo.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 · paso 1 de 1 · ≈ 1,5 min</a:t>
            </a:r>
          </a:p>
          <a:p/>
          <a:p>
            <a:r>
              <a:t>Gracias. Elegid una carta: pulsad un QR para hacerlo grande. Probad la demo con vuestro nombre; el código está en GitHub; y seguidnos en LinkedIn. ¿Preguntas?</a:t>
            </a:r>
          </a:p>
          <a:p/>
          <a:p>
            <a:r>
              <a:t>Un clic en una carta la amplía; otro clic vuelve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Carta ampliada. Un clic vuelve a «¡Gracias!».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Carta ampliada. Un clic vuelve a «¡Gracias!».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Carta ampliada. Un clic vuelve a «¡Gracias!».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Carta ampliada. Un clic vuelve a «¡Gracias!».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hyperlink" Target="https://morcilla-frontend.orangemeadow-9d06ea7d.spaincentral.azurecontainerapps.io/" TargetMode="External"/><Relationship Id="rId5" Type="http://schemas.openxmlformats.org/officeDocument/2006/relationships/notesSlide" Target="../notesSlides/notesSlide2.xml"/><Relationship Id="rId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4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5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6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7.xml"/><Relationship Id="rId4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.png"/><Relationship Id="rId8" Type="http://schemas.openxmlformats.org/officeDocument/2006/relationships/image" Target="../media/image36.png"/><Relationship Id="rId9" Type="http://schemas.openxmlformats.org/officeDocument/2006/relationships/image" Target="../media/image5.png"/><Relationship Id="rId10" Type="http://schemas.openxmlformats.org/officeDocument/2006/relationships/image" Target="../media/image37.png"/><Relationship Id="rId11" Type="http://schemas.openxmlformats.org/officeDocument/2006/relationships/notesSlide" Target="../notesSlides/notesSlide42.xml"/><Relationship Id="rId12" Type="http://schemas.openxmlformats.org/officeDocument/2006/relationships/slide" Target="slide43.xml"/><Relationship Id="rId13" Type="http://schemas.openxmlformats.org/officeDocument/2006/relationships/slide" Target="slide44.xml"/><Relationship Id="rId14" Type="http://schemas.openxmlformats.org/officeDocument/2006/relationships/slide" Target="slide45.xml"/><Relationship Id="rId15" Type="http://schemas.openxmlformats.org/officeDocument/2006/relationships/slide" Target="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43.xml"/><Relationship Id="rId5" Type="http://schemas.openxmlformats.org/officeDocument/2006/relationships/slide" Target="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4.xml"/><Relationship Id="rId4" Type="http://schemas.openxmlformats.org/officeDocument/2006/relationships/slide" Target="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45.xml"/><Relationship Id="rId6" Type="http://schemas.openxmlformats.org/officeDocument/2006/relationships/slide" Target="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46.xml"/><Relationship Id="rId6" Type="http://schemas.openxmlformats.org/officeDocument/2006/relationships/slide" Target="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logo" descr="dar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5300"/>
            <a:ext cx="2313880" cy="393700"/>
          </a:xfrm>
          <a:prstGeom prst="rect">
            <a:avLst/>
          </a:prstGeom>
        </p:spPr>
      </p:pic>
      <p:pic>
        <p:nvPicPr>
          <p:cNvPr id="3" name="!!chistera" descr="chist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8100"/>
            <a:ext cx="2984500" cy="2794000"/>
          </a:xfrm>
          <a:prstGeom prst="rect">
            <a:avLst/>
          </a:prstGeom>
        </p:spPr>
      </p:pic>
      <p:sp>
        <p:nvSpPr>
          <p:cNvPr id="4" name="!!titular-1-0"/>
          <p:cNvSpPr txBox="1"/>
          <p:nvPr/>
        </p:nvSpPr>
        <p:spPr>
          <a:xfrm>
            <a:off x="609600" y="1770360"/>
            <a:ext cx="744240" cy="1231900"/>
          </a:xfrm>
          <a:prstGeom prst="rect">
            <a:avLst/>
          </a:prstGeom>
          <a:noFill/>
        </p:spPr>
        <p:txBody>
          <a:bodyPr wrap="none" lIns="0" tIns="120536" rIns="0" bIns="0" anchor="ctr">
            <a:noAutofit/>
          </a:bodyPr>
          <a:lstStyle/>
          <a:p>
            <a:pPr algn="l">
              <a:lnSpc>
                <a:spcPts val="9700"/>
              </a:lnSpc>
            </a:pP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N</a:t>
            </a:r>
            <a:endParaRPr sz="8300"/>
          </a:p>
        </p:txBody>
      </p:sp>
      <p:sp>
        <p:nvSpPr>
          <p:cNvPr id="5" name="!!titular-1-1"/>
          <p:cNvSpPr txBox="1"/>
          <p:nvPr/>
        </p:nvSpPr>
        <p:spPr>
          <a:xfrm>
            <a:off x="2228652" y="1770360"/>
            <a:ext cx="5339060" cy="1231900"/>
          </a:xfrm>
          <a:prstGeom prst="rect">
            <a:avLst/>
          </a:prstGeom>
          <a:noFill/>
        </p:spPr>
        <p:txBody>
          <a:bodyPr wrap="none" lIns="0" tIns="120536" rIns="0" bIns="0" anchor="ctr">
            <a:noAutofit/>
          </a:bodyPr>
          <a:lstStyle/>
          <a:p>
            <a:pPr algn="l">
              <a:lnSpc>
                <a:spcPts val="9700"/>
              </a:lnSpc>
            </a:pP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 es m</a:t>
            </a:r>
            <a:r>
              <a:rPr sz="8300" b="0" i="0" cap="all" spc="-548">
                <a:solidFill>
                  <a:srgbClr val="0B0B0D"/>
                </a:solidFill>
                <a:latin typeface="Work Sans Black"/>
              </a:rPr>
              <a:t>a</a:t>
            </a: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gi</a:t>
            </a:r>
            <a:r>
              <a:rPr sz="8300" b="0" i="0" cap="all" spc="-83">
                <a:solidFill>
                  <a:srgbClr val="0B0B0D"/>
                </a:solidFill>
                <a:latin typeface="Work Sans Black"/>
              </a:rPr>
              <a:t>a</a:t>
            </a: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,</a:t>
            </a:r>
            <a:endParaRPr sz="8300"/>
          </a:p>
        </p:txBody>
      </p:sp>
      <p:pic>
        <p:nvPicPr>
          <p:cNvPr id="6" name="!!o-morcilla" descr="morcilla-neg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874" y="1916007"/>
            <a:ext cx="843260" cy="884448"/>
          </a:xfrm>
          <a:prstGeom prst="rect">
            <a:avLst/>
          </a:prstGeom>
        </p:spPr>
      </p:pic>
      <p:sp>
        <p:nvSpPr>
          <p:cNvPr id="7" name="!!titular-2"/>
          <p:cNvSpPr/>
          <p:nvPr/>
        </p:nvSpPr>
        <p:spPr>
          <a:xfrm>
            <a:off x="609600" y="2956223"/>
            <a:ext cx="9630271" cy="1138238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47574" tIns="161066" rIns="147574" bIns="70836">
            <a:noAutofit/>
          </a:bodyPr>
          <a:lstStyle/>
          <a:p>
            <a:pPr algn="l">
              <a:lnSpc>
                <a:spcPts val="7138"/>
              </a:lnSpc>
            </a:pP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es</a:t>
            </a:r>
            <a:r>
              <a:rPr sz="8300" b="0" i="0" cap="all" spc="-415">
                <a:solidFill>
                  <a:srgbClr val="FFFFFF"/>
                </a:solidFill>
                <a:latin typeface="Work Sans Black"/>
              </a:rPr>
              <a:t> </a:t>
            </a: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a</a:t>
            </a:r>
            <a:r>
              <a:rPr sz="8300" b="0" i="0" cap="all" spc="-390">
                <a:solidFill>
                  <a:srgbClr val="FFFFFF"/>
                </a:solidFill>
                <a:latin typeface="Work Sans Black"/>
              </a:rPr>
              <a:t>r</a:t>
            </a: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quitectura</a:t>
            </a:r>
            <a:endParaRPr sz="8300"/>
          </a:p>
        </p:txBody>
      </p:sp>
      <p:sp>
        <p:nvSpPr>
          <p:cNvPr id="8" name="!!rotu-sub-0"/>
          <p:cNvSpPr/>
          <p:nvPr/>
        </p:nvSpPr>
        <p:spPr>
          <a:xfrm>
            <a:off x="1683544" y="4525408"/>
            <a:ext cx="1240433" cy="114452"/>
          </a:xfrm>
          <a:custGeom>
            <a:avLst/>
            <a:gdLst/>
            <a:ahLst/>
            <a:cxnLst/>
            <a:rect l="l" t="t" r="r" b="b"/>
            <a:pathLst>
              <a:path w="1240433" h="114452">
                <a:moveTo>
                  <a:pt x="0" y="17792"/>
                </a:moveTo>
                <a:lnTo>
                  <a:pt x="28865" y="13419"/>
                </a:lnTo>
                <a:lnTo>
                  <a:pt x="58677" y="11672"/>
                </a:lnTo>
                <a:lnTo>
                  <a:pt x="89435" y="11865"/>
                </a:lnTo>
                <a:lnTo>
                  <a:pt x="121139" y="13313"/>
                </a:lnTo>
                <a:lnTo>
                  <a:pt x="153790" y="15328"/>
                </a:lnTo>
                <a:lnTo>
                  <a:pt x="187388" y="17224"/>
                </a:lnTo>
                <a:lnTo>
                  <a:pt x="221931" y="18317"/>
                </a:lnTo>
                <a:lnTo>
                  <a:pt x="257422" y="17918"/>
                </a:lnTo>
                <a:lnTo>
                  <a:pt x="293858" y="15343"/>
                </a:lnTo>
                <a:lnTo>
                  <a:pt x="331241" y="9906"/>
                </a:lnTo>
                <a:lnTo>
                  <a:pt x="369326" y="4578"/>
                </a:lnTo>
                <a:lnTo>
                  <a:pt x="407837" y="2303"/>
                </a:lnTo>
                <a:lnTo>
                  <a:pt x="446726" y="2346"/>
                </a:lnTo>
                <a:lnTo>
                  <a:pt x="485947" y="3975"/>
                </a:lnTo>
                <a:lnTo>
                  <a:pt x="525451" y="6455"/>
                </a:lnTo>
                <a:lnTo>
                  <a:pt x="565192" y="9054"/>
                </a:lnTo>
                <a:lnTo>
                  <a:pt x="605123" y="11037"/>
                </a:lnTo>
                <a:lnTo>
                  <a:pt x="645195" y="11672"/>
                </a:lnTo>
                <a:lnTo>
                  <a:pt x="685362" y="10225"/>
                </a:lnTo>
                <a:lnTo>
                  <a:pt x="725576" y="5962"/>
                </a:lnTo>
                <a:lnTo>
                  <a:pt x="762849" y="1609"/>
                </a:lnTo>
                <a:lnTo>
                  <a:pt x="794727" y="0"/>
                </a:lnTo>
                <a:lnTo>
                  <a:pt x="821967" y="568"/>
                </a:lnTo>
                <a:lnTo>
                  <a:pt x="845328" y="2744"/>
                </a:lnTo>
                <a:lnTo>
                  <a:pt x="865565" y="5962"/>
                </a:lnTo>
                <a:lnTo>
                  <a:pt x="883436" y="9653"/>
                </a:lnTo>
                <a:lnTo>
                  <a:pt x="899699" y="13249"/>
                </a:lnTo>
                <a:lnTo>
                  <a:pt x="915109" y="16183"/>
                </a:lnTo>
                <a:lnTo>
                  <a:pt x="930425" y="17887"/>
                </a:lnTo>
                <a:lnTo>
                  <a:pt x="946404" y="17792"/>
                </a:lnTo>
                <a:lnTo>
                  <a:pt x="975269" y="13419"/>
                </a:lnTo>
                <a:lnTo>
                  <a:pt x="1005081" y="11672"/>
                </a:lnTo>
                <a:lnTo>
                  <a:pt x="1035839" y="11865"/>
                </a:lnTo>
                <a:lnTo>
                  <a:pt x="1067543" y="13313"/>
                </a:lnTo>
                <a:lnTo>
                  <a:pt x="1100194" y="15328"/>
                </a:lnTo>
                <a:lnTo>
                  <a:pt x="1133792" y="17224"/>
                </a:lnTo>
                <a:lnTo>
                  <a:pt x="1168335" y="18317"/>
                </a:lnTo>
                <a:lnTo>
                  <a:pt x="1203826" y="17918"/>
                </a:lnTo>
                <a:lnTo>
                  <a:pt x="1240262" y="15343"/>
                </a:lnTo>
                <a:lnTo>
                  <a:pt x="1240433" y="9906"/>
                </a:lnTo>
                <a:lnTo>
                  <a:pt x="1240433" y="4578"/>
                </a:lnTo>
                <a:lnTo>
                  <a:pt x="1240433" y="2303"/>
                </a:lnTo>
                <a:lnTo>
                  <a:pt x="1240433" y="2346"/>
                </a:lnTo>
                <a:lnTo>
                  <a:pt x="1240433" y="3975"/>
                </a:lnTo>
                <a:lnTo>
                  <a:pt x="1240433" y="6455"/>
                </a:lnTo>
                <a:lnTo>
                  <a:pt x="1240433" y="9054"/>
                </a:lnTo>
                <a:lnTo>
                  <a:pt x="1240433" y="11037"/>
                </a:lnTo>
                <a:lnTo>
                  <a:pt x="1240433" y="11672"/>
                </a:lnTo>
                <a:lnTo>
                  <a:pt x="1240433" y="10225"/>
                </a:lnTo>
                <a:lnTo>
                  <a:pt x="1240433" y="5962"/>
                </a:lnTo>
                <a:lnTo>
                  <a:pt x="1240433" y="1609"/>
                </a:lnTo>
                <a:lnTo>
                  <a:pt x="1240433" y="0"/>
                </a:lnTo>
                <a:lnTo>
                  <a:pt x="1240433" y="568"/>
                </a:lnTo>
                <a:lnTo>
                  <a:pt x="1240433" y="2744"/>
                </a:lnTo>
                <a:lnTo>
                  <a:pt x="1240433" y="5962"/>
                </a:lnTo>
                <a:lnTo>
                  <a:pt x="1240433" y="9653"/>
                </a:lnTo>
                <a:lnTo>
                  <a:pt x="1240433" y="13249"/>
                </a:lnTo>
                <a:lnTo>
                  <a:pt x="1240433" y="16183"/>
                </a:lnTo>
                <a:lnTo>
                  <a:pt x="1240433" y="17887"/>
                </a:lnTo>
                <a:lnTo>
                  <a:pt x="1240433" y="17792"/>
                </a:lnTo>
                <a:lnTo>
                  <a:pt x="1240433" y="96659"/>
                </a:lnTo>
                <a:lnTo>
                  <a:pt x="1240433" y="100181"/>
                </a:lnTo>
                <a:lnTo>
                  <a:pt x="1240433" y="101644"/>
                </a:lnTo>
                <a:lnTo>
                  <a:pt x="1240433" y="101592"/>
                </a:lnTo>
                <a:lnTo>
                  <a:pt x="1240433" y="100571"/>
                </a:lnTo>
                <a:lnTo>
                  <a:pt x="1240433" y="99124"/>
                </a:lnTo>
                <a:lnTo>
                  <a:pt x="1240433" y="97795"/>
                </a:lnTo>
                <a:lnTo>
                  <a:pt x="1240433" y="97128"/>
                </a:lnTo>
                <a:lnTo>
                  <a:pt x="1240433" y="97669"/>
                </a:lnTo>
                <a:lnTo>
                  <a:pt x="1240433" y="99960"/>
                </a:lnTo>
                <a:lnTo>
                  <a:pt x="1240433" y="104546"/>
                </a:lnTo>
                <a:lnTo>
                  <a:pt x="1240433" y="108915"/>
                </a:lnTo>
                <a:lnTo>
                  <a:pt x="1240433" y="110634"/>
                </a:lnTo>
                <a:lnTo>
                  <a:pt x="1240433" y="110366"/>
                </a:lnTo>
                <a:lnTo>
                  <a:pt x="1240433" y="108773"/>
                </a:lnTo>
                <a:lnTo>
                  <a:pt x="1240433" y="106518"/>
                </a:lnTo>
                <a:lnTo>
                  <a:pt x="1240433" y="104262"/>
                </a:lnTo>
                <a:lnTo>
                  <a:pt x="1240433" y="102669"/>
                </a:lnTo>
                <a:lnTo>
                  <a:pt x="1240433" y="102401"/>
                </a:lnTo>
                <a:lnTo>
                  <a:pt x="1236193" y="104120"/>
                </a:lnTo>
                <a:lnTo>
                  <a:pt x="1198778" y="108489"/>
                </a:lnTo>
                <a:lnTo>
                  <a:pt x="1162752" y="112843"/>
                </a:lnTo>
                <a:lnTo>
                  <a:pt x="1130132" y="114452"/>
                </a:lnTo>
                <a:lnTo>
                  <a:pt x="1100541" y="113884"/>
                </a:lnTo>
                <a:lnTo>
                  <a:pt x="1073600" y="111707"/>
                </a:lnTo>
                <a:lnTo>
                  <a:pt x="1048931" y="108489"/>
                </a:lnTo>
                <a:lnTo>
                  <a:pt x="1026154" y="104798"/>
                </a:lnTo>
                <a:lnTo>
                  <a:pt x="1004892" y="101202"/>
                </a:lnTo>
                <a:lnTo>
                  <a:pt x="984765" y="98268"/>
                </a:lnTo>
                <a:lnTo>
                  <a:pt x="965395" y="96565"/>
                </a:lnTo>
                <a:lnTo>
                  <a:pt x="946404" y="96659"/>
                </a:lnTo>
                <a:lnTo>
                  <a:pt x="915622" y="100181"/>
                </a:lnTo>
                <a:lnTo>
                  <a:pt x="884698" y="101644"/>
                </a:lnTo>
                <a:lnTo>
                  <a:pt x="853491" y="101592"/>
                </a:lnTo>
                <a:lnTo>
                  <a:pt x="821857" y="100571"/>
                </a:lnTo>
                <a:lnTo>
                  <a:pt x="789656" y="99124"/>
                </a:lnTo>
                <a:lnTo>
                  <a:pt x="756744" y="97795"/>
                </a:lnTo>
                <a:lnTo>
                  <a:pt x="722981" y="97128"/>
                </a:lnTo>
                <a:lnTo>
                  <a:pt x="688225" y="97669"/>
                </a:lnTo>
                <a:lnTo>
                  <a:pt x="652332" y="99960"/>
                </a:lnTo>
                <a:lnTo>
                  <a:pt x="615162" y="104546"/>
                </a:lnTo>
                <a:lnTo>
                  <a:pt x="577748" y="108915"/>
                </a:lnTo>
                <a:lnTo>
                  <a:pt x="541090" y="110634"/>
                </a:lnTo>
                <a:lnTo>
                  <a:pt x="505001" y="110366"/>
                </a:lnTo>
                <a:lnTo>
                  <a:pt x="469290" y="108773"/>
                </a:lnTo>
                <a:lnTo>
                  <a:pt x="433768" y="106518"/>
                </a:lnTo>
                <a:lnTo>
                  <a:pt x="398247" y="104262"/>
                </a:lnTo>
                <a:lnTo>
                  <a:pt x="362536" y="102669"/>
                </a:lnTo>
                <a:lnTo>
                  <a:pt x="326446" y="102401"/>
                </a:lnTo>
                <a:lnTo>
                  <a:pt x="289789" y="104120"/>
                </a:lnTo>
                <a:lnTo>
                  <a:pt x="252374" y="108489"/>
                </a:lnTo>
                <a:lnTo>
                  <a:pt x="216348" y="112843"/>
                </a:lnTo>
                <a:lnTo>
                  <a:pt x="183728" y="114452"/>
                </a:lnTo>
                <a:lnTo>
                  <a:pt x="154137" y="113884"/>
                </a:lnTo>
                <a:lnTo>
                  <a:pt x="127196" y="111707"/>
                </a:lnTo>
                <a:lnTo>
                  <a:pt x="102527" y="108489"/>
                </a:lnTo>
                <a:lnTo>
                  <a:pt x="79750" y="104798"/>
                </a:lnTo>
                <a:lnTo>
                  <a:pt x="58488" y="101202"/>
                </a:lnTo>
                <a:lnTo>
                  <a:pt x="38361" y="98268"/>
                </a:lnTo>
                <a:lnTo>
                  <a:pt x="18991" y="96565"/>
                </a:lnTo>
                <a:lnTo>
                  <a:pt x="0" y="96659"/>
                </a:lnTo>
                <a:close/>
              </a:path>
            </a:pathLst>
          </a:cu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subtitulo"/>
          <p:cNvSpPr txBox="1"/>
          <p:nvPr/>
        </p:nvSpPr>
        <p:spPr>
          <a:xfrm>
            <a:off x="635000" y="4267200"/>
            <a:ext cx="6601123" cy="400050"/>
          </a:xfrm>
          <a:prstGeom prst="rect">
            <a:avLst/>
          </a:prstGeom>
          <a:noFill/>
        </p:spPr>
        <p:txBody>
          <a:bodyPr wrap="none" lIns="0" tIns="19242" rIns="0" bIns="0" anchor="t">
            <a:noAutofit/>
          </a:bodyPr>
          <a:lstStyle/>
          <a:p>
            <a:pPr algn="l">
              <a:lnSpc>
                <a:spcPts val="3167"/>
              </a:lnSpc>
            </a:pPr>
            <a:r>
              <a:rPr sz="2700" b="0" i="0" spc="-54">
                <a:solidFill>
                  <a:srgbClr val="0B0B0D"/>
                </a:solidFill>
                <a:latin typeface="Work Sans Medium"/>
              </a:rPr>
              <a:t>Cómo </a:t>
            </a:r>
            <a:r>
              <a:rPr sz="2700" b="0" i="0" spc="-54">
                <a:solidFill>
                  <a:srgbClr val="0B0B0D"/>
                </a:solidFill>
                <a:latin typeface="Work Sans ExtraBold"/>
              </a:rPr>
              <a:t>cocinar</a:t>
            </a:r>
            <a:r>
              <a:rPr sz="2700" b="0" i="0" spc="-54">
                <a:solidFill>
                  <a:srgbClr val="0B0B0D"/>
                </a:solidFill>
                <a:latin typeface="Work Sans Medium"/>
              </a:rPr>
              <a:t> sistemas mu</a:t>
            </a:r>
            <a:r>
              <a:rPr sz="2700" b="0" i="0" spc="-106">
                <a:solidFill>
                  <a:srgbClr val="0B0B0D"/>
                </a:solidFill>
                <a:latin typeface="Work Sans Medium"/>
              </a:rPr>
              <a:t>l</a:t>
            </a:r>
            <a:r>
              <a:rPr sz="2700" b="0" i="0" spc="-54">
                <a:solidFill>
                  <a:srgbClr val="0B0B0D"/>
                </a:solidFill>
                <a:latin typeface="Work Sans Medium"/>
              </a:rPr>
              <a:t>ti</a:t>
            </a:r>
            <a:r>
              <a:rPr sz="2700" b="0" i="0" spc="-94">
                <a:solidFill>
                  <a:srgbClr val="0B0B0D"/>
                </a:solidFill>
                <a:latin typeface="Work Sans Medium"/>
              </a:rPr>
              <a:t>-</a:t>
            </a:r>
            <a:r>
              <a:rPr sz="2700" b="0" i="0" spc="-48">
                <a:solidFill>
                  <a:srgbClr val="0B0B0D"/>
                </a:solidFill>
                <a:latin typeface="Work Sans Medium"/>
              </a:rPr>
              <a:t>a</a:t>
            </a:r>
            <a:r>
              <a:rPr sz="2700" b="0" i="0" spc="-54">
                <a:solidFill>
                  <a:srgbClr val="0B0B0D"/>
                </a:solidFill>
                <a:latin typeface="Work Sans Medium"/>
              </a:rPr>
              <a:t>ge</a:t>
            </a:r>
            <a:r>
              <a:rPr sz="2700" b="0" i="0" spc="-70">
                <a:solidFill>
                  <a:srgbClr val="0B0B0D"/>
                </a:solidFill>
                <a:latin typeface="Work Sans Medium"/>
              </a:rPr>
              <a:t>n</a:t>
            </a:r>
            <a:r>
              <a:rPr sz="2700" b="0" i="0" spc="-54">
                <a:solidFill>
                  <a:srgbClr val="0B0B0D"/>
                </a:solidFill>
                <a:latin typeface="Work Sans Medium"/>
              </a:rPr>
              <a:t>tes</a:t>
            </a:r>
            <a:endParaRPr sz="2700"/>
          </a:p>
        </p:txBody>
      </p:sp>
      <p:pic>
        <p:nvPicPr>
          <p:cNvPr id="10" name="!!foto-0" descr="jesus-gr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" y="5384800"/>
            <a:ext cx="812800" cy="812800"/>
          </a:xfrm>
          <a:prstGeom prst="roundRect">
            <a:avLst>
              <a:gd name="adj" fmla="val 9375"/>
            </a:avLst>
          </a:prstGeom>
          <a:ln w="25400">
            <a:solidFill>
              <a:srgbClr val="0B0B0D"/>
            </a:solidFill>
          </a:ln>
        </p:spPr>
      </p:pic>
      <p:sp>
        <p:nvSpPr>
          <p:cNvPr id="11" name="!!ponente-0"/>
          <p:cNvSpPr txBox="1"/>
          <p:nvPr/>
        </p:nvSpPr>
        <p:spPr>
          <a:xfrm>
            <a:off x="1612900" y="5557540"/>
            <a:ext cx="3055640" cy="251420"/>
          </a:xfrm>
          <a:prstGeom prst="rect">
            <a:avLst/>
          </a:prstGeom>
          <a:noFill/>
        </p:spPr>
        <p:txBody>
          <a:bodyPr wrap="none" lIns="0" tIns="16916" r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0" i="0" spc="-38">
                <a:solidFill>
                  <a:srgbClr val="0B0B0D"/>
                </a:solidFill>
                <a:latin typeface="Work Sans ExtraBold"/>
              </a:rPr>
              <a:t>J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esús </a:t>
            </a:r>
            <a:r>
              <a:rPr sz="1800" b="0" i="0" spc="-40">
                <a:solidFill>
                  <a:srgbClr val="0B0B0D"/>
                </a:solidFill>
                <a:latin typeface="Work Sans ExtraBold"/>
              </a:rPr>
              <a:t>R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ubio </a:t>
            </a:r>
            <a:r>
              <a:rPr sz="1800" b="0" i="0" spc="-40">
                <a:solidFill>
                  <a:srgbClr val="0B0B0D"/>
                </a:solidFill>
                <a:latin typeface="Work Sans ExtraBold"/>
              </a:rPr>
              <a:t>S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ainz</a:t>
            </a:r>
            <a:endParaRPr sz="1800"/>
          </a:p>
        </p:txBody>
      </p:sp>
      <p:sp>
        <p:nvSpPr>
          <p:cNvPr id="12" name="!!cargo-0"/>
          <p:cNvSpPr txBox="1"/>
          <p:nvPr/>
        </p:nvSpPr>
        <p:spPr>
          <a:xfrm>
            <a:off x="1612900" y="5847060"/>
            <a:ext cx="305564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>
                <a:solidFill>
                  <a:srgbClr val="5F5F66"/>
                </a:solidFill>
                <a:latin typeface="Work Sans Medium"/>
              </a:rPr>
              <a:t>Cloud Solution Architect · Microsoft</a:t>
            </a:r>
            <a:endParaRPr sz="1200"/>
          </a:p>
        </p:txBody>
      </p:sp>
      <p:pic>
        <p:nvPicPr>
          <p:cNvPr id="13" name="!!foto-1" descr="david-gr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440" y="5384800"/>
            <a:ext cx="812800" cy="812800"/>
          </a:xfrm>
          <a:prstGeom prst="roundRect">
            <a:avLst>
              <a:gd name="adj" fmla="val 9375"/>
            </a:avLst>
          </a:prstGeom>
          <a:ln w="25400">
            <a:solidFill>
              <a:srgbClr val="0B0B0D"/>
            </a:solidFill>
          </a:ln>
        </p:spPr>
      </p:pic>
      <p:sp>
        <p:nvSpPr>
          <p:cNvPr id="14" name="!!ponente-1"/>
          <p:cNvSpPr txBox="1"/>
          <p:nvPr/>
        </p:nvSpPr>
        <p:spPr>
          <a:xfrm>
            <a:off x="5748040" y="5557540"/>
            <a:ext cx="4094063" cy="251420"/>
          </a:xfrm>
          <a:prstGeom prst="rect">
            <a:avLst/>
          </a:prstGeom>
          <a:noFill/>
        </p:spPr>
        <p:txBody>
          <a:bodyPr wrap="none" lIns="0" tIns="16916" r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0" i="0" spc="-50">
                <a:solidFill>
                  <a:srgbClr val="0B0B0D"/>
                </a:solidFill>
                <a:latin typeface="Work Sans ExtraBold"/>
              </a:rPr>
              <a:t>D</a:t>
            </a:r>
            <a:r>
              <a:rPr sz="1800" b="0" i="0" spc="-79">
                <a:solidFill>
                  <a:srgbClr val="0B0B0D"/>
                </a:solidFill>
                <a:latin typeface="Work Sans ExtraBold"/>
              </a:rPr>
              <a:t>a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vid </a:t>
            </a:r>
            <a:r>
              <a:rPr sz="1800" b="0" i="0" spc="-40">
                <a:solidFill>
                  <a:srgbClr val="0B0B0D"/>
                </a:solidFill>
                <a:latin typeface="Work Sans ExtraBold"/>
              </a:rPr>
              <a:t>S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ancho </a:t>
            </a:r>
            <a:r>
              <a:rPr sz="1800" b="0" i="0" spc="-40">
                <a:solidFill>
                  <a:srgbClr val="0B0B0D"/>
                </a:solidFill>
                <a:latin typeface="Work Sans ExtraBold"/>
              </a:rPr>
              <a:t>R</a:t>
            </a:r>
            <a:r>
              <a:rPr sz="1800" b="0" i="0" spc="-36">
                <a:solidFill>
                  <a:srgbClr val="0B0B0D"/>
                </a:solidFill>
                <a:latin typeface="Work Sans ExtraBold"/>
              </a:rPr>
              <a:t>uiz</a:t>
            </a:r>
            <a:endParaRPr sz="1800"/>
          </a:p>
        </p:txBody>
      </p:sp>
      <p:sp>
        <p:nvSpPr>
          <p:cNvPr id="15" name="!!cargo-1"/>
          <p:cNvSpPr txBox="1"/>
          <p:nvPr/>
        </p:nvSpPr>
        <p:spPr>
          <a:xfrm>
            <a:off x="5748040" y="5847060"/>
            <a:ext cx="4094063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>
                <a:solidFill>
                  <a:srgbClr val="5F5F66"/>
                </a:solidFill>
                <a:latin typeface="Work Sans Medium"/>
              </a:rPr>
              <a:t>Sr Solutions Engineer, Cloud &amp; AI Apps · Microsoft</a:t>
            </a:r>
            <a:endParaRPr sz="1200"/>
          </a:p>
        </p:txBody>
      </p:sp>
      <p:sp>
        <p:nvSpPr>
          <p:cNvPr id="16" name="!!hora"/>
          <p:cNvSpPr/>
          <p:nvPr/>
        </p:nvSpPr>
        <p:spPr>
          <a:xfrm>
            <a:off x="8698309" y="4292600"/>
            <a:ext cx="2884091" cy="264716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 wrap="none" lIns="76200" tIns="12700" rIns="76200" bIns="12700">
            <a:noAutofit/>
          </a:bodyPr>
          <a:lstStyle/>
          <a:p>
            <a:pPr algn="r">
              <a:lnSpc>
                <a:spcPts val="1885"/>
              </a:lnSpc>
            </a:pPr>
            <a:r>
              <a:rPr sz="1300" b="0" i="0" cap="all" spc="52">
                <a:solidFill>
                  <a:srgbClr val="0B0B0D"/>
                </a:solidFill>
                <a:highlight>
                  <a:srgbClr val="EF6B3B"/>
                </a:highlight>
                <a:latin typeface="Work Sans ExtraBold"/>
              </a:rPr>
              <a:t>Sábado 17 de octubre · 11:30</a:t>
            </a:r>
            <a:endParaRPr sz="1300"/>
          </a:p>
        </p:txBody>
      </p:sp>
      <p:sp>
        <p:nvSpPr>
          <p:cNvPr id="17" name="!!lugar"/>
          <p:cNvSpPr txBox="1"/>
          <p:nvPr/>
        </p:nvSpPr>
        <p:spPr>
          <a:xfrm>
            <a:off x="8317309" y="4595416"/>
            <a:ext cx="3265091" cy="239316"/>
          </a:xfrm>
          <a:prstGeom prst="rect">
            <a:avLst/>
          </a:prstGeom>
          <a:noFill/>
        </p:spPr>
        <p:txBody>
          <a:bodyPr wrap="none" lIns="381000" tIns="0" rIns="0" bIns="0" anchor="t">
            <a:noAutofit/>
          </a:bodyPr>
          <a:lstStyle/>
          <a:p>
            <a:pPr algn="r">
              <a:lnSpc>
                <a:spcPts val="1885"/>
              </a:lnSpc>
            </a:pPr>
            <a:r>
              <a:rPr sz="1300" b="0" i="0" cap="all" spc="52">
                <a:solidFill>
                  <a:srgbClr val="0B0B0D"/>
                </a:solidFill>
                <a:latin typeface="Work Sans ExtraBold"/>
              </a:rPr>
              <a:t>Universidad Isabel I · Burgos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demo-morcilla" descr="morcilla-bl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79400"/>
            <a:ext cx="584200" cy="612676"/>
          </a:xfrm>
          <a:prstGeom prst="rect">
            <a:avLst/>
          </a:prstGeom>
        </p:spPr>
      </p:pic>
      <p:sp>
        <p:nvSpPr>
          <p:cNvPr id="3" name="!!demo-titulo"/>
          <p:cNvSpPr txBox="1"/>
          <p:nvPr/>
        </p:nvSpPr>
        <p:spPr>
          <a:xfrm>
            <a:off x="190500" y="1146076"/>
            <a:ext cx="1524000" cy="845741"/>
          </a:xfrm>
          <a:prstGeom prst="rect">
            <a:avLst/>
          </a:prstGeom>
          <a:noFill/>
        </p:spPr>
        <p:txBody>
          <a:bodyPr wrap="none" lIns="0" tIns="57798" rIns="0" bIns="0" anchor="t">
            <a:noAutofit/>
          </a:bodyPr>
          <a:lstStyle/>
          <a:p>
            <a:pPr algn="l">
              <a:lnSpc>
                <a:spcPts val="3329"/>
              </a:lnSpc>
            </a:pPr>
            <a:r>
              <a:rPr sz="3700" b="0" i="0" cap="all" spc="-148">
                <a:solidFill>
                  <a:srgbClr val="FFFFFF"/>
                </a:solidFill>
                <a:latin typeface="Work Sans Black"/>
              </a:rPr>
              <a:t>El</a:t>
            </a:r>
            <a:br/>
            <a:r>
              <a:rPr sz="3700" b="0" i="0" cap="all" spc="-148">
                <a:solidFill>
                  <a:srgbClr val="FFFFFF"/>
                </a:solidFill>
                <a:latin typeface="Work Sans Black"/>
              </a:rPr>
              <a:t>truco</a:t>
            </a:r>
            <a:endParaRPr sz="3700"/>
          </a:p>
        </p:txBody>
      </p:sp>
      <p:sp>
        <p:nvSpPr>
          <p:cNvPr id="4" name="!!demo-reloj"/>
          <p:cNvSpPr txBox="1"/>
          <p:nvPr/>
        </p:nvSpPr>
        <p:spPr>
          <a:xfrm>
            <a:off x="0" y="2283916"/>
            <a:ext cx="1596628" cy="685800"/>
          </a:xfrm>
          <a:prstGeom prst="rect">
            <a:avLst/>
          </a:prstGeom>
          <a:noFill/>
        </p:spPr>
        <p:txBody>
          <a:bodyPr wrap="none" lIns="0" tIns="98146" rIns="0" bIns="38100" anchor="t">
            <a:noAutofit/>
          </a:bodyPr>
          <a:lstStyle/>
          <a:p>
            <a:pPr algn="ctr">
              <a:lnSpc>
                <a:spcPts val="4800"/>
              </a:lnSpc>
            </a:pPr>
            <a:r>
              <a:rPr sz="4800" b="0" i="0" spc="-144">
                <a:solidFill>
                  <a:srgbClr val="EF6B3B"/>
                </a:solidFill>
                <a:latin typeface="Work Sans ExtraBold"/>
              </a:rPr>
              <a:t>5:00</a:t>
            </a:r>
            <a:endParaRPr sz="4800"/>
          </a:p>
        </p:txBody>
      </p:sp>
      <p:pic>
        <p:nvPicPr>
          <p:cNvPr id="5" name="!!demo-app" descr="demo-app.jp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77800"/>
            <a:ext cx="10109200" cy="6502400"/>
          </a:xfrm>
          <a:prstGeom prst="roundRect">
            <a:avLst>
              <a:gd name="adj" fmla="val 1367"/>
            </a:avLst>
          </a:prstGeom>
        </p:spPr>
      </p:pic>
      <p:sp>
        <p:nvSpPr>
          <p:cNvPr id="6" name="!!demo-pista"/>
          <p:cNvSpPr/>
          <p:nvPr/>
        </p:nvSpPr>
        <p:spPr>
          <a:xfrm>
            <a:off x="190500" y="3020516"/>
            <a:ext cx="1524000" cy="6350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demo-barra"/>
          <p:cNvSpPr/>
          <p:nvPr/>
        </p:nvSpPr>
        <p:spPr>
          <a:xfrm>
            <a:off x="190500" y="3020516"/>
            <a:ext cx="1524000" cy="63500"/>
          </a:xfrm>
          <a:prstGeom prst="roundRect">
            <a:avLst>
              <a:gd name="adj" fmla="val 50000"/>
            </a:avLst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demo-pista-texto"/>
          <p:cNvSpPr txBox="1"/>
          <p:nvPr/>
        </p:nvSpPr>
        <p:spPr>
          <a:xfrm>
            <a:off x="190500" y="3160216"/>
            <a:ext cx="1905000" cy="190500"/>
          </a:xfrm>
          <a:prstGeom prst="rect">
            <a:avLst/>
          </a:prstGeom>
          <a:noFill/>
        </p:spPr>
        <p:txBody>
          <a:bodyPr wrap="none" lIns="0" tIns="3175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A6A6AD"/>
                </a:solidFill>
                <a:latin typeface="Work Sans Medium"/>
              </a:rPr>
              <a:t>5 minutos de demo</a:t>
            </a:r>
            <a:endParaRPr sz="1000"/>
          </a:p>
        </p:txBody>
      </p:sp>
      <p:sp>
        <p:nvSpPr>
          <p:cNvPr id="9" name="!!demo-boton-vivo">
            <a:hlinkClick r:id="rId4"/>
          </p:cNvPr>
          <p:cNvSpPr/>
          <p:nvPr/>
        </p:nvSpPr>
        <p:spPr>
          <a:xfrm>
            <a:off x="190500" y="3477716"/>
            <a:ext cx="1524000" cy="406400"/>
          </a:xfrm>
          <a:prstGeom prst="roundRect">
            <a:avLst>
              <a:gd name="adj" fmla="val 9375"/>
            </a:avLst>
          </a:prstGeom>
          <a:solidFill>
            <a:srgbClr val="0B0B0D">
              <a:alpha val="0"/>
            </a:srgbClr>
          </a:solidFill>
          <a:ln w="19050">
            <a:solidFill>
              <a:srgbClr val="FFFFFF"/>
            </a:solidFill>
          </a:ln>
        </p:spPr>
        <p:txBody>
          <a:bodyPr rtlCol="0" anchor="ctr" wrap="none" lIns="63500" tIns="16345" rIns="63500" bIns="0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 i="0">
                <a:solidFill>
                  <a:srgbClr val="FFFFFF"/>
                </a:solidFill>
                <a:latin typeface="Work Sans ExtraBold"/>
              </a:rPr>
              <a:t>Demo en vivo ↗</a:t>
            </a:r>
            <a:endParaRPr sz="1300"/>
          </a:p>
        </p:txBody>
      </p:sp>
      <p:sp>
        <p:nvSpPr>
          <p:cNvPr id="10" name="!!demo-boton-grabada">
            <a:hlinkClick action="ppaction://hlinksldjump" r:id="rId6"/>
          </p:cNvPr>
          <p:cNvSpPr/>
          <p:nvPr/>
        </p:nvSpPr>
        <p:spPr>
          <a:xfrm>
            <a:off x="190500" y="3985716"/>
            <a:ext cx="1524000" cy="355600"/>
          </a:xfrm>
          <a:prstGeom prst="roundRect">
            <a:avLst>
              <a:gd name="adj" fmla="val 10714"/>
            </a:avLst>
          </a:prstGeom>
          <a:solidFill>
            <a:srgbClr val="0B0B0D">
              <a:alpha val="0"/>
            </a:srgbClr>
          </a:solidFill>
          <a:ln w="19050">
            <a:solidFill>
              <a:srgbClr val="5F5F66"/>
            </a:solidFill>
          </a:ln>
        </p:spPr>
        <p:txBody>
          <a:bodyPr rtlCol="0" anchor="ctr" wrap="none" lIns="63500" tIns="13830" rIns="63500" bIns="0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i="0">
                <a:solidFill>
                  <a:srgbClr val="C9C9CF"/>
                </a:solidFill>
                <a:latin typeface="Work Sans ExtraBold"/>
              </a:rPr>
              <a:t>Demo grabada</a:t>
            </a:r>
            <a:endParaRPr sz="1100"/>
          </a:p>
        </p:txBody>
      </p:sp>
      <p:sp>
        <p:nvSpPr>
          <p:cNvPr id="11" name="!!demo-ayuda"/>
          <p:cNvSpPr txBox="1"/>
          <p:nvPr/>
        </p:nvSpPr>
        <p:spPr>
          <a:xfrm>
            <a:off x="190500" y="6153150"/>
            <a:ext cx="158750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0" i="0">
                <a:solidFill>
                  <a:srgbClr val="8D8D93"/>
                </a:solidFill>
                <a:latin typeface="Work Sans Medium"/>
              </a:rPr>
              <a:t>Clic en la imagen: abre la demo en el navegador.</a:t>
            </a:r>
            <a:endParaRPr sz="95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lanb-img" descr="planb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0"/>
            <a:ext cx="6583680" cy="6400800"/>
          </a:xfrm>
          <a:prstGeom prst="rect">
            <a:avLst/>
          </a:prstGeom>
        </p:spPr>
      </p:pic>
      <p:sp>
        <p:nvSpPr>
          <p:cNvPr id="3" name="!!planb-pie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11354" rIns="0" bIns="0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FFFFFF"/>
                </a:solidFill>
                <a:latin typeface="Work Sans SemiBold"/>
              </a:rPr>
              <a:t>1 / 5 · Demo grabada en Azure el 8 de octubre · clic: siguiente</a:t>
            </a:r>
            <a:endParaRPr sz="1200"/>
          </a:p>
        </p:txBody>
      </p:sp>
      <p:sp>
        <p:nvSpPr>
          <p:cNvPr id="4" name="siguiente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lanb-img" descr="planb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0"/>
            <a:ext cx="6583680" cy="6400800"/>
          </a:xfrm>
          <a:prstGeom prst="rect">
            <a:avLst/>
          </a:prstGeom>
        </p:spPr>
      </p:pic>
      <p:sp>
        <p:nvSpPr>
          <p:cNvPr id="3" name="!!planb-pie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11354" rIns="0" bIns="0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FFFFFF"/>
                </a:solidFill>
                <a:latin typeface="Work Sans SemiBold"/>
              </a:rPr>
              <a:t>2 / 5 · Demo grabada en Azure el 8 de octubre · clic: siguiente</a:t>
            </a:r>
            <a:endParaRPr sz="1200"/>
          </a:p>
        </p:txBody>
      </p:sp>
      <p:sp>
        <p:nvSpPr>
          <p:cNvPr id="4" name="siguiente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lanb-img" descr="planb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0"/>
            <a:ext cx="6583680" cy="6400800"/>
          </a:xfrm>
          <a:prstGeom prst="rect">
            <a:avLst/>
          </a:prstGeom>
        </p:spPr>
      </p:pic>
      <p:sp>
        <p:nvSpPr>
          <p:cNvPr id="3" name="!!planb-pie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11354" rIns="0" bIns="0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FFFFFF"/>
                </a:solidFill>
                <a:latin typeface="Work Sans SemiBold"/>
              </a:rPr>
              <a:t>3 / 5 · Demo grabada en Azure el 8 de octubre · clic: siguiente</a:t>
            </a:r>
            <a:endParaRPr sz="1200"/>
          </a:p>
        </p:txBody>
      </p:sp>
      <p:sp>
        <p:nvSpPr>
          <p:cNvPr id="4" name="siguiente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lanb-img" descr="planb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0"/>
            <a:ext cx="6583680" cy="6400800"/>
          </a:xfrm>
          <a:prstGeom prst="rect">
            <a:avLst/>
          </a:prstGeom>
        </p:spPr>
      </p:pic>
      <p:sp>
        <p:nvSpPr>
          <p:cNvPr id="3" name="!!planb-pie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11354" rIns="0" bIns="0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FFFFFF"/>
                </a:solidFill>
                <a:latin typeface="Work Sans SemiBold"/>
              </a:rPr>
              <a:t>4 / 5 · Demo grabada en Azure el 8 de octubre · clic: siguiente</a:t>
            </a:r>
            <a:endParaRPr sz="1200"/>
          </a:p>
        </p:txBody>
      </p:sp>
      <p:sp>
        <p:nvSpPr>
          <p:cNvPr id="4" name="siguiente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planb-img" descr="planb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0"/>
            <a:ext cx="6583680" cy="6400800"/>
          </a:xfrm>
          <a:prstGeom prst="rect">
            <a:avLst/>
          </a:prstGeom>
        </p:spPr>
      </p:pic>
      <p:sp>
        <p:nvSpPr>
          <p:cNvPr id="3" name="!!planb-pie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11354" rIns="0" bIns="0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 i="0">
                <a:solidFill>
                  <a:srgbClr val="FFFFFF"/>
                </a:solidFill>
                <a:latin typeface="Work Sans SemiBold"/>
              </a:rPr>
              <a:t>5 / 5 · Demo grabada en Azure el 8 de octubre · clic: volver a la demo</a:t>
            </a:r>
            <a:endParaRPr sz="1200"/>
          </a:p>
        </p:txBody>
      </p:sp>
      <p:sp>
        <p:nvSpPr>
          <p:cNvPr id="4" name="siguiente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magia-titulo"/>
          <p:cNvSpPr txBox="1"/>
          <p:nvPr/>
        </p:nvSpPr>
        <p:spPr>
          <a:xfrm>
            <a:off x="609600" y="609600"/>
            <a:ext cx="6583759" cy="1256010"/>
          </a:xfrm>
          <a:prstGeom prst="rect">
            <a:avLst/>
          </a:prstGeom>
          <a:noFill/>
        </p:spPr>
        <p:txBody>
          <a:bodyPr wrap="none" lIns="0" tIns="193954" rIns="0" bIns="0" anchor="t">
            <a:noAutofit/>
          </a:bodyPr>
          <a:lstStyle/>
          <a:p>
            <a:pPr algn="l">
              <a:lnSpc>
                <a:spcPts val="9890"/>
              </a:lnSpc>
            </a:pPr>
            <a:r>
              <a:rPr sz="11500" b="0" i="0" cap="all" spc="-805">
                <a:solidFill>
                  <a:srgbClr val="0B0B0D"/>
                </a:solidFill>
                <a:latin typeface="Work Sans Black"/>
              </a:rPr>
              <a:t>¿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M</a:t>
            </a:r>
            <a:r>
              <a:rPr sz="11500" b="0" i="0" cap="all" spc="-759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gi</a:t>
            </a:r>
            <a:r>
              <a:rPr sz="11500" b="0" i="0" cap="all" spc="-1610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?</a:t>
            </a:r>
            <a:endParaRPr sz="11500"/>
          </a:p>
        </p:txBody>
      </p:sp>
      <p:sp>
        <p:nvSpPr>
          <p:cNvPr id="3" name="!!magia-lema"/>
          <p:cNvSpPr txBox="1"/>
          <p:nvPr/>
        </p:nvSpPr>
        <p:spPr>
          <a:xfrm>
            <a:off x="660400" y="2095500"/>
            <a:ext cx="5231110" cy="298450"/>
          </a:xfrm>
          <a:prstGeom prst="rect">
            <a:avLst/>
          </a:prstGeom>
          <a:noFill/>
        </p:spPr>
        <p:txBody>
          <a:bodyPr wrap="none" lIns="0" tIns="14253" rIns="0" bIns="0" anchor="t">
            <a:noAutofit/>
          </a:bodyPr>
          <a:lstStyle/>
          <a:p>
            <a:pPr algn="l">
              <a:lnSpc>
                <a:spcPts val="2346"/>
              </a:lnSpc>
            </a:pPr>
            <a:r>
              <a:rPr sz="2000" b="0" i="0" spc="-24">
                <a:solidFill>
                  <a:srgbClr val="5F5F66"/>
                </a:solidFill>
                <a:latin typeface="Work Sans Medium"/>
              </a:rPr>
              <a:t>L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o que 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a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ca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b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áis de</a:t>
            </a:r>
            <a:r>
              <a:rPr sz="2000" b="0" i="0" spc="-48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 spc="-6">
                <a:solidFill>
                  <a:srgbClr val="5F5F66"/>
                </a:solidFill>
                <a:latin typeface="Work Sans Medium"/>
              </a:rPr>
              <a:t>v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e</a:t>
            </a:r>
            <a:r>
              <a:rPr sz="2000" b="0" i="0" spc="-156">
                <a:solidFill>
                  <a:srgbClr val="5F5F66"/>
                </a:solidFill>
                <a:latin typeface="Work Sans Medium"/>
              </a:rPr>
              <a:t>r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, en cinco</a:t>
            </a:r>
            <a:r>
              <a:rPr sz="2000" b="0" i="0" spc="-32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trucos.</a:t>
            </a:r>
            <a:endParaRPr sz="2000"/>
          </a:p>
        </p:txBody>
      </p:sp>
      <p:sp>
        <p:nvSpPr>
          <p:cNvPr id="4" name="!!naipe-0"/>
          <p:cNvSpPr/>
          <p:nvPr/>
        </p:nvSpPr>
        <p:spPr>
          <a:xfrm rot="21120000">
            <a:off x="609600" y="72390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naipe-1"/>
          <p:cNvSpPr/>
          <p:nvPr/>
        </p:nvSpPr>
        <p:spPr>
          <a:xfrm rot="21360000">
            <a:off x="2876550" y="72390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naipe-2"/>
          <p:cNvSpPr/>
          <p:nvPr/>
        </p:nvSpPr>
        <p:spPr>
          <a:xfrm>
            <a:off x="5143500" y="72390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naipe-3"/>
          <p:cNvSpPr/>
          <p:nvPr/>
        </p:nvSpPr>
        <p:spPr>
          <a:xfrm rot="240000">
            <a:off x="7410450" y="72390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naipe-4"/>
          <p:cNvSpPr/>
          <p:nvPr/>
        </p:nvSpPr>
        <p:spPr>
          <a:xfrm rot="480000">
            <a:off x="9677400" y="72390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magia-titulo"/>
          <p:cNvSpPr txBox="1"/>
          <p:nvPr/>
        </p:nvSpPr>
        <p:spPr>
          <a:xfrm>
            <a:off x="609600" y="609600"/>
            <a:ext cx="6583759" cy="1256010"/>
          </a:xfrm>
          <a:prstGeom prst="rect">
            <a:avLst/>
          </a:prstGeom>
          <a:noFill/>
        </p:spPr>
        <p:txBody>
          <a:bodyPr wrap="none" lIns="0" tIns="193954" rIns="0" bIns="0" anchor="t">
            <a:noAutofit/>
          </a:bodyPr>
          <a:lstStyle/>
          <a:p>
            <a:pPr algn="l">
              <a:lnSpc>
                <a:spcPts val="9890"/>
              </a:lnSpc>
            </a:pPr>
            <a:r>
              <a:rPr sz="11500" b="0" i="0" cap="all" spc="-805">
                <a:solidFill>
                  <a:srgbClr val="0B0B0D"/>
                </a:solidFill>
                <a:latin typeface="Work Sans Black"/>
              </a:rPr>
              <a:t>¿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M</a:t>
            </a:r>
            <a:r>
              <a:rPr sz="11500" b="0" i="0" cap="all" spc="-759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gi</a:t>
            </a:r>
            <a:r>
              <a:rPr sz="11500" b="0" i="0" cap="all" spc="-1610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?</a:t>
            </a:r>
            <a:endParaRPr sz="11500"/>
          </a:p>
        </p:txBody>
      </p:sp>
      <p:sp>
        <p:nvSpPr>
          <p:cNvPr id="3" name="!!magia-lema"/>
          <p:cNvSpPr txBox="1"/>
          <p:nvPr/>
        </p:nvSpPr>
        <p:spPr>
          <a:xfrm>
            <a:off x="660400" y="2095500"/>
            <a:ext cx="5231110" cy="298450"/>
          </a:xfrm>
          <a:prstGeom prst="rect">
            <a:avLst/>
          </a:prstGeom>
          <a:noFill/>
        </p:spPr>
        <p:txBody>
          <a:bodyPr wrap="none" lIns="0" tIns="14253" rIns="0" bIns="0" anchor="t">
            <a:noAutofit/>
          </a:bodyPr>
          <a:lstStyle/>
          <a:p>
            <a:pPr algn="l">
              <a:lnSpc>
                <a:spcPts val="2346"/>
              </a:lnSpc>
            </a:pPr>
            <a:r>
              <a:rPr sz="2000" b="0" i="0" spc="-24">
                <a:solidFill>
                  <a:srgbClr val="5F5F66"/>
                </a:solidFill>
                <a:latin typeface="Work Sans Medium"/>
              </a:rPr>
              <a:t>L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o que 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a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ca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b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áis de</a:t>
            </a:r>
            <a:r>
              <a:rPr sz="2000" b="0" i="0" spc="-48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 spc="-6">
                <a:solidFill>
                  <a:srgbClr val="5F5F66"/>
                </a:solidFill>
                <a:latin typeface="Work Sans Medium"/>
              </a:rPr>
              <a:t>v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e</a:t>
            </a:r>
            <a:r>
              <a:rPr sz="2000" b="0" i="0" spc="-156">
                <a:solidFill>
                  <a:srgbClr val="5F5F66"/>
                </a:solidFill>
                <a:latin typeface="Work Sans Medium"/>
              </a:rPr>
              <a:t>r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, en cinco</a:t>
            </a:r>
            <a:r>
              <a:rPr sz="2000" b="0" i="0" spc="-32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trucos.</a:t>
            </a:r>
            <a:endParaRPr sz="2000"/>
          </a:p>
        </p:txBody>
      </p:sp>
      <p:sp>
        <p:nvSpPr>
          <p:cNvPr id="4" name="!!naipe-0"/>
          <p:cNvSpPr/>
          <p:nvPr/>
        </p:nvSpPr>
        <p:spPr>
          <a:xfrm>
            <a:off x="609600" y="28575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naipe-0-estrella" descr="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3048000"/>
            <a:ext cx="444500" cy="444500"/>
          </a:xfrm>
          <a:prstGeom prst="rect">
            <a:avLst/>
          </a:prstGeom>
        </p:spPr>
      </p:pic>
      <p:sp>
        <p:nvSpPr>
          <p:cNvPr id="6" name="!!naipe-0-cara"/>
          <p:cNvSpPr txBox="1"/>
          <p:nvPr/>
        </p:nvSpPr>
        <p:spPr>
          <a:xfrm>
            <a:off x="787400" y="4703266"/>
            <a:ext cx="1549400" cy="821234"/>
          </a:xfrm>
          <a:prstGeom prst="rect">
            <a:avLst/>
          </a:prstGeom>
          <a:noFill/>
        </p:spPr>
        <p:txBody>
          <a:bodyPr wrap="none" lIns="0" tIns="2889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Te ha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buscado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mesa</a:t>
            </a:r>
            <a:endParaRPr sz="2200"/>
          </a:p>
        </p:txBody>
      </p:sp>
      <p:sp>
        <p:nvSpPr>
          <p:cNvPr id="7" name="!!naipe-1"/>
          <p:cNvSpPr/>
          <p:nvPr/>
        </p:nvSpPr>
        <p:spPr>
          <a:xfrm>
            <a:off x="2876550" y="28575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!!naipe-1-estrella" descr="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350" y="3048000"/>
            <a:ext cx="444500" cy="444500"/>
          </a:xfrm>
          <a:prstGeom prst="rect">
            <a:avLst/>
          </a:prstGeom>
        </p:spPr>
      </p:pic>
      <p:sp>
        <p:nvSpPr>
          <p:cNvPr id="9" name="!!naipe-1-cara"/>
          <p:cNvSpPr txBox="1"/>
          <p:nvPr/>
        </p:nvSpPr>
        <p:spPr>
          <a:xfrm>
            <a:off x="3054350" y="4977011"/>
            <a:ext cx="1549400" cy="547489"/>
          </a:xfrm>
          <a:prstGeom prst="rect">
            <a:avLst/>
          </a:prstGeom>
          <a:noFill/>
        </p:spPr>
        <p:txBody>
          <a:bodyPr wrap="none" lIns="0" tIns="2889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Se sabe la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car</a:t>
            </a:r>
            <a:r>
              <a:rPr sz="2200" b="0" i="0" cap="all" spc="-238">
                <a:solidFill>
                  <a:srgbClr val="FFFFFF"/>
                </a:solidFill>
                <a:latin typeface="Work Sans Black"/>
              </a:rPr>
              <a:t>t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a</a:t>
            </a:r>
            <a:endParaRPr sz="2200"/>
          </a:p>
        </p:txBody>
      </p:sp>
      <p:sp>
        <p:nvSpPr>
          <p:cNvPr id="10" name="!!naipe-2"/>
          <p:cNvSpPr/>
          <p:nvPr/>
        </p:nvSpPr>
        <p:spPr>
          <a:xfrm>
            <a:off x="5143500" y="28575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!!naipe-2-estrella" descr="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0" y="3048000"/>
            <a:ext cx="444500" cy="444500"/>
          </a:xfrm>
          <a:prstGeom prst="rect">
            <a:avLst/>
          </a:prstGeom>
        </p:spPr>
      </p:pic>
      <p:sp>
        <p:nvSpPr>
          <p:cNvPr id="12" name="!!naipe-2-cara"/>
          <p:cNvSpPr txBox="1"/>
          <p:nvPr/>
        </p:nvSpPr>
        <p:spPr>
          <a:xfrm>
            <a:off x="5321300" y="4703266"/>
            <a:ext cx="1549400" cy="821234"/>
          </a:xfrm>
          <a:prstGeom prst="rect">
            <a:avLst/>
          </a:prstGeom>
          <a:noFill/>
        </p:spPr>
        <p:txBody>
          <a:bodyPr wrap="none" lIns="0" tIns="2889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L</a:t>
            </a:r>
            <a:r>
              <a:rPr sz="2200" b="0" i="0" cap="all" spc="-88">
                <a:solidFill>
                  <a:srgbClr val="FFFFFF"/>
                </a:solidFill>
                <a:latin typeface="Work Sans Black"/>
              </a:rPr>
              <a:t>a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 cocina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traba</a:t>
            </a:r>
            <a:r>
              <a:rPr sz="2200" b="0" i="0" cap="all" spc="-121">
                <a:solidFill>
                  <a:srgbClr val="FFFFFF"/>
                </a:solidFill>
                <a:latin typeface="Work Sans Black"/>
              </a:rPr>
              <a:t>j</a:t>
            </a:r>
            <a:r>
              <a:rPr sz="2200" b="0" i="0" cap="all" spc="-88">
                <a:solidFill>
                  <a:srgbClr val="FFFFFF"/>
                </a:solidFill>
                <a:latin typeface="Work Sans Black"/>
              </a:rPr>
              <a:t>a 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a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l</a:t>
            </a:r>
            <a:r>
              <a:rPr sz="2200" b="0" i="0" cap="all" spc="-88">
                <a:solidFill>
                  <a:srgbClr val="FFFFFF"/>
                </a:solidFill>
                <a:latin typeface="Work Sans Black"/>
              </a:rPr>
              <a:t>a</a:t>
            </a:r>
            <a:r>
              <a:rPr sz="2200" b="0" i="0" cap="all" spc="-121">
                <a:solidFill>
                  <a:srgbClr val="FFFFFF"/>
                </a:solidFill>
                <a:latin typeface="Work Sans Black"/>
              </a:rPr>
              <a:t> 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vez</a:t>
            </a:r>
            <a:endParaRPr sz="2200"/>
          </a:p>
        </p:txBody>
      </p:sp>
      <p:sp>
        <p:nvSpPr>
          <p:cNvPr id="13" name="!!naipe-3"/>
          <p:cNvSpPr/>
          <p:nvPr/>
        </p:nvSpPr>
        <p:spPr>
          <a:xfrm>
            <a:off x="7410450" y="28575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!!naipe-3-estrella" descr="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0" y="3048000"/>
            <a:ext cx="444500" cy="444500"/>
          </a:xfrm>
          <a:prstGeom prst="rect">
            <a:avLst/>
          </a:prstGeom>
        </p:spPr>
      </p:pic>
      <p:sp>
        <p:nvSpPr>
          <p:cNvPr id="15" name="!!naipe-3-cara"/>
          <p:cNvSpPr txBox="1"/>
          <p:nvPr/>
        </p:nvSpPr>
        <p:spPr>
          <a:xfrm>
            <a:off x="7588250" y="4429522"/>
            <a:ext cx="1549400" cy="1094978"/>
          </a:xfrm>
          <a:prstGeom prst="rect">
            <a:avLst/>
          </a:prstGeom>
          <a:noFill/>
        </p:spPr>
        <p:txBody>
          <a:bodyPr wrap="none" lIns="0" tIns="2889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Al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celí</a:t>
            </a:r>
            <a:r>
              <a:rPr sz="2200" b="0" i="0" cap="all" spc="-123">
                <a:solidFill>
                  <a:srgbClr val="FFFFFF"/>
                </a:solidFill>
                <a:latin typeface="Work Sans Black"/>
              </a:rPr>
              <a:t>a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c</a:t>
            </a:r>
            <a:r>
              <a:rPr sz="2200" b="0" i="0" cap="all" spc="-123">
                <a:solidFill>
                  <a:srgbClr val="FFFFFF"/>
                </a:solidFill>
                <a:latin typeface="Work Sans Black"/>
              </a:rPr>
              <a:t>o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,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ni una</a:t>
            </a:r>
            <a:br/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caña</a:t>
            </a:r>
            <a:endParaRPr sz="2200"/>
          </a:p>
        </p:txBody>
      </p:sp>
      <p:sp>
        <p:nvSpPr>
          <p:cNvPr id="16" name="!!naipe-4"/>
          <p:cNvSpPr/>
          <p:nvPr/>
        </p:nvSpPr>
        <p:spPr>
          <a:xfrm>
            <a:off x="9677400" y="28575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!!naipe-4-estrella" descr="estr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0" y="3048000"/>
            <a:ext cx="444500" cy="444500"/>
          </a:xfrm>
          <a:prstGeom prst="rect">
            <a:avLst/>
          </a:prstGeom>
        </p:spPr>
      </p:pic>
      <p:sp>
        <p:nvSpPr>
          <p:cNvPr id="18" name="!!naipe-4-cara"/>
          <p:cNvSpPr txBox="1"/>
          <p:nvPr/>
        </p:nvSpPr>
        <p:spPr>
          <a:xfrm>
            <a:off x="9855200" y="4977011"/>
            <a:ext cx="1549400" cy="547489"/>
          </a:xfrm>
          <a:prstGeom prst="rect">
            <a:avLst/>
          </a:prstGeom>
          <a:noFill/>
        </p:spPr>
        <p:txBody>
          <a:bodyPr wrap="none" lIns="0" tIns="2889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Te cobra</a:t>
            </a:r>
            <a:br/>
            <a:r>
              <a:rPr sz="2200" b="0" i="0" cap="all" spc="-110">
                <a:solidFill>
                  <a:srgbClr val="FFFFFF"/>
                </a:solidFill>
                <a:latin typeface="Work Sans Black"/>
              </a:rPr>
              <a:t>l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o</a:t>
            </a:r>
            <a:r>
              <a:rPr sz="2200" b="0" i="0" cap="all" spc="-88">
                <a:solidFill>
                  <a:srgbClr val="FFFFFF"/>
                </a:solidFill>
                <a:latin typeface="Work Sans Black"/>
              </a:rPr>
              <a:t> 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jus</a:t>
            </a:r>
            <a:r>
              <a:rPr sz="2200" b="0" i="0" cap="all" spc="-132">
                <a:solidFill>
                  <a:srgbClr val="FFFFFF"/>
                </a:solidFill>
                <a:latin typeface="Work Sans Black"/>
              </a:rPr>
              <a:t>t</a:t>
            </a:r>
            <a:r>
              <a:rPr sz="2200" b="0" i="0" cap="all" spc="-66">
                <a:solidFill>
                  <a:srgbClr val="FFFFFF"/>
                </a:solidFill>
                <a:latin typeface="Work Sans Black"/>
              </a:rPr>
              <a:t>o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magia-titulo"/>
          <p:cNvSpPr txBox="1"/>
          <p:nvPr/>
        </p:nvSpPr>
        <p:spPr>
          <a:xfrm>
            <a:off x="609600" y="609600"/>
            <a:ext cx="6583759" cy="1256010"/>
          </a:xfrm>
          <a:prstGeom prst="rect">
            <a:avLst/>
          </a:prstGeom>
          <a:noFill/>
        </p:spPr>
        <p:txBody>
          <a:bodyPr wrap="none" lIns="0" tIns="193954" rIns="0" bIns="0" anchor="t">
            <a:noAutofit/>
          </a:bodyPr>
          <a:lstStyle/>
          <a:p>
            <a:pPr algn="l">
              <a:lnSpc>
                <a:spcPts val="9890"/>
              </a:lnSpc>
            </a:pPr>
            <a:r>
              <a:rPr sz="11500" b="0" i="0" cap="all" spc="-805">
                <a:solidFill>
                  <a:srgbClr val="0B0B0D"/>
                </a:solidFill>
                <a:latin typeface="Work Sans Black"/>
              </a:rPr>
              <a:t>¿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M</a:t>
            </a:r>
            <a:r>
              <a:rPr sz="11500" b="0" i="0" cap="all" spc="-759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gi</a:t>
            </a:r>
            <a:r>
              <a:rPr sz="11500" b="0" i="0" cap="all" spc="-1610">
                <a:solidFill>
                  <a:srgbClr val="0B0B0D"/>
                </a:solidFill>
                <a:latin typeface="Work Sans Black"/>
              </a:rPr>
              <a:t>a</a:t>
            </a:r>
            <a:r>
              <a:rPr sz="11500" b="0" i="0" cap="all" spc="-460">
                <a:solidFill>
                  <a:srgbClr val="0B0B0D"/>
                </a:solidFill>
                <a:latin typeface="Work Sans Black"/>
              </a:rPr>
              <a:t>?</a:t>
            </a:r>
            <a:endParaRPr sz="11500"/>
          </a:p>
        </p:txBody>
      </p:sp>
      <p:sp>
        <p:nvSpPr>
          <p:cNvPr id="3" name="!!magia-lema"/>
          <p:cNvSpPr txBox="1"/>
          <p:nvPr/>
        </p:nvSpPr>
        <p:spPr>
          <a:xfrm>
            <a:off x="660400" y="2095500"/>
            <a:ext cx="5231110" cy="298450"/>
          </a:xfrm>
          <a:prstGeom prst="rect">
            <a:avLst/>
          </a:prstGeom>
          <a:noFill/>
        </p:spPr>
        <p:txBody>
          <a:bodyPr wrap="none" lIns="0" tIns="14253" rIns="0" bIns="0" anchor="t">
            <a:noAutofit/>
          </a:bodyPr>
          <a:lstStyle/>
          <a:p>
            <a:pPr algn="l">
              <a:lnSpc>
                <a:spcPts val="2346"/>
              </a:lnSpc>
            </a:pPr>
            <a:r>
              <a:rPr sz="2000" b="0" i="0" spc="-24">
                <a:solidFill>
                  <a:srgbClr val="5F5F66"/>
                </a:solidFill>
                <a:latin typeface="Work Sans Medium"/>
              </a:rPr>
              <a:t>L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o que 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a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ca</a:t>
            </a:r>
            <a:r>
              <a:rPr sz="2000" b="0" i="0" spc="-2">
                <a:solidFill>
                  <a:srgbClr val="5F5F66"/>
                </a:solidFill>
                <a:latin typeface="Work Sans Medium"/>
              </a:rPr>
              <a:t>b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áis de</a:t>
            </a:r>
            <a:r>
              <a:rPr sz="2000" b="0" i="0" spc="-48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 spc="-6">
                <a:solidFill>
                  <a:srgbClr val="5F5F66"/>
                </a:solidFill>
                <a:latin typeface="Work Sans Medium"/>
              </a:rPr>
              <a:t>v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e</a:t>
            </a:r>
            <a:r>
              <a:rPr sz="2000" b="0" i="0" spc="-156">
                <a:solidFill>
                  <a:srgbClr val="5F5F66"/>
                </a:solidFill>
                <a:latin typeface="Work Sans Medium"/>
              </a:rPr>
              <a:t>r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, en cinco</a:t>
            </a:r>
            <a:r>
              <a:rPr sz="2000" b="0" i="0" spc="-32">
                <a:solidFill>
                  <a:srgbClr val="5F5F66"/>
                </a:solidFill>
                <a:latin typeface="Work Sans Medium"/>
              </a:rPr>
              <a:t> </a:t>
            </a:r>
            <a:r>
              <a:rPr sz="2000" b="0" i="0">
                <a:solidFill>
                  <a:srgbClr val="5F5F66"/>
                </a:solidFill>
                <a:latin typeface="Work Sans Medium"/>
              </a:rPr>
              <a:t>trucos.</a:t>
            </a:r>
            <a:endParaRPr sz="2000"/>
          </a:p>
        </p:txBody>
      </p:sp>
      <p:sp>
        <p:nvSpPr>
          <p:cNvPr id="4" name="!!naipe-0-sombra"/>
          <p:cNvSpPr/>
          <p:nvPr/>
        </p:nvSpPr>
        <p:spPr>
          <a:xfrm>
            <a:off x="6858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85D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naipe-0"/>
          <p:cNvSpPr/>
          <p:nvPr/>
        </p:nvSpPr>
        <p:spPr>
          <a:xfrm>
            <a:off x="6223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naipe-0-pieza"/>
          <p:cNvSpPr/>
          <p:nvPr/>
        </p:nvSpPr>
        <p:spPr>
          <a:xfrm>
            <a:off x="812800" y="3073400"/>
            <a:ext cx="1278136" cy="393700"/>
          </a:xfrm>
          <a:prstGeom prst="rect">
            <a:avLst/>
          </a:prstGeom>
          <a:solidFill>
            <a:srgbClr val="85DADC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Mesas</a:t>
            </a:r>
            <a:endParaRPr sz="2600"/>
          </a:p>
        </p:txBody>
      </p:sp>
      <p:sp>
        <p:nvSpPr>
          <p:cNvPr id="7" name="!!naipe-0-texto"/>
          <p:cNvSpPr txBox="1"/>
          <p:nvPr/>
        </p:nvSpPr>
        <p:spPr>
          <a:xfrm>
            <a:off x="8128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Un servicio de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mesas al que el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camarero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pregunta.</a:t>
            </a:r>
            <a:endParaRPr sz="1350"/>
          </a:p>
        </p:txBody>
      </p:sp>
      <p:sp>
        <p:nvSpPr>
          <p:cNvPr id="8" name="!!naipe-0-tec"/>
          <p:cNvSpPr txBox="1"/>
          <p:nvPr/>
        </p:nvSpPr>
        <p:spPr>
          <a:xfrm>
            <a:off x="8128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MCP + tu botón</a:t>
            </a:r>
            <a:endParaRPr sz="1100"/>
          </a:p>
        </p:txBody>
      </p:sp>
      <p:sp>
        <p:nvSpPr>
          <p:cNvPr id="9" name="!!naipe-1-sombra"/>
          <p:cNvSpPr/>
          <p:nvPr/>
        </p:nvSpPr>
        <p:spPr>
          <a:xfrm>
            <a:off x="295275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naipe-1"/>
          <p:cNvSpPr/>
          <p:nvPr/>
        </p:nvSpPr>
        <p:spPr>
          <a:xfrm>
            <a:off x="288925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aipe-1-pieza"/>
          <p:cNvSpPr/>
          <p:nvPr/>
        </p:nvSpPr>
        <p:spPr>
          <a:xfrm>
            <a:off x="3079750" y="3073400"/>
            <a:ext cx="1215033" cy="393700"/>
          </a:xfrm>
          <a:prstGeom prst="rect">
            <a:avLst/>
          </a:prstGeom>
          <a:solidFill>
            <a:srgbClr val="D9C58B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Car</a:t>
            </a:r>
            <a:r>
              <a:rPr sz="2600" b="0" i="0" cap="all" spc="-281">
                <a:solidFill>
                  <a:srgbClr val="0B0B0D"/>
                </a:solidFill>
                <a:latin typeface="Work Sans Black"/>
              </a:rPr>
              <a:t>t</a:t>
            </a: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a</a:t>
            </a:r>
            <a:endParaRPr sz="2600"/>
          </a:p>
        </p:txBody>
      </p:sp>
      <p:sp>
        <p:nvSpPr>
          <p:cNvPr id="12" name="!!naipe-1-texto"/>
          <p:cNvSpPr txBox="1"/>
          <p:nvPr/>
        </p:nvSpPr>
        <p:spPr>
          <a:xfrm>
            <a:off x="307975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Los documentos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de la casa,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buscados antes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de hablar.</a:t>
            </a:r>
            <a:endParaRPr sz="1350"/>
          </a:p>
        </p:txBody>
      </p:sp>
      <p:sp>
        <p:nvSpPr>
          <p:cNvPr id="13" name="!!naipe-1-tec"/>
          <p:cNvSpPr txBox="1"/>
          <p:nvPr/>
        </p:nvSpPr>
        <p:spPr>
          <a:xfrm>
            <a:off x="307975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Foundry IQ</a:t>
            </a:r>
            <a:endParaRPr sz="1100"/>
          </a:p>
        </p:txBody>
      </p:sp>
      <p:sp>
        <p:nvSpPr>
          <p:cNvPr id="14" name="!!naipe-2-sombra"/>
          <p:cNvSpPr/>
          <p:nvPr/>
        </p:nvSpPr>
        <p:spPr>
          <a:xfrm>
            <a:off x="52197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naipe-2"/>
          <p:cNvSpPr/>
          <p:nvPr/>
        </p:nvSpPr>
        <p:spPr>
          <a:xfrm>
            <a:off x="51562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naipe-2-pieza"/>
          <p:cNvSpPr/>
          <p:nvPr/>
        </p:nvSpPr>
        <p:spPr>
          <a:xfrm>
            <a:off x="5346700" y="3073400"/>
            <a:ext cx="1364655" cy="393700"/>
          </a:xfrm>
          <a:prstGeom prst="rect">
            <a:avLst/>
          </a:prstGeom>
          <a:solidFill>
            <a:srgbClr val="F8C4FF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Cocina</a:t>
            </a:r>
            <a:endParaRPr sz="2600"/>
          </a:p>
        </p:txBody>
      </p:sp>
      <p:sp>
        <p:nvSpPr>
          <p:cNvPr id="17" name="!!naipe-2-texto"/>
          <p:cNvSpPr txBox="1"/>
          <p:nvPr/>
        </p:nvSpPr>
        <p:spPr>
          <a:xfrm>
            <a:off x="53467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Otro agente, en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su contenedor,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con tres partidas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en paralelo.</a:t>
            </a:r>
            <a:endParaRPr sz="1350"/>
          </a:p>
        </p:txBody>
      </p:sp>
      <p:sp>
        <p:nvSpPr>
          <p:cNvPr id="18" name="!!naipe-2-tec"/>
          <p:cNvSpPr txBox="1"/>
          <p:nvPr/>
        </p:nvSpPr>
        <p:spPr>
          <a:xfrm>
            <a:off x="53467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A2A</a:t>
            </a:r>
            <a:endParaRPr sz="1100"/>
          </a:p>
        </p:txBody>
      </p:sp>
      <p:sp>
        <p:nvSpPr>
          <p:cNvPr id="19" name="!!naipe-3-sombra"/>
          <p:cNvSpPr/>
          <p:nvPr/>
        </p:nvSpPr>
        <p:spPr>
          <a:xfrm>
            <a:off x="748665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naipe-3"/>
          <p:cNvSpPr/>
          <p:nvPr/>
        </p:nvSpPr>
        <p:spPr>
          <a:xfrm>
            <a:off x="742315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naipe-3-pieza"/>
          <p:cNvSpPr/>
          <p:nvPr/>
        </p:nvSpPr>
        <p:spPr>
          <a:xfrm>
            <a:off x="7613650" y="3073400"/>
            <a:ext cx="1256010" cy="393700"/>
          </a:xfrm>
          <a:prstGeom prst="rect">
            <a:avLst/>
          </a:prstGeom>
          <a:solidFill>
            <a:srgbClr val="F89841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Barra</a:t>
            </a:r>
            <a:endParaRPr sz="2600"/>
          </a:p>
        </p:txBody>
      </p:sp>
      <p:sp>
        <p:nvSpPr>
          <p:cNvPr id="22" name="!!naipe-3-texto"/>
          <p:cNvSpPr txBox="1"/>
          <p:nvPr/>
        </p:nvSpPr>
        <p:spPr>
          <a:xfrm>
            <a:off x="761365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Un control que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no se salta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nunca: siempre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igual.</a:t>
            </a:r>
            <a:endParaRPr sz="1350"/>
          </a:p>
        </p:txBody>
      </p:sp>
      <p:sp>
        <p:nvSpPr>
          <p:cNvPr id="23" name="!!naipe-3-tec"/>
          <p:cNvSpPr txBox="1"/>
          <p:nvPr/>
        </p:nvSpPr>
        <p:spPr>
          <a:xfrm>
            <a:off x="761365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Código</a:t>
            </a:r>
            <a:endParaRPr sz="1100"/>
          </a:p>
        </p:txBody>
      </p:sp>
      <p:sp>
        <p:nvSpPr>
          <p:cNvPr id="24" name="!!naipe-4-sombra"/>
          <p:cNvSpPr/>
          <p:nvPr/>
        </p:nvSpPr>
        <p:spPr>
          <a:xfrm>
            <a:off x="97536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!!naipe-4"/>
          <p:cNvSpPr/>
          <p:nvPr/>
        </p:nvSpPr>
        <p:spPr>
          <a:xfrm>
            <a:off x="96901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!!naipe-4-pieza"/>
          <p:cNvSpPr/>
          <p:nvPr/>
        </p:nvSpPr>
        <p:spPr>
          <a:xfrm>
            <a:off x="9880600" y="3073400"/>
            <a:ext cx="998736" cy="393700"/>
          </a:xfrm>
          <a:prstGeom prst="rect">
            <a:avLst/>
          </a:prstGeom>
          <a:solidFill>
            <a:srgbClr val="96C4FF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Ca</a:t>
            </a:r>
            <a:r>
              <a:rPr sz="2600" b="0" i="0" cap="all" spc="-143">
                <a:solidFill>
                  <a:srgbClr val="0B0B0D"/>
                </a:solidFill>
                <a:latin typeface="Work Sans Black"/>
              </a:rPr>
              <a:t>j</a:t>
            </a: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a</a:t>
            </a:r>
            <a:endParaRPr sz="2600"/>
          </a:p>
        </p:txBody>
      </p:sp>
      <p:sp>
        <p:nvSpPr>
          <p:cNvPr id="27" name="!!naipe-4-texto"/>
          <p:cNvSpPr txBox="1"/>
          <p:nvPr/>
        </p:nvSpPr>
        <p:spPr>
          <a:xfrm>
            <a:off x="98806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Lo servido, no lo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pedido. Y paga tu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botón, no un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mensaje.</a:t>
            </a:r>
            <a:endParaRPr sz="1350"/>
          </a:p>
        </p:txBody>
      </p:sp>
      <p:sp>
        <p:nvSpPr>
          <p:cNvPr id="28" name="!!naipe-4-tec"/>
          <p:cNvSpPr txBox="1"/>
          <p:nvPr/>
        </p:nvSpPr>
        <p:spPr>
          <a:xfrm>
            <a:off x="98806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A2A + código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naipe-0-sombra"/>
          <p:cNvSpPr/>
          <p:nvPr/>
        </p:nvSpPr>
        <p:spPr>
          <a:xfrm>
            <a:off x="6858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85D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naipe-0"/>
          <p:cNvSpPr/>
          <p:nvPr/>
        </p:nvSpPr>
        <p:spPr>
          <a:xfrm>
            <a:off x="6223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naipe-0-pieza"/>
          <p:cNvSpPr/>
          <p:nvPr/>
        </p:nvSpPr>
        <p:spPr>
          <a:xfrm>
            <a:off x="812800" y="3073400"/>
            <a:ext cx="1278136" cy="393700"/>
          </a:xfrm>
          <a:prstGeom prst="rect">
            <a:avLst/>
          </a:prstGeom>
          <a:solidFill>
            <a:srgbClr val="85DADC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Mesas</a:t>
            </a:r>
            <a:endParaRPr sz="2600"/>
          </a:p>
        </p:txBody>
      </p:sp>
      <p:sp>
        <p:nvSpPr>
          <p:cNvPr id="5" name="!!naipe-0-texto"/>
          <p:cNvSpPr txBox="1"/>
          <p:nvPr/>
        </p:nvSpPr>
        <p:spPr>
          <a:xfrm>
            <a:off x="8128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Un servicio de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mesas al que el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camarero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pregunta.</a:t>
            </a:r>
            <a:endParaRPr sz="1350"/>
          </a:p>
        </p:txBody>
      </p:sp>
      <p:sp>
        <p:nvSpPr>
          <p:cNvPr id="6" name="!!naipe-0-tec"/>
          <p:cNvSpPr txBox="1"/>
          <p:nvPr/>
        </p:nvSpPr>
        <p:spPr>
          <a:xfrm>
            <a:off x="8128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MCP + tu botón</a:t>
            </a:r>
            <a:endParaRPr sz="1100"/>
          </a:p>
        </p:txBody>
      </p:sp>
      <p:sp>
        <p:nvSpPr>
          <p:cNvPr id="7" name="!!naipe-1-sombra"/>
          <p:cNvSpPr/>
          <p:nvPr/>
        </p:nvSpPr>
        <p:spPr>
          <a:xfrm>
            <a:off x="295275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naipe-1"/>
          <p:cNvSpPr/>
          <p:nvPr/>
        </p:nvSpPr>
        <p:spPr>
          <a:xfrm>
            <a:off x="288925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naipe-1-pieza"/>
          <p:cNvSpPr/>
          <p:nvPr/>
        </p:nvSpPr>
        <p:spPr>
          <a:xfrm>
            <a:off x="3079750" y="3073400"/>
            <a:ext cx="1215033" cy="393700"/>
          </a:xfrm>
          <a:prstGeom prst="rect">
            <a:avLst/>
          </a:prstGeom>
          <a:solidFill>
            <a:srgbClr val="D9C58B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Car</a:t>
            </a:r>
            <a:r>
              <a:rPr sz="2600" b="0" i="0" cap="all" spc="-281">
                <a:solidFill>
                  <a:srgbClr val="0B0B0D"/>
                </a:solidFill>
                <a:latin typeface="Work Sans Black"/>
              </a:rPr>
              <a:t>t</a:t>
            </a: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a</a:t>
            </a:r>
            <a:endParaRPr sz="2600"/>
          </a:p>
        </p:txBody>
      </p:sp>
      <p:sp>
        <p:nvSpPr>
          <p:cNvPr id="10" name="!!naipe-1-texto"/>
          <p:cNvSpPr txBox="1"/>
          <p:nvPr/>
        </p:nvSpPr>
        <p:spPr>
          <a:xfrm>
            <a:off x="307975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Los documentos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de la casa,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buscados antes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de hablar.</a:t>
            </a:r>
            <a:endParaRPr sz="1350"/>
          </a:p>
        </p:txBody>
      </p:sp>
      <p:sp>
        <p:nvSpPr>
          <p:cNvPr id="11" name="!!naipe-1-tec"/>
          <p:cNvSpPr txBox="1"/>
          <p:nvPr/>
        </p:nvSpPr>
        <p:spPr>
          <a:xfrm>
            <a:off x="307975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Foundry IQ</a:t>
            </a:r>
            <a:endParaRPr sz="1100"/>
          </a:p>
        </p:txBody>
      </p:sp>
      <p:sp>
        <p:nvSpPr>
          <p:cNvPr id="12" name="!!naipe-2-sombra"/>
          <p:cNvSpPr/>
          <p:nvPr/>
        </p:nvSpPr>
        <p:spPr>
          <a:xfrm>
            <a:off x="52197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naipe-2"/>
          <p:cNvSpPr/>
          <p:nvPr/>
        </p:nvSpPr>
        <p:spPr>
          <a:xfrm>
            <a:off x="51562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naipe-2-pieza"/>
          <p:cNvSpPr/>
          <p:nvPr/>
        </p:nvSpPr>
        <p:spPr>
          <a:xfrm>
            <a:off x="5346700" y="3073400"/>
            <a:ext cx="1364655" cy="393700"/>
          </a:xfrm>
          <a:prstGeom prst="rect">
            <a:avLst/>
          </a:prstGeom>
          <a:solidFill>
            <a:srgbClr val="F8C4FF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Cocina</a:t>
            </a:r>
            <a:endParaRPr sz="2600"/>
          </a:p>
        </p:txBody>
      </p:sp>
      <p:sp>
        <p:nvSpPr>
          <p:cNvPr id="15" name="!!naipe-2-texto"/>
          <p:cNvSpPr txBox="1"/>
          <p:nvPr/>
        </p:nvSpPr>
        <p:spPr>
          <a:xfrm>
            <a:off x="53467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Otro agente, en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su contenedor,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con tres partidas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en paralelo.</a:t>
            </a:r>
            <a:endParaRPr sz="1350"/>
          </a:p>
        </p:txBody>
      </p:sp>
      <p:sp>
        <p:nvSpPr>
          <p:cNvPr id="16" name="!!naipe-2-tec"/>
          <p:cNvSpPr txBox="1"/>
          <p:nvPr/>
        </p:nvSpPr>
        <p:spPr>
          <a:xfrm>
            <a:off x="53467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A2A</a:t>
            </a:r>
            <a:endParaRPr sz="1100"/>
          </a:p>
        </p:txBody>
      </p:sp>
      <p:sp>
        <p:nvSpPr>
          <p:cNvPr id="17" name="!!naipe-3-sombra"/>
          <p:cNvSpPr/>
          <p:nvPr/>
        </p:nvSpPr>
        <p:spPr>
          <a:xfrm>
            <a:off x="748665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naipe-3"/>
          <p:cNvSpPr/>
          <p:nvPr/>
        </p:nvSpPr>
        <p:spPr>
          <a:xfrm>
            <a:off x="742315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naipe-3-pieza"/>
          <p:cNvSpPr/>
          <p:nvPr/>
        </p:nvSpPr>
        <p:spPr>
          <a:xfrm>
            <a:off x="7613650" y="3073400"/>
            <a:ext cx="1256010" cy="393700"/>
          </a:xfrm>
          <a:prstGeom prst="rect">
            <a:avLst/>
          </a:prstGeom>
          <a:solidFill>
            <a:srgbClr val="F89841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Barra</a:t>
            </a:r>
            <a:endParaRPr sz="2600"/>
          </a:p>
        </p:txBody>
      </p:sp>
      <p:sp>
        <p:nvSpPr>
          <p:cNvPr id="20" name="!!naipe-3-texto"/>
          <p:cNvSpPr txBox="1"/>
          <p:nvPr/>
        </p:nvSpPr>
        <p:spPr>
          <a:xfrm>
            <a:off x="761365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Un control que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no se salta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nunca: siempre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igual.</a:t>
            </a:r>
            <a:endParaRPr sz="1350"/>
          </a:p>
        </p:txBody>
      </p:sp>
      <p:sp>
        <p:nvSpPr>
          <p:cNvPr id="21" name="!!naipe-3-tec"/>
          <p:cNvSpPr txBox="1"/>
          <p:nvPr/>
        </p:nvSpPr>
        <p:spPr>
          <a:xfrm>
            <a:off x="761365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Código</a:t>
            </a:r>
            <a:endParaRPr sz="1100"/>
          </a:p>
        </p:txBody>
      </p:sp>
      <p:sp>
        <p:nvSpPr>
          <p:cNvPr id="22" name="!!naipe-4-sombra"/>
          <p:cNvSpPr/>
          <p:nvPr/>
        </p:nvSpPr>
        <p:spPr>
          <a:xfrm>
            <a:off x="9753600" y="2933700"/>
            <a:ext cx="1905000" cy="2857500"/>
          </a:xfrm>
          <a:prstGeom prst="roundRect">
            <a:avLst>
              <a:gd name="adj" fmla="val 5333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naipe-4"/>
          <p:cNvSpPr/>
          <p:nvPr/>
        </p:nvSpPr>
        <p:spPr>
          <a:xfrm>
            <a:off x="9690100" y="2870200"/>
            <a:ext cx="1879600" cy="28321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!!naipe-4-pieza"/>
          <p:cNvSpPr/>
          <p:nvPr/>
        </p:nvSpPr>
        <p:spPr>
          <a:xfrm>
            <a:off x="9880600" y="3073400"/>
            <a:ext cx="998736" cy="393700"/>
          </a:xfrm>
          <a:prstGeom prst="rect">
            <a:avLst/>
          </a:prstGeom>
          <a:solidFill>
            <a:srgbClr val="96C4FF"/>
          </a:solidFill>
          <a:ln>
            <a:noFill/>
          </a:ln>
        </p:spPr>
        <p:txBody>
          <a:bodyPr rtlCol="0" anchor="ctr" wrap="none" lIns="76200" tIns="57925" rIns="76200" bIns="5575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Ca</a:t>
            </a:r>
            <a:r>
              <a:rPr sz="2600" b="0" i="0" cap="all" spc="-143">
                <a:solidFill>
                  <a:srgbClr val="0B0B0D"/>
                </a:solidFill>
                <a:latin typeface="Work Sans Black"/>
              </a:rPr>
              <a:t>j</a:t>
            </a:r>
            <a:r>
              <a:rPr sz="2600" b="0" i="0" cap="all" spc="-78">
                <a:solidFill>
                  <a:srgbClr val="0B0B0D"/>
                </a:solidFill>
                <a:latin typeface="Work Sans Black"/>
              </a:rPr>
              <a:t>a</a:t>
            </a:r>
            <a:endParaRPr sz="2600"/>
          </a:p>
        </p:txBody>
      </p:sp>
      <p:sp>
        <p:nvSpPr>
          <p:cNvPr id="25" name="!!naipe-4-texto"/>
          <p:cNvSpPr txBox="1"/>
          <p:nvPr/>
        </p:nvSpPr>
        <p:spPr>
          <a:xfrm>
            <a:off x="9880600" y="3581400"/>
            <a:ext cx="1498600" cy="891381"/>
          </a:xfrm>
          <a:prstGeom prst="rect">
            <a:avLst/>
          </a:prstGeom>
          <a:noFill/>
        </p:spPr>
        <p:txBody>
          <a:bodyPr wrap="none" lIns="0" tIns="4286" r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 i="0">
                <a:solidFill>
                  <a:srgbClr val="0B0B0D"/>
                </a:solidFill>
                <a:latin typeface="Work Sans Medium"/>
              </a:rPr>
              <a:t>Lo servido, no lo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pedido. Y paga tu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botón, no un</a:t>
            </a:r>
            <a:br/>
            <a:r>
              <a:rPr sz="1350" b="0" i="0">
                <a:solidFill>
                  <a:srgbClr val="0B0B0D"/>
                </a:solidFill>
                <a:latin typeface="Work Sans Medium"/>
              </a:rPr>
              <a:t>mensaje.</a:t>
            </a:r>
            <a:endParaRPr sz="1350"/>
          </a:p>
        </p:txBody>
      </p:sp>
      <p:sp>
        <p:nvSpPr>
          <p:cNvPr id="26" name="!!naipe-4-tec"/>
          <p:cNvSpPr txBox="1"/>
          <p:nvPr/>
        </p:nvSpPr>
        <p:spPr>
          <a:xfrm>
            <a:off x="9880600" y="5340350"/>
            <a:ext cx="1879600" cy="158750"/>
          </a:xfrm>
          <a:prstGeom prst="rect">
            <a:avLst/>
          </a:prstGeom>
          <a:noFill/>
        </p:spPr>
        <p:txBody>
          <a:bodyPr wrap="none" lIns="0" tIns="7839" rIns="0" bIns="0" anchor="t">
            <a:noAutofit/>
          </a:bodyPr>
          <a:lstStyle/>
          <a:p>
            <a:pPr algn="l">
              <a:lnSpc>
                <a:spcPts val="1290"/>
              </a:lnSpc>
            </a:pPr>
            <a:r>
              <a:rPr sz="1100" b="0" i="0" cap="all" spc="44">
                <a:solidFill>
                  <a:srgbClr val="0B0B0D"/>
                </a:solidFill>
                <a:latin typeface="Work Sans ExtraBold"/>
              </a:rPr>
              <a:t>A2A + código</a:t>
            </a:r>
            <a:endParaRPr sz="1100"/>
          </a:p>
        </p:txBody>
      </p:sp>
      <p:sp>
        <p:nvSpPr>
          <p:cNvPr id="27" name="!!velo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!!revela-1"/>
          <p:cNvSpPr txBox="1"/>
          <p:nvPr/>
        </p:nvSpPr>
        <p:spPr>
          <a:xfrm>
            <a:off x="609600" y="2324100"/>
            <a:ext cx="11963400" cy="906462"/>
          </a:xfrm>
          <a:prstGeom prst="rect">
            <a:avLst/>
          </a:prstGeom>
          <a:noFill/>
        </p:spPr>
        <p:txBody>
          <a:bodyPr wrap="none" lIns="0" tIns="139984" rIns="0" bIns="0" anchor="t">
            <a:noAutofit/>
          </a:bodyPr>
          <a:lstStyle/>
          <a:p>
            <a:pPr algn="l">
              <a:lnSpc>
                <a:spcPts val="7138"/>
              </a:lnSpc>
            </a:pP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No es m</a:t>
            </a:r>
            <a:r>
              <a:rPr sz="8300" b="0" i="0" cap="all" spc="-548">
                <a:solidFill>
                  <a:srgbClr val="0B0B0D"/>
                </a:solidFill>
                <a:latin typeface="Work Sans Black"/>
              </a:rPr>
              <a:t>a</a:t>
            </a: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gi</a:t>
            </a:r>
            <a:r>
              <a:rPr sz="8300" b="0" i="0" cap="all" spc="-83">
                <a:solidFill>
                  <a:srgbClr val="0B0B0D"/>
                </a:solidFill>
                <a:latin typeface="Work Sans Black"/>
              </a:rPr>
              <a:t>a</a:t>
            </a:r>
            <a:r>
              <a:rPr sz="8300" b="0" i="0" cap="all" spc="-332">
                <a:solidFill>
                  <a:srgbClr val="0B0B0D"/>
                </a:solidFill>
                <a:latin typeface="Work Sans Black"/>
              </a:rPr>
              <a:t>.</a:t>
            </a:r>
            <a:endParaRPr sz="8300"/>
          </a:p>
        </p:txBody>
      </p:sp>
      <p:sp>
        <p:nvSpPr>
          <p:cNvPr id="29" name="!!revela-2"/>
          <p:cNvSpPr/>
          <p:nvPr/>
        </p:nvSpPr>
        <p:spPr>
          <a:xfrm>
            <a:off x="609600" y="3395662"/>
            <a:ext cx="9942215" cy="1138238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47574" tIns="161066" rIns="147574" bIns="70836">
            <a:noAutofit/>
          </a:bodyPr>
          <a:lstStyle/>
          <a:p>
            <a:pPr algn="l">
              <a:lnSpc>
                <a:spcPts val="7138"/>
              </a:lnSpc>
            </a:pP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Es</a:t>
            </a:r>
            <a:r>
              <a:rPr sz="8300" b="0" i="0" cap="all" spc="-415">
                <a:solidFill>
                  <a:srgbClr val="FFFFFF"/>
                </a:solidFill>
                <a:latin typeface="Work Sans Black"/>
              </a:rPr>
              <a:t> </a:t>
            </a: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a</a:t>
            </a:r>
            <a:r>
              <a:rPr sz="8300" b="0" i="0" cap="all" spc="-390">
                <a:solidFill>
                  <a:srgbClr val="FFFFFF"/>
                </a:solidFill>
                <a:latin typeface="Work Sans Black"/>
              </a:rPr>
              <a:t>r</a:t>
            </a: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quitectur</a:t>
            </a:r>
            <a:r>
              <a:rPr sz="8300" b="0" i="0" cap="all" spc="-83">
                <a:solidFill>
                  <a:srgbClr val="FFFFFF"/>
                </a:solidFill>
                <a:latin typeface="Work Sans Black"/>
              </a:rPr>
              <a:t>a</a:t>
            </a:r>
            <a:r>
              <a:rPr sz="8300" b="0" i="0" cap="all" spc="-332">
                <a:solidFill>
                  <a:srgbClr val="FFFFFF"/>
                </a:solidFill>
                <a:latin typeface="Work Sans Black"/>
              </a:rPr>
              <a:t>.</a:t>
            </a:r>
            <a:endParaRPr sz="8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3806031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camare</a:t>
            </a:r>
            <a:r>
              <a:rPr sz="4000" b="0" i="0" cap="all" spc="-148">
                <a:solidFill>
                  <a:srgbClr val="FFFFFF"/>
                </a:solidFill>
                <a:latin typeface="Work Sans Black"/>
              </a:rPr>
              <a:t>r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mago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mago" descr="replica-m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3806031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camare</a:t>
            </a:r>
            <a:r>
              <a:rPr sz="4000" b="0" i="0" cap="all" spc="-148">
                <a:solidFill>
                  <a:srgbClr val="FFFFFF"/>
                </a:solidFill>
                <a:latin typeface="Work Sans Black"/>
              </a:rPr>
              <a:t>r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mago" descr="diagrama-m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mago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7975600" y="2041198"/>
            <a:ext cx="3548658" cy="119796"/>
          </a:xfrm>
          <a:custGeom>
            <a:avLst/>
            <a:gdLst/>
            <a:ahLst/>
            <a:cxnLst/>
            <a:rect l="l" t="t" r="r" b="b"/>
            <a:pathLst>
              <a:path w="3548658" h="119796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2" y="12419"/>
                </a:lnTo>
                <a:lnTo>
                  <a:pt x="126797" y="13934"/>
                </a:lnTo>
                <a:lnTo>
                  <a:pt x="160972" y="16043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3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89" y="6756"/>
                </a:lnTo>
                <a:lnTo>
                  <a:pt x="591586" y="9476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8" y="10702"/>
                </a:lnTo>
                <a:lnTo>
                  <a:pt x="759460" y="6240"/>
                </a:lnTo>
                <a:lnTo>
                  <a:pt x="798473" y="1684"/>
                </a:lnTo>
                <a:lnTo>
                  <a:pt x="831840" y="0"/>
                </a:lnTo>
                <a:lnTo>
                  <a:pt x="860353" y="594"/>
                </a:lnTo>
                <a:lnTo>
                  <a:pt x="884804" y="2872"/>
                </a:lnTo>
                <a:lnTo>
                  <a:pt x="905986" y="6240"/>
                </a:lnTo>
                <a:lnTo>
                  <a:pt x="924692" y="10104"/>
                </a:lnTo>
                <a:lnTo>
                  <a:pt x="941714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2" y="12419"/>
                </a:lnTo>
                <a:lnTo>
                  <a:pt x="1117397" y="13934"/>
                </a:lnTo>
                <a:lnTo>
                  <a:pt x="1151572" y="16043"/>
                </a:lnTo>
                <a:lnTo>
                  <a:pt x="1186739" y="18029"/>
                </a:lnTo>
                <a:lnTo>
                  <a:pt x="1222896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37310" y="10368"/>
                </a:lnTo>
                <a:lnTo>
                  <a:pt x="1377173" y="4792"/>
                </a:lnTo>
                <a:lnTo>
                  <a:pt x="1417483" y="2410"/>
                </a:lnTo>
                <a:lnTo>
                  <a:pt x="1458188" y="2456"/>
                </a:lnTo>
                <a:lnTo>
                  <a:pt x="1499240" y="4160"/>
                </a:lnTo>
                <a:lnTo>
                  <a:pt x="1540589" y="6756"/>
                </a:lnTo>
                <a:lnTo>
                  <a:pt x="1582186" y="9476"/>
                </a:lnTo>
                <a:lnTo>
                  <a:pt x="1623981" y="11553"/>
                </a:lnTo>
                <a:lnTo>
                  <a:pt x="1665925" y="12217"/>
                </a:lnTo>
                <a:lnTo>
                  <a:pt x="1707968" y="10702"/>
                </a:lnTo>
                <a:lnTo>
                  <a:pt x="1750060" y="6240"/>
                </a:lnTo>
                <a:lnTo>
                  <a:pt x="1789073" y="1684"/>
                </a:lnTo>
                <a:lnTo>
                  <a:pt x="1822440" y="0"/>
                </a:lnTo>
                <a:lnTo>
                  <a:pt x="1850953" y="594"/>
                </a:lnTo>
                <a:lnTo>
                  <a:pt x="1875404" y="2872"/>
                </a:lnTo>
                <a:lnTo>
                  <a:pt x="1896586" y="6240"/>
                </a:lnTo>
                <a:lnTo>
                  <a:pt x="1915292" y="10104"/>
                </a:lnTo>
                <a:lnTo>
                  <a:pt x="1932314" y="13868"/>
                </a:lnTo>
                <a:lnTo>
                  <a:pt x="1948444" y="16939"/>
                </a:lnTo>
                <a:lnTo>
                  <a:pt x="1964475" y="18722"/>
                </a:lnTo>
                <a:lnTo>
                  <a:pt x="1981200" y="18623"/>
                </a:lnTo>
                <a:lnTo>
                  <a:pt x="2011413" y="14046"/>
                </a:lnTo>
                <a:lnTo>
                  <a:pt x="2042617" y="12217"/>
                </a:lnTo>
                <a:lnTo>
                  <a:pt x="2074812" y="12419"/>
                </a:lnTo>
                <a:lnTo>
                  <a:pt x="2107997" y="13934"/>
                </a:lnTo>
                <a:lnTo>
                  <a:pt x="2142172" y="16043"/>
                </a:lnTo>
                <a:lnTo>
                  <a:pt x="2177339" y="18029"/>
                </a:lnTo>
                <a:lnTo>
                  <a:pt x="2213496" y="19172"/>
                </a:lnTo>
                <a:lnTo>
                  <a:pt x="2250643" y="18755"/>
                </a:lnTo>
                <a:lnTo>
                  <a:pt x="2288781" y="16060"/>
                </a:lnTo>
                <a:lnTo>
                  <a:pt x="2327910" y="10368"/>
                </a:lnTo>
                <a:lnTo>
                  <a:pt x="2367773" y="4792"/>
                </a:lnTo>
                <a:lnTo>
                  <a:pt x="2408083" y="2410"/>
                </a:lnTo>
                <a:lnTo>
                  <a:pt x="2448788" y="2456"/>
                </a:lnTo>
                <a:lnTo>
                  <a:pt x="2489840" y="4160"/>
                </a:lnTo>
                <a:lnTo>
                  <a:pt x="2531189" y="6756"/>
                </a:lnTo>
                <a:lnTo>
                  <a:pt x="2572786" y="9476"/>
                </a:lnTo>
                <a:lnTo>
                  <a:pt x="2614581" y="11553"/>
                </a:lnTo>
                <a:lnTo>
                  <a:pt x="2656525" y="12217"/>
                </a:lnTo>
                <a:lnTo>
                  <a:pt x="2698568" y="10702"/>
                </a:lnTo>
                <a:lnTo>
                  <a:pt x="2740660" y="6240"/>
                </a:lnTo>
                <a:lnTo>
                  <a:pt x="2779673" y="1684"/>
                </a:lnTo>
                <a:lnTo>
                  <a:pt x="2813040" y="0"/>
                </a:lnTo>
                <a:lnTo>
                  <a:pt x="2841553" y="594"/>
                </a:lnTo>
                <a:lnTo>
                  <a:pt x="2866004" y="2872"/>
                </a:lnTo>
                <a:lnTo>
                  <a:pt x="2887186" y="6240"/>
                </a:lnTo>
                <a:lnTo>
                  <a:pt x="2905892" y="10104"/>
                </a:lnTo>
                <a:lnTo>
                  <a:pt x="2922914" y="13868"/>
                </a:lnTo>
                <a:lnTo>
                  <a:pt x="2939044" y="16939"/>
                </a:lnTo>
                <a:lnTo>
                  <a:pt x="2955075" y="18722"/>
                </a:lnTo>
                <a:lnTo>
                  <a:pt x="2971800" y="18623"/>
                </a:lnTo>
                <a:lnTo>
                  <a:pt x="3002013" y="14046"/>
                </a:lnTo>
                <a:lnTo>
                  <a:pt x="3033217" y="12217"/>
                </a:lnTo>
                <a:lnTo>
                  <a:pt x="3065412" y="12419"/>
                </a:lnTo>
                <a:lnTo>
                  <a:pt x="3098597" y="13934"/>
                </a:lnTo>
                <a:lnTo>
                  <a:pt x="3132772" y="16043"/>
                </a:lnTo>
                <a:lnTo>
                  <a:pt x="3167939" y="18029"/>
                </a:lnTo>
                <a:lnTo>
                  <a:pt x="3204096" y="19172"/>
                </a:lnTo>
                <a:lnTo>
                  <a:pt x="3241243" y="18755"/>
                </a:lnTo>
                <a:lnTo>
                  <a:pt x="3279381" y="16060"/>
                </a:lnTo>
                <a:lnTo>
                  <a:pt x="3318510" y="10368"/>
                </a:lnTo>
                <a:lnTo>
                  <a:pt x="3358373" y="4792"/>
                </a:lnTo>
                <a:lnTo>
                  <a:pt x="3398683" y="2410"/>
                </a:lnTo>
                <a:lnTo>
                  <a:pt x="3439388" y="2456"/>
                </a:lnTo>
                <a:lnTo>
                  <a:pt x="3480440" y="4160"/>
                </a:lnTo>
                <a:lnTo>
                  <a:pt x="3521789" y="6756"/>
                </a:lnTo>
                <a:lnTo>
                  <a:pt x="3548658" y="9476"/>
                </a:lnTo>
                <a:lnTo>
                  <a:pt x="3548658" y="11553"/>
                </a:lnTo>
                <a:lnTo>
                  <a:pt x="3548658" y="12217"/>
                </a:lnTo>
                <a:lnTo>
                  <a:pt x="3548658" y="10702"/>
                </a:lnTo>
                <a:lnTo>
                  <a:pt x="3548658" y="6240"/>
                </a:lnTo>
                <a:lnTo>
                  <a:pt x="3548658" y="1684"/>
                </a:lnTo>
                <a:lnTo>
                  <a:pt x="3548658" y="0"/>
                </a:lnTo>
                <a:lnTo>
                  <a:pt x="3548658" y="594"/>
                </a:lnTo>
                <a:lnTo>
                  <a:pt x="3548658" y="2872"/>
                </a:lnTo>
                <a:lnTo>
                  <a:pt x="3548658" y="6240"/>
                </a:lnTo>
                <a:lnTo>
                  <a:pt x="3548658" y="10104"/>
                </a:lnTo>
                <a:lnTo>
                  <a:pt x="3548658" y="13868"/>
                </a:lnTo>
                <a:lnTo>
                  <a:pt x="3548658" y="16939"/>
                </a:lnTo>
                <a:lnTo>
                  <a:pt x="3548658" y="18722"/>
                </a:lnTo>
                <a:lnTo>
                  <a:pt x="3548658" y="18623"/>
                </a:lnTo>
                <a:lnTo>
                  <a:pt x="3548658" y="101173"/>
                </a:lnTo>
                <a:lnTo>
                  <a:pt x="3548658" y="104859"/>
                </a:lnTo>
                <a:lnTo>
                  <a:pt x="3548658" y="106390"/>
                </a:lnTo>
                <a:lnTo>
                  <a:pt x="3548658" y="106336"/>
                </a:lnTo>
                <a:lnTo>
                  <a:pt x="3548658" y="105267"/>
                </a:lnTo>
                <a:lnTo>
                  <a:pt x="3548658" y="103753"/>
                </a:lnTo>
                <a:lnTo>
                  <a:pt x="3548658" y="102362"/>
                </a:lnTo>
                <a:lnTo>
                  <a:pt x="3548658" y="101664"/>
                </a:lnTo>
                <a:lnTo>
                  <a:pt x="3548658" y="102230"/>
                </a:lnTo>
                <a:lnTo>
                  <a:pt x="3548658" y="104628"/>
                </a:lnTo>
                <a:lnTo>
                  <a:pt x="3548658" y="109428"/>
                </a:lnTo>
                <a:lnTo>
                  <a:pt x="3548658" y="114001"/>
                </a:lnTo>
                <a:lnTo>
                  <a:pt x="3538159" y="115801"/>
                </a:lnTo>
                <a:lnTo>
                  <a:pt x="3500384" y="115520"/>
                </a:lnTo>
                <a:lnTo>
                  <a:pt x="3463006" y="113853"/>
                </a:lnTo>
                <a:lnTo>
                  <a:pt x="3425825" y="111492"/>
                </a:lnTo>
                <a:lnTo>
                  <a:pt x="3388644" y="109131"/>
                </a:lnTo>
                <a:lnTo>
                  <a:pt x="3351266" y="107463"/>
                </a:lnTo>
                <a:lnTo>
                  <a:pt x="3313491" y="107183"/>
                </a:lnTo>
                <a:lnTo>
                  <a:pt x="3275122" y="108982"/>
                </a:lnTo>
                <a:lnTo>
                  <a:pt x="3235960" y="113555"/>
                </a:lnTo>
                <a:lnTo>
                  <a:pt x="3198251" y="118112"/>
                </a:lnTo>
                <a:lnTo>
                  <a:pt x="3164108" y="119796"/>
                </a:lnTo>
                <a:lnTo>
                  <a:pt x="3133136" y="119202"/>
                </a:lnTo>
                <a:lnTo>
                  <a:pt x="3104937" y="116923"/>
                </a:lnTo>
                <a:lnTo>
                  <a:pt x="3079115" y="113555"/>
                </a:lnTo>
                <a:lnTo>
                  <a:pt x="3055275" y="109692"/>
                </a:lnTo>
                <a:lnTo>
                  <a:pt x="3033019" y="105928"/>
                </a:lnTo>
                <a:lnTo>
                  <a:pt x="3011952" y="102857"/>
                </a:lnTo>
                <a:lnTo>
                  <a:pt x="2991678" y="101074"/>
                </a:lnTo>
                <a:lnTo>
                  <a:pt x="2971800" y="101173"/>
                </a:lnTo>
                <a:lnTo>
                  <a:pt x="2939581" y="104859"/>
                </a:lnTo>
                <a:lnTo>
                  <a:pt x="2907213" y="106390"/>
                </a:lnTo>
                <a:lnTo>
                  <a:pt x="2874548" y="106336"/>
                </a:lnTo>
                <a:lnTo>
                  <a:pt x="2841437" y="105267"/>
                </a:lnTo>
                <a:lnTo>
                  <a:pt x="2807732" y="103753"/>
                </a:lnTo>
                <a:lnTo>
                  <a:pt x="2773284" y="102362"/>
                </a:lnTo>
                <a:lnTo>
                  <a:pt x="2737944" y="101664"/>
                </a:lnTo>
                <a:lnTo>
                  <a:pt x="2701564" y="102230"/>
                </a:lnTo>
                <a:lnTo>
                  <a:pt x="2663996" y="104628"/>
                </a:lnTo>
                <a:lnTo>
                  <a:pt x="2625090" y="109428"/>
                </a:lnTo>
                <a:lnTo>
                  <a:pt x="2585928" y="114001"/>
                </a:lnTo>
                <a:lnTo>
                  <a:pt x="2547559" y="115801"/>
                </a:lnTo>
                <a:lnTo>
                  <a:pt x="2509784" y="115520"/>
                </a:lnTo>
                <a:lnTo>
                  <a:pt x="2472406" y="113853"/>
                </a:lnTo>
                <a:lnTo>
                  <a:pt x="2435225" y="111492"/>
                </a:lnTo>
                <a:lnTo>
                  <a:pt x="2398044" y="109131"/>
                </a:lnTo>
                <a:lnTo>
                  <a:pt x="2360666" y="107463"/>
                </a:lnTo>
                <a:lnTo>
                  <a:pt x="2322891" y="107183"/>
                </a:lnTo>
                <a:lnTo>
                  <a:pt x="2284522" y="108982"/>
                </a:lnTo>
                <a:lnTo>
                  <a:pt x="2245360" y="113555"/>
                </a:lnTo>
                <a:lnTo>
                  <a:pt x="2207651" y="118112"/>
                </a:lnTo>
                <a:lnTo>
                  <a:pt x="2173508" y="119796"/>
                </a:lnTo>
                <a:lnTo>
                  <a:pt x="2142536" y="119202"/>
                </a:lnTo>
                <a:lnTo>
                  <a:pt x="2114337" y="116923"/>
                </a:lnTo>
                <a:lnTo>
                  <a:pt x="2088515" y="113555"/>
                </a:lnTo>
                <a:lnTo>
                  <a:pt x="2064675" y="109692"/>
                </a:lnTo>
                <a:lnTo>
                  <a:pt x="2042419" y="105928"/>
                </a:lnTo>
                <a:lnTo>
                  <a:pt x="2021352" y="102857"/>
                </a:lnTo>
                <a:lnTo>
                  <a:pt x="2001078" y="101074"/>
                </a:lnTo>
                <a:lnTo>
                  <a:pt x="1981200" y="101173"/>
                </a:lnTo>
                <a:lnTo>
                  <a:pt x="1948981" y="104859"/>
                </a:lnTo>
                <a:lnTo>
                  <a:pt x="1916613" y="106390"/>
                </a:lnTo>
                <a:lnTo>
                  <a:pt x="1883948" y="106336"/>
                </a:lnTo>
                <a:lnTo>
                  <a:pt x="1850837" y="105267"/>
                </a:lnTo>
                <a:lnTo>
                  <a:pt x="1817132" y="103753"/>
                </a:lnTo>
                <a:lnTo>
                  <a:pt x="1782684" y="102362"/>
                </a:lnTo>
                <a:lnTo>
                  <a:pt x="1747344" y="101664"/>
                </a:lnTo>
                <a:lnTo>
                  <a:pt x="1710964" y="102230"/>
                </a:lnTo>
                <a:lnTo>
                  <a:pt x="1673396" y="104628"/>
                </a:lnTo>
                <a:lnTo>
                  <a:pt x="1634490" y="109428"/>
                </a:lnTo>
                <a:lnTo>
                  <a:pt x="1595328" y="114001"/>
                </a:lnTo>
                <a:lnTo>
                  <a:pt x="1556959" y="115801"/>
                </a:lnTo>
                <a:lnTo>
                  <a:pt x="1519184" y="115520"/>
                </a:lnTo>
                <a:lnTo>
                  <a:pt x="1481806" y="113853"/>
                </a:lnTo>
                <a:lnTo>
                  <a:pt x="1444625" y="111492"/>
                </a:lnTo>
                <a:lnTo>
                  <a:pt x="1407444" y="109131"/>
                </a:lnTo>
                <a:lnTo>
                  <a:pt x="1370066" y="107463"/>
                </a:lnTo>
                <a:lnTo>
                  <a:pt x="1332291" y="107183"/>
                </a:lnTo>
                <a:lnTo>
                  <a:pt x="1293922" y="108982"/>
                </a:lnTo>
                <a:lnTo>
                  <a:pt x="1254760" y="113555"/>
                </a:lnTo>
                <a:lnTo>
                  <a:pt x="1217051" y="118112"/>
                </a:lnTo>
                <a:lnTo>
                  <a:pt x="1182908" y="119796"/>
                </a:lnTo>
                <a:lnTo>
                  <a:pt x="1151936" y="119202"/>
                </a:lnTo>
                <a:lnTo>
                  <a:pt x="1123737" y="116923"/>
                </a:lnTo>
                <a:lnTo>
                  <a:pt x="1097915" y="113555"/>
                </a:lnTo>
                <a:lnTo>
                  <a:pt x="1074075" y="109692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1" y="104859"/>
                </a:lnTo>
                <a:lnTo>
                  <a:pt x="926013" y="106390"/>
                </a:lnTo>
                <a:lnTo>
                  <a:pt x="893348" y="106336"/>
                </a:lnTo>
                <a:lnTo>
                  <a:pt x="860237" y="105267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4"/>
                </a:lnTo>
                <a:lnTo>
                  <a:pt x="720364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8" y="114001"/>
                </a:lnTo>
                <a:lnTo>
                  <a:pt x="566359" y="115801"/>
                </a:lnTo>
                <a:lnTo>
                  <a:pt x="528584" y="115520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6" y="107463"/>
                </a:lnTo>
                <a:lnTo>
                  <a:pt x="341691" y="107183"/>
                </a:lnTo>
                <a:lnTo>
                  <a:pt x="303322" y="108982"/>
                </a:lnTo>
                <a:lnTo>
                  <a:pt x="264160" y="113555"/>
                </a:lnTo>
                <a:lnTo>
                  <a:pt x="226451" y="118112"/>
                </a:lnTo>
                <a:lnTo>
                  <a:pt x="192308" y="119796"/>
                </a:lnTo>
                <a:lnTo>
                  <a:pt x="161336" y="119202"/>
                </a:lnTo>
                <a:lnTo>
                  <a:pt x="133137" y="116923"/>
                </a:lnTo>
                <a:lnTo>
                  <a:pt x="107315" y="113555"/>
                </a:lnTo>
                <a:lnTo>
                  <a:pt x="83475" y="109692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reto-grande"/>
          <p:cNvSpPr txBox="1"/>
          <p:nvPr/>
        </p:nvSpPr>
        <p:spPr>
          <a:xfrm>
            <a:off x="7975600" y="1498600"/>
            <a:ext cx="3606800" cy="673497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No sabe h</a:t>
            </a:r>
            <a:r>
              <a:rPr sz="2600" b="0" i="0" spc="-94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cerlo todo: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sabe a quién pedír</a:t>
            </a:r>
            <a:r>
              <a:rPr sz="2600" b="0" i="0" spc="-91">
                <a:solidFill>
                  <a:srgbClr val="0B0B0D"/>
                </a:solidFill>
                <a:latin typeface="Work Sans Black"/>
              </a:rPr>
              <a:t>s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el</a:t>
            </a:r>
            <a:r>
              <a:rPr sz="2600" b="0" i="0" spc="-112">
                <a:solidFill>
                  <a:srgbClr val="0B0B0D"/>
                </a:solidFill>
                <a:latin typeface="Work Sans Black"/>
              </a:rPr>
              <a:t>o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.</a:t>
            </a:r>
            <a:endParaRPr sz="2600"/>
          </a:p>
        </p:txBody>
      </p:sp>
      <p:sp>
        <p:nvSpPr>
          <p:cNvPr id="9" name="!!secreto-apoyo"/>
          <p:cNvSpPr txBox="1"/>
          <p:nvPr/>
        </p:nvSpPr>
        <p:spPr>
          <a:xfrm>
            <a:off x="7975600" y="2362597"/>
            <a:ext cx="3554710" cy="1333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Dentro hay un modelo de lenguaje, la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única caja negra que queda. Lo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rodeamos de piezas que diseñamos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nosotros: sus instrucciones, su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memoria y sus herramientas.</a:t>
            </a:r>
            <a:endParaRPr sz="1500"/>
          </a:p>
        </p:txBody>
      </p:sp>
      <p:sp>
        <p:nvSpPr>
          <p:cNvPr id="10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2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4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3806031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camare</a:t>
            </a:r>
            <a:r>
              <a:rPr sz="4000" b="0" i="0" cap="all" spc="-148">
                <a:solidFill>
                  <a:srgbClr val="FFFFFF"/>
                </a:solidFill>
                <a:latin typeface="Work Sans Black"/>
              </a:rPr>
              <a:t>r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mago" descr="diagrama-m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492125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57">
                <a:solidFill>
                  <a:srgbClr val="0B0B0D"/>
                </a:solidFill>
                <a:latin typeface="Work Sans Black"/>
              </a:rPr>
              <a:t>Un </a:t>
            </a:r>
            <a:r>
              <a:rPr sz="1900" b="0" i="0" spc="-40">
                <a:solidFill>
                  <a:srgbClr val="0B0B0D"/>
                </a:solidFill>
                <a:latin typeface="Work Sans Black"/>
              </a:rPr>
              <a:t>a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gente con</a:t>
            </a:r>
            <a:br/>
            <a:r>
              <a:rPr sz="1900" b="0" i="0" spc="-57">
                <a:solidFill>
                  <a:srgbClr val="0B0B0D"/>
                </a:solidFill>
                <a:latin typeface="Work Sans Black"/>
              </a:rPr>
              <a:t>herramien</a:t>
            </a:r>
            <a:r>
              <a:rPr sz="1900" b="0" i="0" spc="-30">
                <a:solidFill>
                  <a:srgbClr val="0B0B0D"/>
                </a:solidFill>
                <a:latin typeface="Work Sans Black"/>
              </a:rPr>
              <a:t>t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as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282825"/>
            <a:ext cx="3136900" cy="10075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Hecho con Microsoft Agent Framework; el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modelo vive en Microsoft Foundry. En cada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turno lee tu memoria, razona, usa sus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herramientas y responde con datos que la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app entiende.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3391991"/>
            <a:ext cx="3136900" cy="1392833"/>
          </a:xfrm>
          <a:prstGeom prst="roundRect">
            <a:avLst>
              <a:gd name="adj" fmla="val 3647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3391991"/>
            <a:ext cx="3517900" cy="1392833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camarero = Agent( 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# simplificado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modelo=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"gpt-5.6-luna"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instrucciones="instructions.md",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herramientas=[mesas, carta,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  pedir_a_cocina, servir_bebidas,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  pedir_la_cuenta])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5029994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258594"/>
            <a:ext cx="3304540" cy="65960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Uno habla contigo; los especialistas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hacen una cosa y la hacen bien.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Cada paso se ve en «Bajo el capó».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757763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h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buscado mesa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mesas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mesas" descr="replica-mes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757763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h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buscado mesa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mesas" descr="diagrama-me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mesas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10255647" y="1704449"/>
            <a:ext cx="418108" cy="119797"/>
          </a:xfrm>
          <a:custGeom>
            <a:avLst/>
            <a:gdLst/>
            <a:ahLst/>
            <a:cxnLst/>
            <a:rect l="l" t="t" r="r" b="b"/>
            <a:pathLst>
              <a:path w="418108" h="119797">
                <a:moveTo>
                  <a:pt x="0" y="18623"/>
                </a:moveTo>
                <a:lnTo>
                  <a:pt x="30213" y="14046"/>
                </a:lnTo>
                <a:lnTo>
                  <a:pt x="61417" y="12218"/>
                </a:lnTo>
                <a:lnTo>
                  <a:pt x="93612" y="12420"/>
                </a:lnTo>
                <a:lnTo>
                  <a:pt x="126797" y="13935"/>
                </a:lnTo>
                <a:lnTo>
                  <a:pt x="160972" y="16044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6"/>
                </a:lnTo>
                <a:lnTo>
                  <a:pt x="307581" y="16060"/>
                </a:lnTo>
                <a:lnTo>
                  <a:pt x="346710" y="10369"/>
                </a:lnTo>
                <a:lnTo>
                  <a:pt x="386573" y="4792"/>
                </a:lnTo>
                <a:lnTo>
                  <a:pt x="418108" y="2411"/>
                </a:lnTo>
                <a:lnTo>
                  <a:pt x="418108" y="2456"/>
                </a:lnTo>
                <a:lnTo>
                  <a:pt x="418108" y="4161"/>
                </a:lnTo>
                <a:lnTo>
                  <a:pt x="418108" y="6757"/>
                </a:lnTo>
                <a:lnTo>
                  <a:pt x="418108" y="9477"/>
                </a:lnTo>
                <a:lnTo>
                  <a:pt x="418108" y="11553"/>
                </a:lnTo>
                <a:lnTo>
                  <a:pt x="418108" y="12218"/>
                </a:lnTo>
                <a:lnTo>
                  <a:pt x="418108" y="10703"/>
                </a:lnTo>
                <a:lnTo>
                  <a:pt x="418108" y="6241"/>
                </a:lnTo>
                <a:lnTo>
                  <a:pt x="418108" y="1684"/>
                </a:lnTo>
                <a:lnTo>
                  <a:pt x="418108" y="0"/>
                </a:lnTo>
                <a:lnTo>
                  <a:pt x="418108" y="595"/>
                </a:lnTo>
                <a:lnTo>
                  <a:pt x="418108" y="2873"/>
                </a:lnTo>
                <a:lnTo>
                  <a:pt x="418108" y="6241"/>
                </a:lnTo>
                <a:lnTo>
                  <a:pt x="418108" y="10104"/>
                </a:lnTo>
                <a:lnTo>
                  <a:pt x="418108" y="13869"/>
                </a:lnTo>
                <a:lnTo>
                  <a:pt x="418108" y="16939"/>
                </a:lnTo>
                <a:lnTo>
                  <a:pt x="418108" y="18723"/>
                </a:lnTo>
                <a:lnTo>
                  <a:pt x="418108" y="18623"/>
                </a:lnTo>
                <a:lnTo>
                  <a:pt x="418108" y="101173"/>
                </a:lnTo>
                <a:lnTo>
                  <a:pt x="418108" y="104859"/>
                </a:lnTo>
                <a:lnTo>
                  <a:pt x="418108" y="106391"/>
                </a:lnTo>
                <a:lnTo>
                  <a:pt x="418108" y="106337"/>
                </a:lnTo>
                <a:lnTo>
                  <a:pt x="418108" y="105268"/>
                </a:lnTo>
                <a:lnTo>
                  <a:pt x="418108" y="103753"/>
                </a:lnTo>
                <a:lnTo>
                  <a:pt x="418108" y="102362"/>
                </a:lnTo>
                <a:lnTo>
                  <a:pt x="418108" y="101665"/>
                </a:lnTo>
                <a:lnTo>
                  <a:pt x="418108" y="102230"/>
                </a:lnTo>
                <a:lnTo>
                  <a:pt x="418108" y="104628"/>
                </a:lnTo>
                <a:lnTo>
                  <a:pt x="418108" y="109428"/>
                </a:lnTo>
                <a:lnTo>
                  <a:pt x="418108" y="114002"/>
                </a:lnTo>
                <a:lnTo>
                  <a:pt x="418108" y="115801"/>
                </a:lnTo>
                <a:lnTo>
                  <a:pt x="418108" y="115521"/>
                </a:lnTo>
                <a:lnTo>
                  <a:pt x="418108" y="113853"/>
                </a:lnTo>
                <a:lnTo>
                  <a:pt x="418108" y="111492"/>
                </a:lnTo>
                <a:lnTo>
                  <a:pt x="416844" y="109131"/>
                </a:lnTo>
                <a:lnTo>
                  <a:pt x="379466" y="107464"/>
                </a:lnTo>
                <a:lnTo>
                  <a:pt x="341691" y="107183"/>
                </a:lnTo>
                <a:lnTo>
                  <a:pt x="303322" y="108983"/>
                </a:lnTo>
                <a:lnTo>
                  <a:pt x="264160" y="113556"/>
                </a:lnTo>
                <a:lnTo>
                  <a:pt x="226451" y="118113"/>
                </a:lnTo>
                <a:lnTo>
                  <a:pt x="192308" y="119797"/>
                </a:lnTo>
                <a:lnTo>
                  <a:pt x="161336" y="119202"/>
                </a:lnTo>
                <a:lnTo>
                  <a:pt x="133137" y="116924"/>
                </a:lnTo>
                <a:lnTo>
                  <a:pt x="107315" y="113556"/>
                </a:lnTo>
                <a:lnTo>
                  <a:pt x="83474" y="109693"/>
                </a:lnTo>
                <a:lnTo>
                  <a:pt x="61219" y="105928"/>
                </a:lnTo>
                <a:lnTo>
                  <a:pt x="40152" y="102858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85D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rotu-1"/>
          <p:cNvSpPr/>
          <p:nvPr/>
        </p:nvSpPr>
        <p:spPr>
          <a:xfrm>
            <a:off x="7975600" y="2041198"/>
            <a:ext cx="1313259" cy="119796"/>
          </a:xfrm>
          <a:custGeom>
            <a:avLst/>
            <a:gdLst/>
            <a:ahLst/>
            <a:cxnLst/>
            <a:rect l="l" t="t" r="r" b="b"/>
            <a:pathLst>
              <a:path w="1313259" h="119796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2" y="12419"/>
                </a:lnTo>
                <a:lnTo>
                  <a:pt x="126797" y="13934"/>
                </a:lnTo>
                <a:lnTo>
                  <a:pt x="160972" y="16043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3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89" y="6756"/>
                </a:lnTo>
                <a:lnTo>
                  <a:pt x="591586" y="9476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8" y="10702"/>
                </a:lnTo>
                <a:lnTo>
                  <a:pt x="759460" y="6240"/>
                </a:lnTo>
                <a:lnTo>
                  <a:pt x="798473" y="1684"/>
                </a:lnTo>
                <a:lnTo>
                  <a:pt x="831840" y="0"/>
                </a:lnTo>
                <a:lnTo>
                  <a:pt x="860353" y="594"/>
                </a:lnTo>
                <a:lnTo>
                  <a:pt x="884804" y="2872"/>
                </a:lnTo>
                <a:lnTo>
                  <a:pt x="905986" y="6240"/>
                </a:lnTo>
                <a:lnTo>
                  <a:pt x="924692" y="10104"/>
                </a:lnTo>
                <a:lnTo>
                  <a:pt x="941714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2" y="12419"/>
                </a:lnTo>
                <a:lnTo>
                  <a:pt x="1117397" y="13934"/>
                </a:lnTo>
                <a:lnTo>
                  <a:pt x="1151572" y="16043"/>
                </a:lnTo>
                <a:lnTo>
                  <a:pt x="1186739" y="18029"/>
                </a:lnTo>
                <a:lnTo>
                  <a:pt x="1222896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13259" y="10368"/>
                </a:lnTo>
                <a:lnTo>
                  <a:pt x="1313259" y="4792"/>
                </a:lnTo>
                <a:lnTo>
                  <a:pt x="1313259" y="2410"/>
                </a:lnTo>
                <a:lnTo>
                  <a:pt x="1313259" y="2456"/>
                </a:lnTo>
                <a:lnTo>
                  <a:pt x="1313259" y="4160"/>
                </a:lnTo>
                <a:lnTo>
                  <a:pt x="1313259" y="6756"/>
                </a:lnTo>
                <a:lnTo>
                  <a:pt x="1313259" y="9476"/>
                </a:lnTo>
                <a:lnTo>
                  <a:pt x="1313259" y="11553"/>
                </a:lnTo>
                <a:lnTo>
                  <a:pt x="1313259" y="12217"/>
                </a:lnTo>
                <a:lnTo>
                  <a:pt x="1313259" y="10702"/>
                </a:lnTo>
                <a:lnTo>
                  <a:pt x="1313259" y="6240"/>
                </a:lnTo>
                <a:lnTo>
                  <a:pt x="1313259" y="1684"/>
                </a:lnTo>
                <a:lnTo>
                  <a:pt x="1313259" y="0"/>
                </a:lnTo>
                <a:lnTo>
                  <a:pt x="1313259" y="594"/>
                </a:lnTo>
                <a:lnTo>
                  <a:pt x="1313259" y="2872"/>
                </a:lnTo>
                <a:lnTo>
                  <a:pt x="1313259" y="6240"/>
                </a:lnTo>
                <a:lnTo>
                  <a:pt x="1313259" y="10104"/>
                </a:lnTo>
                <a:lnTo>
                  <a:pt x="1313259" y="13868"/>
                </a:lnTo>
                <a:lnTo>
                  <a:pt x="1313259" y="16939"/>
                </a:lnTo>
                <a:lnTo>
                  <a:pt x="1313259" y="18722"/>
                </a:lnTo>
                <a:lnTo>
                  <a:pt x="1313259" y="18623"/>
                </a:lnTo>
                <a:lnTo>
                  <a:pt x="1313259" y="101173"/>
                </a:lnTo>
                <a:lnTo>
                  <a:pt x="1313259" y="104859"/>
                </a:lnTo>
                <a:lnTo>
                  <a:pt x="1313259" y="106390"/>
                </a:lnTo>
                <a:lnTo>
                  <a:pt x="1313259" y="106336"/>
                </a:lnTo>
                <a:lnTo>
                  <a:pt x="1313259" y="105267"/>
                </a:lnTo>
                <a:lnTo>
                  <a:pt x="1313259" y="103753"/>
                </a:lnTo>
                <a:lnTo>
                  <a:pt x="1313259" y="102362"/>
                </a:lnTo>
                <a:lnTo>
                  <a:pt x="1313259" y="101664"/>
                </a:lnTo>
                <a:lnTo>
                  <a:pt x="1313259" y="102230"/>
                </a:lnTo>
                <a:lnTo>
                  <a:pt x="1313259" y="104628"/>
                </a:lnTo>
                <a:lnTo>
                  <a:pt x="1313259" y="109428"/>
                </a:lnTo>
                <a:lnTo>
                  <a:pt x="1313259" y="114001"/>
                </a:lnTo>
                <a:lnTo>
                  <a:pt x="1313259" y="115801"/>
                </a:lnTo>
                <a:lnTo>
                  <a:pt x="1313259" y="115520"/>
                </a:lnTo>
                <a:lnTo>
                  <a:pt x="1313259" y="113853"/>
                </a:lnTo>
                <a:lnTo>
                  <a:pt x="1313259" y="111492"/>
                </a:lnTo>
                <a:lnTo>
                  <a:pt x="1313259" y="109131"/>
                </a:lnTo>
                <a:lnTo>
                  <a:pt x="1313259" y="107463"/>
                </a:lnTo>
                <a:lnTo>
                  <a:pt x="1313259" y="107183"/>
                </a:lnTo>
                <a:lnTo>
                  <a:pt x="1293922" y="108982"/>
                </a:lnTo>
                <a:lnTo>
                  <a:pt x="1254760" y="113555"/>
                </a:lnTo>
                <a:lnTo>
                  <a:pt x="1217051" y="118112"/>
                </a:lnTo>
                <a:lnTo>
                  <a:pt x="1182908" y="119796"/>
                </a:lnTo>
                <a:lnTo>
                  <a:pt x="1151936" y="119202"/>
                </a:lnTo>
                <a:lnTo>
                  <a:pt x="1123737" y="116923"/>
                </a:lnTo>
                <a:lnTo>
                  <a:pt x="1097915" y="113555"/>
                </a:lnTo>
                <a:lnTo>
                  <a:pt x="1074075" y="109692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1" y="104859"/>
                </a:lnTo>
                <a:lnTo>
                  <a:pt x="926013" y="106390"/>
                </a:lnTo>
                <a:lnTo>
                  <a:pt x="893348" y="106336"/>
                </a:lnTo>
                <a:lnTo>
                  <a:pt x="860237" y="105267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4"/>
                </a:lnTo>
                <a:lnTo>
                  <a:pt x="720364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8" y="114001"/>
                </a:lnTo>
                <a:lnTo>
                  <a:pt x="566359" y="115801"/>
                </a:lnTo>
                <a:lnTo>
                  <a:pt x="528584" y="115520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6" y="107463"/>
                </a:lnTo>
                <a:lnTo>
                  <a:pt x="341691" y="107183"/>
                </a:lnTo>
                <a:lnTo>
                  <a:pt x="303322" y="108982"/>
                </a:lnTo>
                <a:lnTo>
                  <a:pt x="264160" y="113555"/>
                </a:lnTo>
                <a:lnTo>
                  <a:pt x="226451" y="118112"/>
                </a:lnTo>
                <a:lnTo>
                  <a:pt x="192308" y="119796"/>
                </a:lnTo>
                <a:lnTo>
                  <a:pt x="161336" y="119202"/>
                </a:lnTo>
                <a:lnTo>
                  <a:pt x="133137" y="116923"/>
                </a:lnTo>
                <a:lnTo>
                  <a:pt x="107315" y="113555"/>
                </a:lnTo>
                <a:lnTo>
                  <a:pt x="83475" y="109692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85D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secreto-grande"/>
          <p:cNvSpPr txBox="1"/>
          <p:nvPr/>
        </p:nvSpPr>
        <p:spPr>
          <a:xfrm>
            <a:off x="7975600" y="1498600"/>
            <a:ext cx="3606800" cy="673497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La I</a:t>
            </a:r>
            <a:r>
              <a:rPr sz="2600" b="0" i="0" spc="-104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 propone.</a:t>
            </a:r>
            <a:r>
              <a:rPr sz="2600" b="0" i="0" spc="-104">
                <a:solidFill>
                  <a:srgbClr val="0B0B0D"/>
                </a:solidFill>
                <a:latin typeface="Work Sans Black"/>
              </a:rPr>
              <a:t> </a:t>
            </a:r>
            <a:r>
              <a:rPr sz="2600" b="0" i="0" spc="-234">
                <a:solidFill>
                  <a:srgbClr val="0B0B0D"/>
                </a:solidFill>
                <a:latin typeface="Work Sans Black"/>
              </a:rPr>
              <a:t>T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ú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decides.</a:t>
            </a:r>
            <a:endParaRPr sz="2600"/>
          </a:p>
        </p:txBody>
      </p:sp>
      <p:sp>
        <p:nvSpPr>
          <p:cNvPr id="10" name="!!secreto-apoyo"/>
          <p:cNvSpPr txBox="1"/>
          <p:nvPr/>
        </p:nvSpPr>
        <p:spPr>
          <a:xfrm>
            <a:off x="7975600" y="2362597"/>
            <a:ext cx="3554710" cy="1333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El camarero no ve el comedor: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pregunta al servicio de mesas, el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único que sabe qué está libre. Aparta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la mesa y espera a tu botón. Un «sí»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escrito no confirma nada.</a:t>
            </a:r>
            <a:endParaRPr sz="15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757763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h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buscado mesa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mesas" descr="diagrama-me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85D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492125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57">
                <a:solidFill>
                  <a:srgbClr val="0B0B0D"/>
                </a:solidFill>
                <a:latin typeface="Work Sans Black"/>
              </a:rPr>
              <a:t>MCP</a:t>
            </a:r>
            <a:r>
              <a:rPr sz="1900" b="0" i="0" spc="-19">
                <a:solidFill>
                  <a:srgbClr val="0B0B0D"/>
                </a:solidFill>
                <a:latin typeface="Work Sans Black"/>
              </a:rPr>
              <a:t>: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el enchufe de </a:t>
            </a:r>
            <a:r>
              <a:rPr sz="1900" b="0" i="0" spc="-32">
                <a:solidFill>
                  <a:srgbClr val="0B0B0D"/>
                </a:solidFill>
                <a:latin typeface="Work Sans Black"/>
              </a:rPr>
              <a:t>l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as</a:t>
            </a:r>
            <a:br/>
            <a:r>
              <a:rPr sz="1900" b="0" i="0" spc="-57">
                <a:solidFill>
                  <a:srgbClr val="0B0B0D"/>
                </a:solidFill>
                <a:latin typeface="Work Sans Black"/>
              </a:rPr>
              <a:t>herramien</a:t>
            </a:r>
            <a:r>
              <a:rPr sz="1900" b="0" i="0" spc="-30">
                <a:solidFill>
                  <a:srgbClr val="0B0B0D"/>
                </a:solidFill>
                <a:latin typeface="Work Sans Black"/>
              </a:rPr>
              <a:t>t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as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282825"/>
            <a:ext cx="3136900" cy="10075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Model Context Protocol es un estándar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para que un agente descubra y use las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herramientas de otro servicio. Las mesas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viven en su propio contenedor y solo el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camarero las toca.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3391991"/>
            <a:ext cx="3136900" cy="1392833"/>
          </a:xfrm>
          <a:prstGeom prst="roundRect">
            <a:avLst>
              <a:gd name="adj" fmla="val 3647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3391991"/>
            <a:ext cx="3517900" cy="1392833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get_seating_availability()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hold_seating()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→ Mesa 2 apartada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1" i="0">
                <a:solidFill>
                  <a:srgbClr val="B53D12"/>
                </a:solidFill>
                <a:latin typeface="Consolas"/>
              </a:rPr>
              <a:t>|| espera a «Confirmar»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confirm_seating()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→ Mesa 2 ocupada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4886424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115024"/>
            <a:ext cx="3304540" cy="8667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El modelo no puede inventarse una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mesa libre: solo puede pedirla.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Lo que tiene consecuencias espera a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una persona.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48072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Se sabe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car</a:t>
            </a:r>
            <a:r>
              <a:rPr sz="4000" b="0" i="0" cap="all" spc="-432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carta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carta" descr="replica-ca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48072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Se sabe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car</a:t>
            </a:r>
            <a:r>
              <a:rPr sz="4000" b="0" i="0" cap="all" spc="-432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arta" descr="diagrama-ca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carta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7975600" y="2041198"/>
            <a:ext cx="1520627" cy="119796"/>
          </a:xfrm>
          <a:custGeom>
            <a:avLst/>
            <a:gdLst/>
            <a:ahLst/>
            <a:cxnLst/>
            <a:rect l="l" t="t" r="r" b="b"/>
            <a:pathLst>
              <a:path w="1520627" h="119796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2" y="12419"/>
                </a:lnTo>
                <a:lnTo>
                  <a:pt x="126797" y="13934"/>
                </a:lnTo>
                <a:lnTo>
                  <a:pt x="160972" y="16043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3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89" y="6756"/>
                </a:lnTo>
                <a:lnTo>
                  <a:pt x="591586" y="9476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8" y="10702"/>
                </a:lnTo>
                <a:lnTo>
                  <a:pt x="759460" y="6240"/>
                </a:lnTo>
                <a:lnTo>
                  <a:pt x="798473" y="1684"/>
                </a:lnTo>
                <a:lnTo>
                  <a:pt x="831840" y="0"/>
                </a:lnTo>
                <a:lnTo>
                  <a:pt x="860353" y="594"/>
                </a:lnTo>
                <a:lnTo>
                  <a:pt x="884804" y="2872"/>
                </a:lnTo>
                <a:lnTo>
                  <a:pt x="905986" y="6240"/>
                </a:lnTo>
                <a:lnTo>
                  <a:pt x="924692" y="10104"/>
                </a:lnTo>
                <a:lnTo>
                  <a:pt x="941714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2" y="12419"/>
                </a:lnTo>
                <a:lnTo>
                  <a:pt x="1117397" y="13934"/>
                </a:lnTo>
                <a:lnTo>
                  <a:pt x="1151572" y="16043"/>
                </a:lnTo>
                <a:lnTo>
                  <a:pt x="1186739" y="18029"/>
                </a:lnTo>
                <a:lnTo>
                  <a:pt x="1222896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37310" y="10368"/>
                </a:lnTo>
                <a:lnTo>
                  <a:pt x="1377173" y="4792"/>
                </a:lnTo>
                <a:lnTo>
                  <a:pt x="1417483" y="2410"/>
                </a:lnTo>
                <a:lnTo>
                  <a:pt x="1458188" y="2456"/>
                </a:lnTo>
                <a:lnTo>
                  <a:pt x="1499240" y="4160"/>
                </a:lnTo>
                <a:lnTo>
                  <a:pt x="1520627" y="6756"/>
                </a:lnTo>
                <a:lnTo>
                  <a:pt x="1520627" y="9476"/>
                </a:lnTo>
                <a:lnTo>
                  <a:pt x="1520627" y="11553"/>
                </a:lnTo>
                <a:lnTo>
                  <a:pt x="1520627" y="12217"/>
                </a:lnTo>
                <a:lnTo>
                  <a:pt x="1520627" y="10702"/>
                </a:lnTo>
                <a:lnTo>
                  <a:pt x="1520627" y="6240"/>
                </a:lnTo>
                <a:lnTo>
                  <a:pt x="1520627" y="1684"/>
                </a:lnTo>
                <a:lnTo>
                  <a:pt x="1520627" y="0"/>
                </a:lnTo>
                <a:lnTo>
                  <a:pt x="1520627" y="594"/>
                </a:lnTo>
                <a:lnTo>
                  <a:pt x="1520627" y="2872"/>
                </a:lnTo>
                <a:lnTo>
                  <a:pt x="1520627" y="6240"/>
                </a:lnTo>
                <a:lnTo>
                  <a:pt x="1520627" y="10104"/>
                </a:lnTo>
                <a:lnTo>
                  <a:pt x="1520627" y="13868"/>
                </a:lnTo>
                <a:lnTo>
                  <a:pt x="1520627" y="16939"/>
                </a:lnTo>
                <a:lnTo>
                  <a:pt x="1520627" y="18722"/>
                </a:lnTo>
                <a:lnTo>
                  <a:pt x="1520627" y="18623"/>
                </a:lnTo>
                <a:lnTo>
                  <a:pt x="1520627" y="101173"/>
                </a:lnTo>
                <a:lnTo>
                  <a:pt x="1520627" y="104859"/>
                </a:lnTo>
                <a:lnTo>
                  <a:pt x="1520627" y="106390"/>
                </a:lnTo>
                <a:lnTo>
                  <a:pt x="1520627" y="106336"/>
                </a:lnTo>
                <a:lnTo>
                  <a:pt x="1520627" y="105267"/>
                </a:lnTo>
                <a:lnTo>
                  <a:pt x="1520627" y="103753"/>
                </a:lnTo>
                <a:lnTo>
                  <a:pt x="1520627" y="102362"/>
                </a:lnTo>
                <a:lnTo>
                  <a:pt x="1520627" y="101664"/>
                </a:lnTo>
                <a:lnTo>
                  <a:pt x="1520627" y="102230"/>
                </a:lnTo>
                <a:lnTo>
                  <a:pt x="1520627" y="104628"/>
                </a:lnTo>
                <a:lnTo>
                  <a:pt x="1520627" y="109428"/>
                </a:lnTo>
                <a:lnTo>
                  <a:pt x="1520627" y="114001"/>
                </a:lnTo>
                <a:lnTo>
                  <a:pt x="1520627" y="115801"/>
                </a:lnTo>
                <a:lnTo>
                  <a:pt x="1519184" y="115520"/>
                </a:lnTo>
                <a:lnTo>
                  <a:pt x="1481806" y="113853"/>
                </a:lnTo>
                <a:lnTo>
                  <a:pt x="1444625" y="111492"/>
                </a:lnTo>
                <a:lnTo>
                  <a:pt x="1407444" y="109131"/>
                </a:lnTo>
                <a:lnTo>
                  <a:pt x="1370066" y="107463"/>
                </a:lnTo>
                <a:lnTo>
                  <a:pt x="1332291" y="107183"/>
                </a:lnTo>
                <a:lnTo>
                  <a:pt x="1293922" y="108982"/>
                </a:lnTo>
                <a:lnTo>
                  <a:pt x="1254760" y="113555"/>
                </a:lnTo>
                <a:lnTo>
                  <a:pt x="1217051" y="118112"/>
                </a:lnTo>
                <a:lnTo>
                  <a:pt x="1182908" y="119796"/>
                </a:lnTo>
                <a:lnTo>
                  <a:pt x="1151936" y="119202"/>
                </a:lnTo>
                <a:lnTo>
                  <a:pt x="1123737" y="116923"/>
                </a:lnTo>
                <a:lnTo>
                  <a:pt x="1097915" y="113555"/>
                </a:lnTo>
                <a:lnTo>
                  <a:pt x="1074075" y="109692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1" y="104859"/>
                </a:lnTo>
                <a:lnTo>
                  <a:pt x="926013" y="106390"/>
                </a:lnTo>
                <a:lnTo>
                  <a:pt x="893348" y="106336"/>
                </a:lnTo>
                <a:lnTo>
                  <a:pt x="860237" y="105267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4"/>
                </a:lnTo>
                <a:lnTo>
                  <a:pt x="720364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8" y="114001"/>
                </a:lnTo>
                <a:lnTo>
                  <a:pt x="566359" y="115801"/>
                </a:lnTo>
                <a:lnTo>
                  <a:pt x="528584" y="115520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6" y="107463"/>
                </a:lnTo>
                <a:lnTo>
                  <a:pt x="341691" y="107183"/>
                </a:lnTo>
                <a:lnTo>
                  <a:pt x="303322" y="108982"/>
                </a:lnTo>
                <a:lnTo>
                  <a:pt x="264160" y="113555"/>
                </a:lnTo>
                <a:lnTo>
                  <a:pt x="226451" y="118112"/>
                </a:lnTo>
                <a:lnTo>
                  <a:pt x="192308" y="119796"/>
                </a:lnTo>
                <a:lnTo>
                  <a:pt x="161336" y="119202"/>
                </a:lnTo>
                <a:lnTo>
                  <a:pt x="133137" y="116923"/>
                </a:lnTo>
                <a:lnTo>
                  <a:pt x="107315" y="113555"/>
                </a:lnTo>
                <a:lnTo>
                  <a:pt x="83475" y="109692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reto-grande"/>
          <p:cNvSpPr txBox="1"/>
          <p:nvPr/>
        </p:nvSpPr>
        <p:spPr>
          <a:xfrm>
            <a:off x="7975600" y="1498600"/>
            <a:ext cx="3606800" cy="673497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Si no es</a:t>
            </a:r>
            <a:r>
              <a:rPr sz="2600" b="0" i="0" spc="-42">
                <a:solidFill>
                  <a:srgbClr val="0B0B0D"/>
                </a:solidFill>
                <a:latin typeface="Work Sans Black"/>
              </a:rPr>
              <a:t>t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á en </a:t>
            </a:r>
            <a:r>
              <a:rPr sz="2600" b="0" i="0" spc="-44">
                <a:solidFill>
                  <a:srgbClr val="0B0B0D"/>
                </a:solidFill>
                <a:latin typeface="Work Sans Black"/>
              </a:rPr>
              <a:t>l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a car</a:t>
            </a:r>
            <a:r>
              <a:rPr sz="2600" b="0" i="0" spc="-42">
                <a:solidFill>
                  <a:srgbClr val="0B0B0D"/>
                </a:solidFill>
                <a:latin typeface="Work Sans Black"/>
              </a:rPr>
              <a:t>t</a:t>
            </a:r>
            <a:r>
              <a:rPr sz="2600" b="0" i="0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,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no </a:t>
            </a:r>
            <a:r>
              <a:rPr sz="2600" b="0" i="0" spc="-158">
                <a:solidFill>
                  <a:srgbClr val="0B0B0D"/>
                </a:solidFill>
                <a:latin typeface="Work Sans Black"/>
              </a:rPr>
              <a:t>e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xiste.</a:t>
            </a:r>
            <a:endParaRPr sz="2600"/>
          </a:p>
        </p:txBody>
      </p:sp>
      <p:sp>
        <p:nvSpPr>
          <p:cNvPr id="9" name="!!secreto-apoyo"/>
          <p:cNvSpPr txBox="1"/>
          <p:nvPr/>
        </p:nvSpPr>
        <p:spPr>
          <a:xfrm>
            <a:off x="7975600" y="2362597"/>
            <a:ext cx="3554710" cy="1066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Antes de contestar busca en los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documentos de la casa: la carta, el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recetario y la ficha de ingredientes. Y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te dice de dónde lo ha sacado.</a:t>
            </a:r>
            <a:endParaRPr sz="1500"/>
          </a:p>
        </p:txBody>
      </p:sp>
      <p:sp>
        <p:nvSpPr>
          <p:cNvPr id="10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2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4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48072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Se sabe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car</a:t>
            </a:r>
            <a:r>
              <a:rPr sz="4000" b="0" i="0" cap="all" spc="-432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arta" descr="diagrama-ca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492125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144">
                <a:solidFill>
                  <a:srgbClr val="0B0B0D"/>
                </a:solidFill>
                <a:latin typeface="Work Sans Black"/>
              </a:rPr>
              <a:t>F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oundr</a:t>
            </a:r>
            <a:r>
              <a:rPr sz="1900" b="0" i="0" spc="-95">
                <a:solidFill>
                  <a:srgbClr val="0B0B0D"/>
                </a:solidFill>
                <a:latin typeface="Work Sans Black"/>
              </a:rPr>
              <a:t>y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IQ</a:t>
            </a:r>
            <a:r>
              <a:rPr sz="1900" b="0" i="0" spc="-19">
                <a:solidFill>
                  <a:srgbClr val="0B0B0D"/>
                </a:solidFill>
                <a:latin typeface="Work Sans Black"/>
              </a:rPr>
              <a:t>: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bu</a:t>
            </a:r>
            <a:r>
              <a:rPr sz="1900" b="0" i="0" spc="-66">
                <a:solidFill>
                  <a:srgbClr val="0B0B0D"/>
                </a:solidFill>
                <a:latin typeface="Work Sans Black"/>
              </a:rPr>
              <a:t>s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ca</a:t>
            </a:r>
            <a:r>
              <a:rPr sz="1900" b="0" i="0" spc="-76">
                <a:solidFill>
                  <a:srgbClr val="0B0B0D"/>
                </a:solidFill>
                <a:latin typeface="Work Sans Black"/>
              </a:rPr>
              <a:t>r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antes de</a:t>
            </a:r>
            <a:br/>
            <a:r>
              <a:rPr sz="1900" b="0" i="0" spc="-57">
                <a:solidFill>
                  <a:srgbClr val="0B0B0D"/>
                </a:solidFill>
                <a:latin typeface="Work Sans Black"/>
              </a:rPr>
              <a:t>hab</a:t>
            </a:r>
            <a:r>
              <a:rPr sz="1900" b="0" i="0" spc="-32">
                <a:solidFill>
                  <a:srgbClr val="0B0B0D"/>
                </a:solidFill>
                <a:latin typeface="Work Sans Black"/>
              </a:rPr>
              <a:t>l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ar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282825"/>
            <a:ext cx="3136900" cy="10075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Una base de conocimiento sobre Azure AI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Search. Un modelo pequeño planifica la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búsqueda y devuelve fragmentos literales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con su fuente. Se consulta por MCP, solo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en lectura.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3391991"/>
            <a:ext cx="3136900" cy="1190327"/>
          </a:xfrm>
          <a:prstGeom prst="roundRect">
            <a:avLst>
              <a:gd name="adj" fmla="val 4267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3391991"/>
            <a:ext cx="3517900" cy="1190327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knowledge_base_retrieve(...)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→ [carta de la casa, versión 1]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### morcilla-de-burgos-a-la-brasa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- Precio: 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8,50 €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- Contiene: 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ninguno de los 14.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4822825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051425"/>
            <a:ext cx="3304540" cy="8667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Responde con tus documentos, no con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su imaginación.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Camarero, cocina y caja leen la misma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base.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75504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cocin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traba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j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vez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cocina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cocina" descr="replica-coc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75504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cocin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traba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j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vez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ocina" descr="diagrama-co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cocina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9276259" y="2041198"/>
            <a:ext cx="2206724" cy="119796"/>
          </a:xfrm>
          <a:custGeom>
            <a:avLst/>
            <a:gdLst/>
            <a:ahLst/>
            <a:cxnLst/>
            <a:rect l="l" t="t" r="r" b="b"/>
            <a:pathLst>
              <a:path w="2206724" h="119796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1" y="12419"/>
                </a:lnTo>
                <a:lnTo>
                  <a:pt x="126796" y="13934"/>
                </a:lnTo>
                <a:lnTo>
                  <a:pt x="160972" y="16043"/>
                </a:lnTo>
                <a:lnTo>
                  <a:pt x="196138" y="18029"/>
                </a:lnTo>
                <a:lnTo>
                  <a:pt x="232295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2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89" y="6756"/>
                </a:lnTo>
                <a:lnTo>
                  <a:pt x="591586" y="9476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7" y="10702"/>
                </a:lnTo>
                <a:lnTo>
                  <a:pt x="759460" y="6240"/>
                </a:lnTo>
                <a:lnTo>
                  <a:pt x="798473" y="1684"/>
                </a:lnTo>
                <a:lnTo>
                  <a:pt x="831839" y="0"/>
                </a:lnTo>
                <a:lnTo>
                  <a:pt x="860352" y="594"/>
                </a:lnTo>
                <a:lnTo>
                  <a:pt x="884804" y="2872"/>
                </a:lnTo>
                <a:lnTo>
                  <a:pt x="905986" y="6240"/>
                </a:lnTo>
                <a:lnTo>
                  <a:pt x="924692" y="10104"/>
                </a:lnTo>
                <a:lnTo>
                  <a:pt x="941713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1" y="12419"/>
                </a:lnTo>
                <a:lnTo>
                  <a:pt x="1117396" y="13934"/>
                </a:lnTo>
                <a:lnTo>
                  <a:pt x="1151572" y="16043"/>
                </a:lnTo>
                <a:lnTo>
                  <a:pt x="1186738" y="18029"/>
                </a:lnTo>
                <a:lnTo>
                  <a:pt x="1222895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37310" y="10368"/>
                </a:lnTo>
                <a:lnTo>
                  <a:pt x="1377173" y="4792"/>
                </a:lnTo>
                <a:lnTo>
                  <a:pt x="1417482" y="2410"/>
                </a:lnTo>
                <a:lnTo>
                  <a:pt x="1458188" y="2456"/>
                </a:lnTo>
                <a:lnTo>
                  <a:pt x="1499240" y="4160"/>
                </a:lnTo>
                <a:lnTo>
                  <a:pt x="1540589" y="6756"/>
                </a:lnTo>
                <a:lnTo>
                  <a:pt x="1582186" y="9476"/>
                </a:lnTo>
                <a:lnTo>
                  <a:pt x="1623981" y="11553"/>
                </a:lnTo>
                <a:lnTo>
                  <a:pt x="1665925" y="12217"/>
                </a:lnTo>
                <a:lnTo>
                  <a:pt x="1707967" y="10702"/>
                </a:lnTo>
                <a:lnTo>
                  <a:pt x="1750060" y="6240"/>
                </a:lnTo>
                <a:lnTo>
                  <a:pt x="1789073" y="1684"/>
                </a:lnTo>
                <a:lnTo>
                  <a:pt x="1822439" y="0"/>
                </a:lnTo>
                <a:lnTo>
                  <a:pt x="1850952" y="594"/>
                </a:lnTo>
                <a:lnTo>
                  <a:pt x="1875404" y="2872"/>
                </a:lnTo>
                <a:lnTo>
                  <a:pt x="1896586" y="6240"/>
                </a:lnTo>
                <a:lnTo>
                  <a:pt x="1915292" y="10104"/>
                </a:lnTo>
                <a:lnTo>
                  <a:pt x="1932313" y="13868"/>
                </a:lnTo>
                <a:lnTo>
                  <a:pt x="1948444" y="16939"/>
                </a:lnTo>
                <a:lnTo>
                  <a:pt x="1964475" y="18722"/>
                </a:lnTo>
                <a:lnTo>
                  <a:pt x="1981200" y="18623"/>
                </a:lnTo>
                <a:lnTo>
                  <a:pt x="2011413" y="14046"/>
                </a:lnTo>
                <a:lnTo>
                  <a:pt x="2042617" y="12217"/>
                </a:lnTo>
                <a:lnTo>
                  <a:pt x="2074811" y="12419"/>
                </a:lnTo>
                <a:lnTo>
                  <a:pt x="2107996" y="13934"/>
                </a:lnTo>
                <a:lnTo>
                  <a:pt x="2142172" y="16043"/>
                </a:lnTo>
                <a:lnTo>
                  <a:pt x="2177338" y="18029"/>
                </a:lnTo>
                <a:lnTo>
                  <a:pt x="2206724" y="19172"/>
                </a:lnTo>
                <a:lnTo>
                  <a:pt x="2206724" y="18755"/>
                </a:lnTo>
                <a:lnTo>
                  <a:pt x="2206724" y="16060"/>
                </a:lnTo>
                <a:lnTo>
                  <a:pt x="2206724" y="10368"/>
                </a:lnTo>
                <a:lnTo>
                  <a:pt x="2206724" y="4792"/>
                </a:lnTo>
                <a:lnTo>
                  <a:pt x="2206724" y="2410"/>
                </a:lnTo>
                <a:lnTo>
                  <a:pt x="2206724" y="2456"/>
                </a:lnTo>
                <a:lnTo>
                  <a:pt x="2206724" y="4160"/>
                </a:lnTo>
                <a:lnTo>
                  <a:pt x="2206724" y="6756"/>
                </a:lnTo>
                <a:lnTo>
                  <a:pt x="2206724" y="9476"/>
                </a:lnTo>
                <a:lnTo>
                  <a:pt x="2206724" y="11553"/>
                </a:lnTo>
                <a:lnTo>
                  <a:pt x="2206724" y="12217"/>
                </a:lnTo>
                <a:lnTo>
                  <a:pt x="2206724" y="10702"/>
                </a:lnTo>
                <a:lnTo>
                  <a:pt x="2206724" y="6240"/>
                </a:lnTo>
                <a:lnTo>
                  <a:pt x="2206724" y="1684"/>
                </a:lnTo>
                <a:lnTo>
                  <a:pt x="2206724" y="0"/>
                </a:lnTo>
                <a:lnTo>
                  <a:pt x="2206724" y="594"/>
                </a:lnTo>
                <a:lnTo>
                  <a:pt x="2206724" y="2872"/>
                </a:lnTo>
                <a:lnTo>
                  <a:pt x="2206724" y="6240"/>
                </a:lnTo>
                <a:lnTo>
                  <a:pt x="2206724" y="10104"/>
                </a:lnTo>
                <a:lnTo>
                  <a:pt x="2206724" y="13868"/>
                </a:lnTo>
                <a:lnTo>
                  <a:pt x="2206724" y="16939"/>
                </a:lnTo>
                <a:lnTo>
                  <a:pt x="2206724" y="18722"/>
                </a:lnTo>
                <a:lnTo>
                  <a:pt x="2206724" y="18623"/>
                </a:lnTo>
                <a:lnTo>
                  <a:pt x="2206724" y="101173"/>
                </a:lnTo>
                <a:lnTo>
                  <a:pt x="2206724" y="104859"/>
                </a:lnTo>
                <a:lnTo>
                  <a:pt x="2206724" y="106390"/>
                </a:lnTo>
                <a:lnTo>
                  <a:pt x="2206724" y="106336"/>
                </a:lnTo>
                <a:lnTo>
                  <a:pt x="2206724" y="105267"/>
                </a:lnTo>
                <a:lnTo>
                  <a:pt x="2206724" y="103753"/>
                </a:lnTo>
                <a:lnTo>
                  <a:pt x="2206724" y="102362"/>
                </a:lnTo>
                <a:lnTo>
                  <a:pt x="2206724" y="101664"/>
                </a:lnTo>
                <a:lnTo>
                  <a:pt x="2206724" y="102230"/>
                </a:lnTo>
                <a:lnTo>
                  <a:pt x="2206724" y="104628"/>
                </a:lnTo>
                <a:lnTo>
                  <a:pt x="2206724" y="109428"/>
                </a:lnTo>
                <a:lnTo>
                  <a:pt x="2206724" y="114001"/>
                </a:lnTo>
                <a:lnTo>
                  <a:pt x="2206724" y="115801"/>
                </a:lnTo>
                <a:lnTo>
                  <a:pt x="2206724" y="115520"/>
                </a:lnTo>
                <a:lnTo>
                  <a:pt x="2206724" y="113853"/>
                </a:lnTo>
                <a:lnTo>
                  <a:pt x="2206724" y="111492"/>
                </a:lnTo>
                <a:lnTo>
                  <a:pt x="2206724" y="109131"/>
                </a:lnTo>
                <a:lnTo>
                  <a:pt x="2206724" y="107463"/>
                </a:lnTo>
                <a:lnTo>
                  <a:pt x="2206724" y="107183"/>
                </a:lnTo>
                <a:lnTo>
                  <a:pt x="2206724" y="108982"/>
                </a:lnTo>
                <a:lnTo>
                  <a:pt x="2206724" y="113555"/>
                </a:lnTo>
                <a:lnTo>
                  <a:pt x="2206724" y="118112"/>
                </a:lnTo>
                <a:lnTo>
                  <a:pt x="2173508" y="119796"/>
                </a:lnTo>
                <a:lnTo>
                  <a:pt x="2142535" y="119202"/>
                </a:lnTo>
                <a:lnTo>
                  <a:pt x="2114336" y="116923"/>
                </a:lnTo>
                <a:lnTo>
                  <a:pt x="2088515" y="113555"/>
                </a:lnTo>
                <a:lnTo>
                  <a:pt x="2064674" y="109692"/>
                </a:lnTo>
                <a:lnTo>
                  <a:pt x="2042419" y="105928"/>
                </a:lnTo>
                <a:lnTo>
                  <a:pt x="2021352" y="102857"/>
                </a:lnTo>
                <a:lnTo>
                  <a:pt x="2001078" y="101074"/>
                </a:lnTo>
                <a:lnTo>
                  <a:pt x="1981200" y="101173"/>
                </a:lnTo>
                <a:lnTo>
                  <a:pt x="1948980" y="104859"/>
                </a:lnTo>
                <a:lnTo>
                  <a:pt x="1916612" y="106390"/>
                </a:lnTo>
                <a:lnTo>
                  <a:pt x="1883947" y="106336"/>
                </a:lnTo>
                <a:lnTo>
                  <a:pt x="1850837" y="105267"/>
                </a:lnTo>
                <a:lnTo>
                  <a:pt x="1817131" y="103753"/>
                </a:lnTo>
                <a:lnTo>
                  <a:pt x="1782683" y="102362"/>
                </a:lnTo>
                <a:lnTo>
                  <a:pt x="1747344" y="101664"/>
                </a:lnTo>
                <a:lnTo>
                  <a:pt x="1710964" y="102230"/>
                </a:lnTo>
                <a:lnTo>
                  <a:pt x="1673395" y="104628"/>
                </a:lnTo>
                <a:lnTo>
                  <a:pt x="1634490" y="109428"/>
                </a:lnTo>
                <a:lnTo>
                  <a:pt x="1595328" y="114001"/>
                </a:lnTo>
                <a:lnTo>
                  <a:pt x="1556959" y="115801"/>
                </a:lnTo>
                <a:lnTo>
                  <a:pt x="1519184" y="115520"/>
                </a:lnTo>
                <a:lnTo>
                  <a:pt x="1481805" y="113853"/>
                </a:lnTo>
                <a:lnTo>
                  <a:pt x="1444625" y="111492"/>
                </a:lnTo>
                <a:lnTo>
                  <a:pt x="1407444" y="109131"/>
                </a:lnTo>
                <a:lnTo>
                  <a:pt x="1370065" y="107463"/>
                </a:lnTo>
                <a:lnTo>
                  <a:pt x="1332291" y="107183"/>
                </a:lnTo>
                <a:lnTo>
                  <a:pt x="1293921" y="108982"/>
                </a:lnTo>
                <a:lnTo>
                  <a:pt x="1254760" y="113555"/>
                </a:lnTo>
                <a:lnTo>
                  <a:pt x="1217051" y="118112"/>
                </a:lnTo>
                <a:lnTo>
                  <a:pt x="1182908" y="119796"/>
                </a:lnTo>
                <a:lnTo>
                  <a:pt x="1151935" y="119202"/>
                </a:lnTo>
                <a:lnTo>
                  <a:pt x="1123736" y="116923"/>
                </a:lnTo>
                <a:lnTo>
                  <a:pt x="1097915" y="113555"/>
                </a:lnTo>
                <a:lnTo>
                  <a:pt x="1074074" y="109692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0" y="104859"/>
                </a:lnTo>
                <a:lnTo>
                  <a:pt x="926012" y="106390"/>
                </a:lnTo>
                <a:lnTo>
                  <a:pt x="893347" y="106336"/>
                </a:lnTo>
                <a:lnTo>
                  <a:pt x="860237" y="105267"/>
                </a:lnTo>
                <a:lnTo>
                  <a:pt x="826531" y="103753"/>
                </a:lnTo>
                <a:lnTo>
                  <a:pt x="792083" y="102362"/>
                </a:lnTo>
                <a:lnTo>
                  <a:pt x="756744" y="101664"/>
                </a:lnTo>
                <a:lnTo>
                  <a:pt x="720364" y="102230"/>
                </a:lnTo>
                <a:lnTo>
                  <a:pt x="682795" y="104628"/>
                </a:lnTo>
                <a:lnTo>
                  <a:pt x="643890" y="109428"/>
                </a:lnTo>
                <a:lnTo>
                  <a:pt x="604728" y="114001"/>
                </a:lnTo>
                <a:lnTo>
                  <a:pt x="566359" y="115801"/>
                </a:lnTo>
                <a:lnTo>
                  <a:pt x="528584" y="115520"/>
                </a:lnTo>
                <a:lnTo>
                  <a:pt x="491205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5" y="107463"/>
                </a:lnTo>
                <a:lnTo>
                  <a:pt x="341691" y="107183"/>
                </a:lnTo>
                <a:lnTo>
                  <a:pt x="303321" y="108982"/>
                </a:lnTo>
                <a:lnTo>
                  <a:pt x="264160" y="113555"/>
                </a:lnTo>
                <a:lnTo>
                  <a:pt x="226451" y="118112"/>
                </a:lnTo>
                <a:lnTo>
                  <a:pt x="192308" y="119796"/>
                </a:lnTo>
                <a:lnTo>
                  <a:pt x="161335" y="119202"/>
                </a:lnTo>
                <a:lnTo>
                  <a:pt x="133136" y="116923"/>
                </a:lnTo>
                <a:lnTo>
                  <a:pt x="107315" y="113555"/>
                </a:lnTo>
                <a:lnTo>
                  <a:pt x="83474" y="109692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reto-grande"/>
          <p:cNvSpPr txBox="1"/>
          <p:nvPr/>
        </p:nvSpPr>
        <p:spPr>
          <a:xfrm>
            <a:off x="7975600" y="1498600"/>
            <a:ext cx="3606800" cy="673497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C</a:t>
            </a:r>
            <a:r>
              <a:rPr sz="2600" b="0" i="0" spc="-94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da uno en su</a:t>
            </a:r>
            <a:br/>
            <a:r>
              <a:rPr sz="2600" b="0" i="0" spc="-99">
                <a:solidFill>
                  <a:srgbClr val="0B0B0D"/>
                </a:solidFill>
                <a:latin typeface="Work Sans Black"/>
              </a:rPr>
              <a:t>p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artid</a:t>
            </a:r>
            <a:r>
              <a:rPr sz="2600" b="0" i="0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, todos a </a:t>
            </a:r>
            <a:r>
              <a:rPr sz="2600" b="0" i="0" spc="-44">
                <a:solidFill>
                  <a:srgbClr val="0B0B0D"/>
                </a:solidFill>
                <a:latin typeface="Work Sans Black"/>
              </a:rPr>
              <a:t>l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130">
                <a:solidFill>
                  <a:srgbClr val="0B0B0D"/>
                </a:solidFill>
                <a:latin typeface="Work Sans Black"/>
              </a:rPr>
              <a:t> </a:t>
            </a:r>
            <a:r>
              <a:rPr sz="2600" b="0" i="0" spc="-117">
                <a:solidFill>
                  <a:srgbClr val="0B0B0D"/>
                </a:solidFill>
                <a:latin typeface="Work Sans Black"/>
              </a:rPr>
              <a:t>v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e</a:t>
            </a:r>
            <a:r>
              <a:rPr sz="2600" b="0" i="0" spc="-26">
                <a:solidFill>
                  <a:srgbClr val="0B0B0D"/>
                </a:solidFill>
                <a:latin typeface="Work Sans Black"/>
              </a:rPr>
              <a:t>z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.</a:t>
            </a:r>
            <a:endParaRPr sz="2600"/>
          </a:p>
        </p:txBody>
      </p:sp>
      <p:sp>
        <p:nvSpPr>
          <p:cNvPr id="9" name="!!secreto-apoyo"/>
          <p:cNvSpPr txBox="1"/>
          <p:nvPr/>
        </p:nvSpPr>
        <p:spPr>
          <a:xfrm>
            <a:off x="7975600" y="2362597"/>
            <a:ext cx="3554710" cy="160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La comanda viaja a otro agente, el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chef, que vive en su propio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contenedor. El código revisa su plan y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las partidas lo confirman en paralelo.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El chef solo ve el pedido: ni tu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nombre ni tu historial.</a:t>
            </a:r>
            <a:endParaRPr sz="1500"/>
          </a:p>
        </p:txBody>
      </p:sp>
      <p:sp>
        <p:nvSpPr>
          <p:cNvPr id="10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2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4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755044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cocin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traba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j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 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vez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ocina" descr="diagrama-co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246062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57">
                <a:solidFill>
                  <a:srgbClr val="0B0B0D"/>
                </a:solidFill>
                <a:latin typeface="Work Sans Black"/>
              </a:rPr>
              <a:t>A2A</a:t>
            </a:r>
            <a:r>
              <a:rPr sz="1900" b="0" i="0" spc="-19">
                <a:solidFill>
                  <a:srgbClr val="0B0B0D"/>
                </a:solidFill>
                <a:latin typeface="Work Sans Black"/>
              </a:rPr>
              <a:t>: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</a:t>
            </a:r>
            <a:r>
              <a:rPr sz="1900" b="0" i="0" spc="-40">
                <a:solidFill>
                  <a:srgbClr val="0B0B0D"/>
                </a:solidFill>
                <a:latin typeface="Work Sans Black"/>
              </a:rPr>
              <a:t>a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gentes que </a:t>
            </a:r>
            <a:r>
              <a:rPr sz="1900" b="0" i="0" spc="-66">
                <a:solidFill>
                  <a:srgbClr val="0B0B0D"/>
                </a:solidFill>
                <a:latin typeface="Work Sans Black"/>
              </a:rPr>
              <a:t>s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e hab</a:t>
            </a:r>
            <a:r>
              <a:rPr sz="1900" b="0" i="0" spc="-32">
                <a:solidFill>
                  <a:srgbClr val="0B0B0D"/>
                </a:solidFill>
                <a:latin typeface="Work Sans Black"/>
              </a:rPr>
              <a:t>l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an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036762"/>
            <a:ext cx="3136900" cy="8060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Agent-to-Agent es un protocolo para que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agentes de equipos y contenedores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distintos colaboren con un contrato: su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tarjeta de presentación, la Agent Card.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2944416"/>
            <a:ext cx="3136900" cy="1595338"/>
          </a:xfrm>
          <a:prstGeom prst="roundRect">
            <a:avLst>
              <a:gd name="adj" fmla="val 3184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2944416"/>
            <a:ext cx="3517900" cy="1595338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pedir_a_cocina(platos,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restricciones)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→ A2A →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 cocina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chef: plan por partidas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código: ¿carta? ¿alérgenos?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parrilla ‖ fritos ‖ general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←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 plan cocinado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(30–40 s)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4822825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051425"/>
            <a:ext cx="3304540" cy="8667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Cada equipo cambia su agente sin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romper al resto.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Si algo falla, lo dice: nunca se inventa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un plan.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6497836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celí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c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, ni un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caña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barra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barra" descr="replica-bar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6497836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celí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c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, ni un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caña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barra" descr="diagrama-ba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barra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10130234" y="2041198"/>
            <a:ext cx="829171" cy="119796"/>
          </a:xfrm>
          <a:custGeom>
            <a:avLst/>
            <a:gdLst/>
            <a:ahLst/>
            <a:cxnLst/>
            <a:rect l="l" t="t" r="r" b="b"/>
            <a:pathLst>
              <a:path w="829171" h="119796">
                <a:moveTo>
                  <a:pt x="0" y="18623"/>
                </a:moveTo>
                <a:lnTo>
                  <a:pt x="30214" y="14046"/>
                </a:lnTo>
                <a:lnTo>
                  <a:pt x="61418" y="12217"/>
                </a:lnTo>
                <a:lnTo>
                  <a:pt x="93612" y="12419"/>
                </a:lnTo>
                <a:lnTo>
                  <a:pt x="126797" y="13934"/>
                </a:lnTo>
                <a:lnTo>
                  <a:pt x="160973" y="16043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4" y="18755"/>
                </a:lnTo>
                <a:lnTo>
                  <a:pt x="307582" y="16060"/>
                </a:lnTo>
                <a:lnTo>
                  <a:pt x="346710" y="10368"/>
                </a:lnTo>
                <a:lnTo>
                  <a:pt x="386574" y="4792"/>
                </a:lnTo>
                <a:lnTo>
                  <a:pt x="426883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90" y="6756"/>
                </a:lnTo>
                <a:lnTo>
                  <a:pt x="591587" y="9476"/>
                </a:lnTo>
                <a:lnTo>
                  <a:pt x="633382" y="11553"/>
                </a:lnTo>
                <a:lnTo>
                  <a:pt x="675325" y="12217"/>
                </a:lnTo>
                <a:lnTo>
                  <a:pt x="717368" y="10702"/>
                </a:lnTo>
                <a:lnTo>
                  <a:pt x="759460" y="6240"/>
                </a:lnTo>
                <a:lnTo>
                  <a:pt x="798474" y="1684"/>
                </a:lnTo>
                <a:lnTo>
                  <a:pt x="829171" y="0"/>
                </a:lnTo>
                <a:lnTo>
                  <a:pt x="829171" y="594"/>
                </a:lnTo>
                <a:lnTo>
                  <a:pt x="829171" y="2872"/>
                </a:lnTo>
                <a:lnTo>
                  <a:pt x="829171" y="6240"/>
                </a:lnTo>
                <a:lnTo>
                  <a:pt x="829171" y="10104"/>
                </a:lnTo>
                <a:lnTo>
                  <a:pt x="829171" y="13868"/>
                </a:lnTo>
                <a:lnTo>
                  <a:pt x="829171" y="16939"/>
                </a:lnTo>
                <a:lnTo>
                  <a:pt x="829171" y="18722"/>
                </a:lnTo>
                <a:lnTo>
                  <a:pt x="829171" y="18623"/>
                </a:lnTo>
                <a:lnTo>
                  <a:pt x="829171" y="101173"/>
                </a:lnTo>
                <a:lnTo>
                  <a:pt x="829171" y="104859"/>
                </a:lnTo>
                <a:lnTo>
                  <a:pt x="829171" y="106390"/>
                </a:lnTo>
                <a:lnTo>
                  <a:pt x="829171" y="106336"/>
                </a:lnTo>
                <a:lnTo>
                  <a:pt x="829171" y="105267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4"/>
                </a:lnTo>
                <a:lnTo>
                  <a:pt x="720365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9" y="114001"/>
                </a:lnTo>
                <a:lnTo>
                  <a:pt x="566359" y="115801"/>
                </a:lnTo>
                <a:lnTo>
                  <a:pt x="528585" y="115520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5" y="109131"/>
                </a:lnTo>
                <a:lnTo>
                  <a:pt x="379466" y="107463"/>
                </a:lnTo>
                <a:lnTo>
                  <a:pt x="341691" y="107183"/>
                </a:lnTo>
                <a:lnTo>
                  <a:pt x="303322" y="108982"/>
                </a:lnTo>
                <a:lnTo>
                  <a:pt x="264160" y="113555"/>
                </a:lnTo>
                <a:lnTo>
                  <a:pt x="226452" y="118112"/>
                </a:lnTo>
                <a:lnTo>
                  <a:pt x="192309" y="119796"/>
                </a:lnTo>
                <a:lnTo>
                  <a:pt x="161336" y="119202"/>
                </a:lnTo>
                <a:lnTo>
                  <a:pt x="133137" y="116923"/>
                </a:lnTo>
                <a:lnTo>
                  <a:pt x="107315" y="113555"/>
                </a:lnTo>
                <a:lnTo>
                  <a:pt x="83475" y="109692"/>
                </a:lnTo>
                <a:lnTo>
                  <a:pt x="61219" y="105928"/>
                </a:lnTo>
                <a:lnTo>
                  <a:pt x="40153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rotu-1"/>
          <p:cNvSpPr/>
          <p:nvPr/>
        </p:nvSpPr>
        <p:spPr>
          <a:xfrm>
            <a:off x="7975600" y="2377946"/>
            <a:ext cx="1790700" cy="119797"/>
          </a:xfrm>
          <a:custGeom>
            <a:avLst/>
            <a:gdLst/>
            <a:ahLst/>
            <a:cxnLst/>
            <a:rect l="l" t="t" r="r" b="b"/>
            <a:pathLst>
              <a:path w="1790700" h="119797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2" y="12420"/>
                </a:lnTo>
                <a:lnTo>
                  <a:pt x="126797" y="13935"/>
                </a:lnTo>
                <a:lnTo>
                  <a:pt x="160972" y="16044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3" y="2411"/>
                </a:lnTo>
                <a:lnTo>
                  <a:pt x="467588" y="2456"/>
                </a:lnTo>
                <a:lnTo>
                  <a:pt x="508640" y="4161"/>
                </a:lnTo>
                <a:lnTo>
                  <a:pt x="549989" y="6757"/>
                </a:lnTo>
                <a:lnTo>
                  <a:pt x="591586" y="9477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8" y="10703"/>
                </a:lnTo>
                <a:lnTo>
                  <a:pt x="759460" y="6241"/>
                </a:lnTo>
                <a:lnTo>
                  <a:pt x="798473" y="1684"/>
                </a:lnTo>
                <a:lnTo>
                  <a:pt x="831840" y="0"/>
                </a:lnTo>
                <a:lnTo>
                  <a:pt x="860353" y="594"/>
                </a:lnTo>
                <a:lnTo>
                  <a:pt x="884804" y="2873"/>
                </a:lnTo>
                <a:lnTo>
                  <a:pt x="905986" y="6241"/>
                </a:lnTo>
                <a:lnTo>
                  <a:pt x="924692" y="10104"/>
                </a:lnTo>
                <a:lnTo>
                  <a:pt x="941714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2" y="12420"/>
                </a:lnTo>
                <a:lnTo>
                  <a:pt x="1117397" y="13935"/>
                </a:lnTo>
                <a:lnTo>
                  <a:pt x="1151572" y="16044"/>
                </a:lnTo>
                <a:lnTo>
                  <a:pt x="1186739" y="18029"/>
                </a:lnTo>
                <a:lnTo>
                  <a:pt x="1222896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37310" y="10368"/>
                </a:lnTo>
                <a:lnTo>
                  <a:pt x="1377173" y="4792"/>
                </a:lnTo>
                <a:lnTo>
                  <a:pt x="1417483" y="2411"/>
                </a:lnTo>
                <a:lnTo>
                  <a:pt x="1458188" y="2456"/>
                </a:lnTo>
                <a:lnTo>
                  <a:pt x="1499240" y="4161"/>
                </a:lnTo>
                <a:lnTo>
                  <a:pt x="1540589" y="6757"/>
                </a:lnTo>
                <a:lnTo>
                  <a:pt x="1582186" y="9477"/>
                </a:lnTo>
                <a:lnTo>
                  <a:pt x="1623981" y="11553"/>
                </a:lnTo>
                <a:lnTo>
                  <a:pt x="1665925" y="12217"/>
                </a:lnTo>
                <a:lnTo>
                  <a:pt x="1707968" y="10703"/>
                </a:lnTo>
                <a:lnTo>
                  <a:pt x="1750060" y="6241"/>
                </a:lnTo>
                <a:lnTo>
                  <a:pt x="1789073" y="1684"/>
                </a:lnTo>
                <a:lnTo>
                  <a:pt x="1790700" y="0"/>
                </a:lnTo>
                <a:lnTo>
                  <a:pt x="1790700" y="594"/>
                </a:lnTo>
                <a:lnTo>
                  <a:pt x="1790700" y="2873"/>
                </a:lnTo>
                <a:lnTo>
                  <a:pt x="1790700" y="6241"/>
                </a:lnTo>
                <a:lnTo>
                  <a:pt x="1790700" y="10104"/>
                </a:lnTo>
                <a:lnTo>
                  <a:pt x="1790700" y="13868"/>
                </a:lnTo>
                <a:lnTo>
                  <a:pt x="1790700" y="16939"/>
                </a:lnTo>
                <a:lnTo>
                  <a:pt x="1790700" y="18722"/>
                </a:lnTo>
                <a:lnTo>
                  <a:pt x="1790700" y="18623"/>
                </a:lnTo>
                <a:lnTo>
                  <a:pt x="1790700" y="101173"/>
                </a:lnTo>
                <a:lnTo>
                  <a:pt x="1790700" y="104859"/>
                </a:lnTo>
                <a:lnTo>
                  <a:pt x="1790700" y="106391"/>
                </a:lnTo>
                <a:lnTo>
                  <a:pt x="1790700" y="106337"/>
                </a:lnTo>
                <a:lnTo>
                  <a:pt x="1790700" y="105268"/>
                </a:lnTo>
                <a:lnTo>
                  <a:pt x="1790700" y="103753"/>
                </a:lnTo>
                <a:lnTo>
                  <a:pt x="1782684" y="102362"/>
                </a:lnTo>
                <a:lnTo>
                  <a:pt x="1747344" y="101665"/>
                </a:lnTo>
                <a:lnTo>
                  <a:pt x="1710964" y="102230"/>
                </a:lnTo>
                <a:lnTo>
                  <a:pt x="1673396" y="104628"/>
                </a:lnTo>
                <a:lnTo>
                  <a:pt x="1634490" y="109428"/>
                </a:lnTo>
                <a:lnTo>
                  <a:pt x="1595328" y="114002"/>
                </a:lnTo>
                <a:lnTo>
                  <a:pt x="1556959" y="115801"/>
                </a:lnTo>
                <a:lnTo>
                  <a:pt x="1519184" y="115521"/>
                </a:lnTo>
                <a:lnTo>
                  <a:pt x="1481806" y="113853"/>
                </a:lnTo>
                <a:lnTo>
                  <a:pt x="1444625" y="111492"/>
                </a:lnTo>
                <a:lnTo>
                  <a:pt x="1407444" y="109131"/>
                </a:lnTo>
                <a:lnTo>
                  <a:pt x="1370066" y="107464"/>
                </a:lnTo>
                <a:lnTo>
                  <a:pt x="1332291" y="107183"/>
                </a:lnTo>
                <a:lnTo>
                  <a:pt x="1293922" y="108983"/>
                </a:lnTo>
                <a:lnTo>
                  <a:pt x="1254760" y="113556"/>
                </a:lnTo>
                <a:lnTo>
                  <a:pt x="1217051" y="118113"/>
                </a:lnTo>
                <a:lnTo>
                  <a:pt x="1182908" y="119797"/>
                </a:lnTo>
                <a:lnTo>
                  <a:pt x="1151936" y="119202"/>
                </a:lnTo>
                <a:lnTo>
                  <a:pt x="1123737" y="116924"/>
                </a:lnTo>
                <a:lnTo>
                  <a:pt x="1097915" y="113556"/>
                </a:lnTo>
                <a:lnTo>
                  <a:pt x="1074075" y="109693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1" y="104859"/>
                </a:lnTo>
                <a:lnTo>
                  <a:pt x="926013" y="106391"/>
                </a:lnTo>
                <a:lnTo>
                  <a:pt x="893348" y="106337"/>
                </a:lnTo>
                <a:lnTo>
                  <a:pt x="860237" y="105268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5"/>
                </a:lnTo>
                <a:lnTo>
                  <a:pt x="720364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8" y="114002"/>
                </a:lnTo>
                <a:lnTo>
                  <a:pt x="566359" y="115801"/>
                </a:lnTo>
                <a:lnTo>
                  <a:pt x="528584" y="115521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6" y="107464"/>
                </a:lnTo>
                <a:lnTo>
                  <a:pt x="341691" y="107183"/>
                </a:lnTo>
                <a:lnTo>
                  <a:pt x="303322" y="108983"/>
                </a:lnTo>
                <a:lnTo>
                  <a:pt x="264160" y="113556"/>
                </a:lnTo>
                <a:lnTo>
                  <a:pt x="226451" y="118113"/>
                </a:lnTo>
                <a:lnTo>
                  <a:pt x="192308" y="119797"/>
                </a:lnTo>
                <a:lnTo>
                  <a:pt x="161336" y="119202"/>
                </a:lnTo>
                <a:lnTo>
                  <a:pt x="133137" y="116924"/>
                </a:lnTo>
                <a:lnTo>
                  <a:pt x="107315" y="113556"/>
                </a:lnTo>
                <a:lnTo>
                  <a:pt x="83475" y="109693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secreto-grande"/>
          <p:cNvSpPr txBox="1"/>
          <p:nvPr/>
        </p:nvSpPr>
        <p:spPr>
          <a:xfrm>
            <a:off x="7975600" y="1498600"/>
            <a:ext cx="3606800" cy="1010245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Lo que debe salir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siempre igual no </a:t>
            </a:r>
            <a:r>
              <a:rPr sz="2600" b="0" i="0" spc="-91">
                <a:solidFill>
                  <a:srgbClr val="0B0B0D"/>
                </a:solidFill>
                <a:latin typeface="Work Sans Black"/>
              </a:rPr>
              <a:t>s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e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d</a:t>
            </a:r>
            <a:r>
              <a:rPr sz="2600" b="0" i="0" spc="-99">
                <a:solidFill>
                  <a:srgbClr val="0B0B0D"/>
                </a:solidFill>
                <a:latin typeface="Work Sans Black"/>
              </a:rPr>
              <a:t>e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ja a </a:t>
            </a:r>
            <a:r>
              <a:rPr sz="2600" b="0" i="0" spc="-44">
                <a:solidFill>
                  <a:srgbClr val="0B0B0D"/>
                </a:solidFill>
                <a:latin typeface="Work Sans Black"/>
              </a:rPr>
              <a:t>l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a I</a:t>
            </a:r>
            <a:r>
              <a:rPr sz="2600" b="0" i="0">
                <a:solidFill>
                  <a:srgbClr val="0B0B0D"/>
                </a:solidFill>
                <a:latin typeface="Work Sans Black"/>
              </a:rPr>
              <a:t>A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.</a:t>
            </a:r>
            <a:endParaRPr sz="2600"/>
          </a:p>
        </p:txBody>
      </p:sp>
      <p:sp>
        <p:nvSpPr>
          <p:cNvPr id="10" name="!!secreto-apoyo"/>
          <p:cNvSpPr txBox="1"/>
          <p:nvPr/>
        </p:nvSpPr>
        <p:spPr>
          <a:xfrm>
            <a:off x="7975600" y="2699345"/>
            <a:ext cx="3554710" cy="1333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Las bebidas no pasan por cocina,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pero sí por un control: código que lee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la carta y aplica la misma regla de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alérgenos que la cocina. Caña con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cebada y celiaquía: no.</a:t>
            </a:r>
            <a:endParaRPr sz="15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6497836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celí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c</a:t>
            </a:r>
            <a:r>
              <a:rPr sz="4000" b="0" i="0" cap="all" spc="-224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, ni un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caña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barra" descr="diagrama-ba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F898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246062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57">
                <a:solidFill>
                  <a:srgbClr val="0B0B0D"/>
                </a:solidFill>
                <a:latin typeface="Work Sans Black"/>
              </a:rPr>
              <a:t>Código determinis</a:t>
            </a:r>
            <a:r>
              <a:rPr sz="1900" b="0" i="0" spc="-30">
                <a:solidFill>
                  <a:srgbClr val="0B0B0D"/>
                </a:solidFill>
                <a:latin typeface="Work Sans Black"/>
              </a:rPr>
              <a:t>t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036762"/>
            <a:ext cx="3136900" cy="8060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El modelo decide cuándo llamar y qué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pasar. El código decide si se puede servir: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con la misma entrada, siempre el mismo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resultado.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2944416"/>
            <a:ext cx="3136900" cy="1190327"/>
          </a:xfrm>
          <a:prstGeom prst="roundRect">
            <a:avLst>
              <a:gd name="adj" fmla="val 4267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2944416"/>
            <a:ext cx="3517900" cy="1190327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servir_bebidas(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bebidas=["agua con gas", "caña"],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  restricciones=["celiaquía"])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→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 servida: 1 × Agua con gas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→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 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no servida: caña, gluten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4822825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051425"/>
            <a:ext cx="3304540" cy="8667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Alérgenos, precios y dinero, con reglas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y no con intuición.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Si no puede comprobarlo, no lo sirve.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Tarda 1–2 s.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25680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cobr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jus</a:t>
            </a:r>
            <a:r>
              <a:rPr sz="4000" b="0" i="0" cap="all" spc="-240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caja-marco"/>
          <p:cNvSpPr/>
          <p:nvPr/>
        </p:nvSpPr>
        <p:spPr>
          <a:xfrm>
            <a:off x="622300" y="1511300"/>
            <a:ext cx="6959600" cy="4673600"/>
          </a:xfrm>
          <a:prstGeom prst="roundRect">
            <a:avLst>
              <a:gd name="adj" fmla="val 1086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izq"/>
          <p:cNvSpPr/>
          <p:nvPr/>
        </p:nvSpPr>
        <p:spPr>
          <a:xfrm>
            <a:off x="6350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puerta-der"/>
          <p:cNvSpPr/>
          <p:nvPr/>
        </p:nvSpPr>
        <p:spPr>
          <a:xfrm>
            <a:off x="4102100" y="1524000"/>
            <a:ext cx="34671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grieta-caja"/>
          <p:cNvSpPr/>
          <p:nvPr/>
        </p:nvSpPr>
        <p:spPr>
          <a:xfrm>
            <a:off x="4083050" y="3848100"/>
            <a:ext cx="38100" cy="3175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!!interrogante" descr="interrog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590800"/>
            <a:ext cx="1727200" cy="2108200"/>
          </a:xfrm>
          <a:prstGeom prst="rect">
            <a:avLst/>
          </a:prstGeom>
        </p:spPr>
      </p:pic>
      <p:sp>
        <p:nvSpPr>
          <p:cNvPr id="8" name="!!pregunta"/>
          <p:cNvSpPr txBox="1"/>
          <p:nvPr/>
        </p:nvSpPr>
        <p:spPr>
          <a:xfrm>
            <a:off x="2713633" y="4660900"/>
            <a:ext cx="3157934" cy="342900"/>
          </a:xfrm>
          <a:prstGeom prst="rect">
            <a:avLst/>
          </a:prstGeom>
          <a:noFill/>
        </p:spPr>
        <p:txBody>
          <a:bodyPr wrap="none" lIns="0" tIns="16391" rIns="0" bIns="0" anchor="t">
            <a:noAutofit/>
          </a:bodyPr>
          <a:lstStyle/>
          <a:p>
            <a:pPr algn="l">
              <a:lnSpc>
                <a:spcPts val="2697"/>
              </a:lnSpc>
            </a:pPr>
            <a:r>
              <a:rPr sz="2300" b="0" i="0" spc="-175">
                <a:solidFill>
                  <a:srgbClr val="FFFFFF"/>
                </a:solidFill>
                <a:latin typeface="Work Sans ExtraBold"/>
              </a:rPr>
              <a:t>¿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Cómo lo h</a:t>
            </a:r>
            <a:r>
              <a:rPr sz="2300" b="0" i="0" spc="-55">
                <a:solidFill>
                  <a:srgbClr val="FFFFFF"/>
                </a:solidFill>
                <a:latin typeface="Work Sans ExtraBold"/>
              </a:rPr>
              <a:t>a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 hech</a:t>
            </a:r>
            <a:r>
              <a:rPr sz="2300" b="0" i="0" spc="-207">
                <a:solidFill>
                  <a:srgbClr val="FFFFFF"/>
                </a:solidFill>
                <a:latin typeface="Work Sans ExtraBold"/>
              </a:rPr>
              <a:t>o</a:t>
            </a:r>
            <a:r>
              <a:rPr sz="2300" b="0" i="0" spc="-46">
                <a:solidFill>
                  <a:srgbClr val="FFFFFF"/>
                </a:solidFill>
                <a:latin typeface="Work Sans ExtraBold"/>
              </a:rPr>
              <a:t>?</a:t>
            </a:r>
            <a:endParaRPr sz="2300"/>
          </a:p>
        </p:txBody>
      </p:sp>
      <p:pic>
        <p:nvPicPr>
          <p:cNvPr id="9" name="!!replica-caja" descr="replica-ca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1517650"/>
            <a:ext cx="3568700" cy="4279900"/>
          </a:xfrm>
          <a:prstGeom prst="roundRect">
            <a:avLst>
              <a:gd name="adj" fmla="val 2135"/>
            </a:avLst>
          </a:prstGeom>
          <a:ln w="38100">
            <a:solidFill>
              <a:srgbClr val="3A2719"/>
            </a:solidFill>
          </a:ln>
        </p:spPr>
      </p:pic>
      <p:sp>
        <p:nvSpPr>
          <p:cNvPr id="10" name="!!replica-pie"/>
          <p:cNvSpPr txBox="1"/>
          <p:nvPr/>
        </p:nvSpPr>
        <p:spPr>
          <a:xfrm>
            <a:off x="7975600" y="1498600"/>
            <a:ext cx="3987800" cy="120650"/>
          </a:xfrm>
          <a:prstGeom prst="rect">
            <a:avLst/>
          </a:prstGeom>
          <a:noFill/>
        </p:spPr>
        <p:txBody>
          <a:bodyPr wrap="none" lIns="0" tIns="5701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sz="800" b="0" i="0">
                <a:solidFill>
                  <a:srgbClr val="0B0B0D"/>
                </a:solidFill>
                <a:latin typeface="Work Sans"/>
              </a:rPr>
              <a:t>Lo que habéis visto en la demo</a:t>
            </a:r>
            <a:endParaRPr sz="8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52041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8766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12441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261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629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25680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cobr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jus</a:t>
            </a:r>
            <a:r>
              <a:rPr sz="4000" b="0" i="0" cap="all" spc="-240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aja" descr="diagrama-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grieta-caja"/>
          <p:cNvSpPr/>
          <p:nvPr/>
        </p:nvSpPr>
        <p:spPr>
          <a:xfrm>
            <a:off x="4083050" y="1524000"/>
            <a:ext cx="38100" cy="4648200"/>
          </a:xfrm>
          <a:prstGeom prst="rect">
            <a:avLst/>
          </a:prstGeom>
          <a:solidFill>
            <a:srgbClr val="EF6B3B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otu-0"/>
          <p:cNvSpPr/>
          <p:nvPr/>
        </p:nvSpPr>
        <p:spPr>
          <a:xfrm>
            <a:off x="11058426" y="1704449"/>
            <a:ext cx="408781" cy="119797"/>
          </a:xfrm>
          <a:custGeom>
            <a:avLst/>
            <a:gdLst/>
            <a:ahLst/>
            <a:cxnLst/>
            <a:rect l="l" t="t" r="r" b="b"/>
            <a:pathLst>
              <a:path w="408781" h="119797">
                <a:moveTo>
                  <a:pt x="0" y="18623"/>
                </a:moveTo>
                <a:lnTo>
                  <a:pt x="30213" y="14046"/>
                </a:lnTo>
                <a:lnTo>
                  <a:pt x="61417" y="12218"/>
                </a:lnTo>
                <a:lnTo>
                  <a:pt x="93611" y="12420"/>
                </a:lnTo>
                <a:lnTo>
                  <a:pt x="126797" y="13935"/>
                </a:lnTo>
                <a:lnTo>
                  <a:pt x="160972" y="16044"/>
                </a:lnTo>
                <a:lnTo>
                  <a:pt x="196139" y="18029"/>
                </a:lnTo>
                <a:lnTo>
                  <a:pt x="232295" y="19172"/>
                </a:lnTo>
                <a:lnTo>
                  <a:pt x="269443" y="18756"/>
                </a:lnTo>
                <a:lnTo>
                  <a:pt x="307581" y="16060"/>
                </a:lnTo>
                <a:lnTo>
                  <a:pt x="346710" y="10369"/>
                </a:lnTo>
                <a:lnTo>
                  <a:pt x="386573" y="4792"/>
                </a:lnTo>
                <a:lnTo>
                  <a:pt x="408781" y="2411"/>
                </a:lnTo>
                <a:lnTo>
                  <a:pt x="408781" y="2456"/>
                </a:lnTo>
                <a:lnTo>
                  <a:pt x="408781" y="4161"/>
                </a:lnTo>
                <a:lnTo>
                  <a:pt x="408781" y="6757"/>
                </a:lnTo>
                <a:lnTo>
                  <a:pt x="408781" y="9477"/>
                </a:lnTo>
                <a:lnTo>
                  <a:pt x="408781" y="11553"/>
                </a:lnTo>
                <a:lnTo>
                  <a:pt x="408781" y="12218"/>
                </a:lnTo>
                <a:lnTo>
                  <a:pt x="408781" y="10703"/>
                </a:lnTo>
                <a:lnTo>
                  <a:pt x="408781" y="6241"/>
                </a:lnTo>
                <a:lnTo>
                  <a:pt x="408781" y="1684"/>
                </a:lnTo>
                <a:lnTo>
                  <a:pt x="408781" y="0"/>
                </a:lnTo>
                <a:lnTo>
                  <a:pt x="408781" y="595"/>
                </a:lnTo>
                <a:lnTo>
                  <a:pt x="408781" y="2873"/>
                </a:lnTo>
                <a:lnTo>
                  <a:pt x="408781" y="6241"/>
                </a:lnTo>
                <a:lnTo>
                  <a:pt x="408781" y="10104"/>
                </a:lnTo>
                <a:lnTo>
                  <a:pt x="408781" y="13869"/>
                </a:lnTo>
                <a:lnTo>
                  <a:pt x="408781" y="16939"/>
                </a:lnTo>
                <a:lnTo>
                  <a:pt x="408781" y="18723"/>
                </a:lnTo>
                <a:lnTo>
                  <a:pt x="408781" y="18623"/>
                </a:lnTo>
                <a:lnTo>
                  <a:pt x="408781" y="101173"/>
                </a:lnTo>
                <a:lnTo>
                  <a:pt x="408781" y="104859"/>
                </a:lnTo>
                <a:lnTo>
                  <a:pt x="408781" y="106391"/>
                </a:lnTo>
                <a:lnTo>
                  <a:pt x="408781" y="106337"/>
                </a:lnTo>
                <a:lnTo>
                  <a:pt x="408781" y="105268"/>
                </a:lnTo>
                <a:lnTo>
                  <a:pt x="408781" y="103753"/>
                </a:lnTo>
                <a:lnTo>
                  <a:pt x="408781" y="102362"/>
                </a:lnTo>
                <a:lnTo>
                  <a:pt x="408781" y="101665"/>
                </a:lnTo>
                <a:lnTo>
                  <a:pt x="408781" y="102230"/>
                </a:lnTo>
                <a:lnTo>
                  <a:pt x="408781" y="104628"/>
                </a:lnTo>
                <a:lnTo>
                  <a:pt x="408781" y="109428"/>
                </a:lnTo>
                <a:lnTo>
                  <a:pt x="408781" y="114002"/>
                </a:lnTo>
                <a:lnTo>
                  <a:pt x="408781" y="115801"/>
                </a:lnTo>
                <a:lnTo>
                  <a:pt x="408781" y="115521"/>
                </a:lnTo>
                <a:lnTo>
                  <a:pt x="408781" y="113853"/>
                </a:lnTo>
                <a:lnTo>
                  <a:pt x="408781" y="111492"/>
                </a:lnTo>
                <a:lnTo>
                  <a:pt x="408781" y="109131"/>
                </a:lnTo>
                <a:lnTo>
                  <a:pt x="379466" y="107464"/>
                </a:lnTo>
                <a:lnTo>
                  <a:pt x="341691" y="107183"/>
                </a:lnTo>
                <a:lnTo>
                  <a:pt x="303322" y="108983"/>
                </a:lnTo>
                <a:lnTo>
                  <a:pt x="264160" y="113556"/>
                </a:lnTo>
                <a:lnTo>
                  <a:pt x="226451" y="118113"/>
                </a:lnTo>
                <a:lnTo>
                  <a:pt x="192308" y="119797"/>
                </a:lnTo>
                <a:lnTo>
                  <a:pt x="161336" y="119202"/>
                </a:lnTo>
                <a:lnTo>
                  <a:pt x="133136" y="116924"/>
                </a:lnTo>
                <a:lnTo>
                  <a:pt x="107315" y="113556"/>
                </a:lnTo>
                <a:lnTo>
                  <a:pt x="83474" y="109693"/>
                </a:lnTo>
                <a:lnTo>
                  <a:pt x="61219" y="105928"/>
                </a:lnTo>
                <a:lnTo>
                  <a:pt x="40152" y="102858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rotu-1"/>
          <p:cNvSpPr/>
          <p:nvPr/>
        </p:nvSpPr>
        <p:spPr>
          <a:xfrm>
            <a:off x="7975600" y="2041198"/>
            <a:ext cx="1528564" cy="119796"/>
          </a:xfrm>
          <a:custGeom>
            <a:avLst/>
            <a:gdLst/>
            <a:ahLst/>
            <a:cxnLst/>
            <a:rect l="l" t="t" r="r" b="b"/>
            <a:pathLst>
              <a:path w="1528564" h="119796">
                <a:moveTo>
                  <a:pt x="0" y="18623"/>
                </a:moveTo>
                <a:lnTo>
                  <a:pt x="30213" y="14046"/>
                </a:lnTo>
                <a:lnTo>
                  <a:pt x="61417" y="12217"/>
                </a:lnTo>
                <a:lnTo>
                  <a:pt x="93612" y="12419"/>
                </a:lnTo>
                <a:lnTo>
                  <a:pt x="126797" y="13934"/>
                </a:lnTo>
                <a:lnTo>
                  <a:pt x="160972" y="16043"/>
                </a:lnTo>
                <a:lnTo>
                  <a:pt x="196139" y="18029"/>
                </a:lnTo>
                <a:lnTo>
                  <a:pt x="232296" y="19172"/>
                </a:lnTo>
                <a:lnTo>
                  <a:pt x="269443" y="18755"/>
                </a:lnTo>
                <a:lnTo>
                  <a:pt x="307581" y="16060"/>
                </a:lnTo>
                <a:lnTo>
                  <a:pt x="346710" y="10368"/>
                </a:lnTo>
                <a:lnTo>
                  <a:pt x="386573" y="4792"/>
                </a:lnTo>
                <a:lnTo>
                  <a:pt x="426883" y="2410"/>
                </a:lnTo>
                <a:lnTo>
                  <a:pt x="467588" y="2456"/>
                </a:lnTo>
                <a:lnTo>
                  <a:pt x="508640" y="4160"/>
                </a:lnTo>
                <a:lnTo>
                  <a:pt x="549989" y="6756"/>
                </a:lnTo>
                <a:lnTo>
                  <a:pt x="591586" y="9476"/>
                </a:lnTo>
                <a:lnTo>
                  <a:pt x="633381" y="11553"/>
                </a:lnTo>
                <a:lnTo>
                  <a:pt x="675325" y="12217"/>
                </a:lnTo>
                <a:lnTo>
                  <a:pt x="717368" y="10702"/>
                </a:lnTo>
                <a:lnTo>
                  <a:pt x="759460" y="6240"/>
                </a:lnTo>
                <a:lnTo>
                  <a:pt x="798473" y="1684"/>
                </a:lnTo>
                <a:lnTo>
                  <a:pt x="831840" y="0"/>
                </a:lnTo>
                <a:lnTo>
                  <a:pt x="860353" y="594"/>
                </a:lnTo>
                <a:lnTo>
                  <a:pt x="884804" y="2872"/>
                </a:lnTo>
                <a:lnTo>
                  <a:pt x="905986" y="6240"/>
                </a:lnTo>
                <a:lnTo>
                  <a:pt x="924692" y="10104"/>
                </a:lnTo>
                <a:lnTo>
                  <a:pt x="941714" y="13868"/>
                </a:lnTo>
                <a:lnTo>
                  <a:pt x="957844" y="16939"/>
                </a:lnTo>
                <a:lnTo>
                  <a:pt x="973875" y="18722"/>
                </a:lnTo>
                <a:lnTo>
                  <a:pt x="990600" y="18623"/>
                </a:lnTo>
                <a:lnTo>
                  <a:pt x="1020813" y="14046"/>
                </a:lnTo>
                <a:lnTo>
                  <a:pt x="1052017" y="12217"/>
                </a:lnTo>
                <a:lnTo>
                  <a:pt x="1084212" y="12419"/>
                </a:lnTo>
                <a:lnTo>
                  <a:pt x="1117397" y="13934"/>
                </a:lnTo>
                <a:lnTo>
                  <a:pt x="1151572" y="16043"/>
                </a:lnTo>
                <a:lnTo>
                  <a:pt x="1186739" y="18029"/>
                </a:lnTo>
                <a:lnTo>
                  <a:pt x="1222896" y="19172"/>
                </a:lnTo>
                <a:lnTo>
                  <a:pt x="1260043" y="18755"/>
                </a:lnTo>
                <a:lnTo>
                  <a:pt x="1298181" y="16060"/>
                </a:lnTo>
                <a:lnTo>
                  <a:pt x="1337310" y="10368"/>
                </a:lnTo>
                <a:lnTo>
                  <a:pt x="1377173" y="4792"/>
                </a:lnTo>
                <a:lnTo>
                  <a:pt x="1417483" y="2410"/>
                </a:lnTo>
                <a:lnTo>
                  <a:pt x="1458188" y="2456"/>
                </a:lnTo>
                <a:lnTo>
                  <a:pt x="1499240" y="4160"/>
                </a:lnTo>
                <a:lnTo>
                  <a:pt x="1528564" y="6756"/>
                </a:lnTo>
                <a:lnTo>
                  <a:pt x="1528564" y="9476"/>
                </a:lnTo>
                <a:lnTo>
                  <a:pt x="1528564" y="11553"/>
                </a:lnTo>
                <a:lnTo>
                  <a:pt x="1528564" y="12217"/>
                </a:lnTo>
                <a:lnTo>
                  <a:pt x="1528564" y="10702"/>
                </a:lnTo>
                <a:lnTo>
                  <a:pt x="1528564" y="6240"/>
                </a:lnTo>
                <a:lnTo>
                  <a:pt x="1528564" y="1684"/>
                </a:lnTo>
                <a:lnTo>
                  <a:pt x="1528564" y="0"/>
                </a:lnTo>
                <a:lnTo>
                  <a:pt x="1528564" y="594"/>
                </a:lnTo>
                <a:lnTo>
                  <a:pt x="1528564" y="2872"/>
                </a:lnTo>
                <a:lnTo>
                  <a:pt x="1528564" y="6240"/>
                </a:lnTo>
                <a:lnTo>
                  <a:pt x="1528564" y="10104"/>
                </a:lnTo>
                <a:lnTo>
                  <a:pt x="1528564" y="13868"/>
                </a:lnTo>
                <a:lnTo>
                  <a:pt x="1528564" y="16939"/>
                </a:lnTo>
                <a:lnTo>
                  <a:pt x="1528564" y="18722"/>
                </a:lnTo>
                <a:lnTo>
                  <a:pt x="1528564" y="18623"/>
                </a:lnTo>
                <a:lnTo>
                  <a:pt x="1528564" y="101173"/>
                </a:lnTo>
                <a:lnTo>
                  <a:pt x="1528564" y="104859"/>
                </a:lnTo>
                <a:lnTo>
                  <a:pt x="1528564" y="106390"/>
                </a:lnTo>
                <a:lnTo>
                  <a:pt x="1528564" y="106336"/>
                </a:lnTo>
                <a:lnTo>
                  <a:pt x="1528564" y="105267"/>
                </a:lnTo>
                <a:lnTo>
                  <a:pt x="1528564" y="103753"/>
                </a:lnTo>
                <a:lnTo>
                  <a:pt x="1528564" y="102362"/>
                </a:lnTo>
                <a:lnTo>
                  <a:pt x="1528564" y="101664"/>
                </a:lnTo>
                <a:lnTo>
                  <a:pt x="1528564" y="102230"/>
                </a:lnTo>
                <a:lnTo>
                  <a:pt x="1528564" y="104628"/>
                </a:lnTo>
                <a:lnTo>
                  <a:pt x="1528564" y="109428"/>
                </a:lnTo>
                <a:lnTo>
                  <a:pt x="1528564" y="114001"/>
                </a:lnTo>
                <a:lnTo>
                  <a:pt x="1528564" y="115801"/>
                </a:lnTo>
                <a:lnTo>
                  <a:pt x="1519184" y="115520"/>
                </a:lnTo>
                <a:lnTo>
                  <a:pt x="1481806" y="113853"/>
                </a:lnTo>
                <a:lnTo>
                  <a:pt x="1444625" y="111492"/>
                </a:lnTo>
                <a:lnTo>
                  <a:pt x="1407444" y="109131"/>
                </a:lnTo>
                <a:lnTo>
                  <a:pt x="1370066" y="107463"/>
                </a:lnTo>
                <a:lnTo>
                  <a:pt x="1332291" y="107183"/>
                </a:lnTo>
                <a:lnTo>
                  <a:pt x="1293922" y="108982"/>
                </a:lnTo>
                <a:lnTo>
                  <a:pt x="1254760" y="113555"/>
                </a:lnTo>
                <a:lnTo>
                  <a:pt x="1217051" y="118112"/>
                </a:lnTo>
                <a:lnTo>
                  <a:pt x="1182908" y="119796"/>
                </a:lnTo>
                <a:lnTo>
                  <a:pt x="1151936" y="119202"/>
                </a:lnTo>
                <a:lnTo>
                  <a:pt x="1123737" y="116923"/>
                </a:lnTo>
                <a:lnTo>
                  <a:pt x="1097915" y="113555"/>
                </a:lnTo>
                <a:lnTo>
                  <a:pt x="1074075" y="109692"/>
                </a:lnTo>
                <a:lnTo>
                  <a:pt x="1051819" y="105928"/>
                </a:lnTo>
                <a:lnTo>
                  <a:pt x="1030752" y="102857"/>
                </a:lnTo>
                <a:lnTo>
                  <a:pt x="1010478" y="101074"/>
                </a:lnTo>
                <a:lnTo>
                  <a:pt x="990600" y="101173"/>
                </a:lnTo>
                <a:lnTo>
                  <a:pt x="958381" y="104859"/>
                </a:lnTo>
                <a:lnTo>
                  <a:pt x="926013" y="106390"/>
                </a:lnTo>
                <a:lnTo>
                  <a:pt x="893348" y="106336"/>
                </a:lnTo>
                <a:lnTo>
                  <a:pt x="860237" y="105267"/>
                </a:lnTo>
                <a:lnTo>
                  <a:pt x="826532" y="103753"/>
                </a:lnTo>
                <a:lnTo>
                  <a:pt x="792084" y="102362"/>
                </a:lnTo>
                <a:lnTo>
                  <a:pt x="756744" y="101664"/>
                </a:lnTo>
                <a:lnTo>
                  <a:pt x="720364" y="102230"/>
                </a:lnTo>
                <a:lnTo>
                  <a:pt x="682796" y="104628"/>
                </a:lnTo>
                <a:lnTo>
                  <a:pt x="643890" y="109428"/>
                </a:lnTo>
                <a:lnTo>
                  <a:pt x="604728" y="114001"/>
                </a:lnTo>
                <a:lnTo>
                  <a:pt x="566359" y="115801"/>
                </a:lnTo>
                <a:lnTo>
                  <a:pt x="528584" y="115520"/>
                </a:lnTo>
                <a:lnTo>
                  <a:pt x="491206" y="113853"/>
                </a:lnTo>
                <a:lnTo>
                  <a:pt x="454025" y="111492"/>
                </a:lnTo>
                <a:lnTo>
                  <a:pt x="416844" y="109131"/>
                </a:lnTo>
                <a:lnTo>
                  <a:pt x="379466" y="107463"/>
                </a:lnTo>
                <a:lnTo>
                  <a:pt x="341691" y="107183"/>
                </a:lnTo>
                <a:lnTo>
                  <a:pt x="303322" y="108982"/>
                </a:lnTo>
                <a:lnTo>
                  <a:pt x="264160" y="113555"/>
                </a:lnTo>
                <a:lnTo>
                  <a:pt x="226451" y="118112"/>
                </a:lnTo>
                <a:lnTo>
                  <a:pt x="192308" y="119796"/>
                </a:lnTo>
                <a:lnTo>
                  <a:pt x="161336" y="119202"/>
                </a:lnTo>
                <a:lnTo>
                  <a:pt x="133137" y="116923"/>
                </a:lnTo>
                <a:lnTo>
                  <a:pt x="107315" y="113555"/>
                </a:lnTo>
                <a:lnTo>
                  <a:pt x="83475" y="109692"/>
                </a:lnTo>
                <a:lnTo>
                  <a:pt x="61219" y="105928"/>
                </a:lnTo>
                <a:lnTo>
                  <a:pt x="40152" y="102857"/>
                </a:lnTo>
                <a:lnTo>
                  <a:pt x="19878" y="101074"/>
                </a:lnTo>
                <a:lnTo>
                  <a:pt x="0" y="101173"/>
                </a:lnTo>
                <a:close/>
              </a:path>
            </a:pathLst>
          </a:cu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secreto-grande"/>
          <p:cNvSpPr txBox="1"/>
          <p:nvPr/>
        </p:nvSpPr>
        <p:spPr>
          <a:xfrm>
            <a:off x="7975600" y="1498600"/>
            <a:ext cx="3606800" cy="673497"/>
          </a:xfrm>
          <a:prstGeom prst="rect">
            <a:avLst/>
          </a:prstGeom>
          <a:noFill/>
        </p:spPr>
        <p:txBody>
          <a:bodyPr wrap="none" lIns="0" tIns="30907" rIns="0" bIns="0" anchor="t">
            <a:noAutofit/>
          </a:bodyPr>
          <a:lstStyle/>
          <a:p>
            <a:pPr algn="l">
              <a:lnSpc>
                <a:spcPts val="2652"/>
              </a:lnSpc>
            </a:pPr>
            <a:r>
              <a:rPr sz="2600" b="0" i="0" spc="-78">
                <a:solidFill>
                  <a:srgbClr val="0B0B0D"/>
                </a:solidFill>
                <a:latin typeface="Work Sans Black"/>
              </a:rPr>
              <a:t>Se cobra lo </a:t>
            </a:r>
            <a:r>
              <a:rPr sz="2600" b="0" i="0" spc="-91">
                <a:solidFill>
                  <a:srgbClr val="0B0B0D"/>
                </a:solidFill>
                <a:latin typeface="Work Sans Black"/>
              </a:rPr>
              <a:t>s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ervid</a:t>
            </a:r>
            <a:r>
              <a:rPr sz="2600" b="0" i="0" spc="-112">
                <a:solidFill>
                  <a:srgbClr val="0B0B0D"/>
                </a:solidFill>
                <a:latin typeface="Work Sans Black"/>
              </a:rPr>
              <a:t>o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, no</a:t>
            </a:r>
            <a:br/>
            <a:r>
              <a:rPr sz="2600" b="0" i="0" spc="-78">
                <a:solidFill>
                  <a:srgbClr val="0B0B0D"/>
                </a:solidFill>
                <a:latin typeface="Work Sans Black"/>
              </a:rPr>
              <a:t>lo pedid</a:t>
            </a:r>
            <a:r>
              <a:rPr sz="2600" b="0" i="0" spc="-112">
                <a:solidFill>
                  <a:srgbClr val="0B0B0D"/>
                </a:solidFill>
                <a:latin typeface="Work Sans Black"/>
              </a:rPr>
              <a:t>o</a:t>
            </a:r>
            <a:r>
              <a:rPr sz="2600" b="0" i="0" spc="-78">
                <a:solidFill>
                  <a:srgbClr val="0B0B0D"/>
                </a:solidFill>
                <a:latin typeface="Work Sans Black"/>
              </a:rPr>
              <a:t>.</a:t>
            </a:r>
            <a:endParaRPr sz="2600"/>
          </a:p>
        </p:txBody>
      </p:sp>
      <p:sp>
        <p:nvSpPr>
          <p:cNvPr id="10" name="!!secreto-apoyo"/>
          <p:cNvSpPr txBox="1"/>
          <p:nvPr/>
        </p:nvSpPr>
        <p:spPr>
          <a:xfrm>
            <a:off x="7975600" y="2362597"/>
            <a:ext cx="3554710" cy="1333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0B0B0D"/>
                </a:solidFill>
                <a:latin typeface="Work Sans"/>
              </a:rPr>
              <a:t>La libreta de la visita apunta lo que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de verdad se sirvió. La caja, otro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agente, pone los precios de la carta y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suma con código. Y no cobra hasta</a:t>
            </a:r>
            <a:br/>
            <a:r>
              <a:rPr sz="1500" b="0" i="0">
                <a:solidFill>
                  <a:srgbClr val="0B0B0D"/>
                </a:solidFill>
                <a:latin typeface="Work Sans"/>
              </a:rPr>
              <a:t>que pulsas.</a:t>
            </a:r>
            <a:endParaRPr sz="1500"/>
          </a:p>
        </p:txBody>
      </p:sp>
      <p:sp>
        <p:nvSpPr>
          <p:cNvPr id="11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3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!!dist-1"/>
          <p:cNvSpPr txBox="1"/>
          <p:nvPr/>
        </p:nvSpPr>
        <p:spPr>
          <a:xfrm>
            <a:off x="1907977" y="6362700"/>
            <a:ext cx="1421904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secreto</a:t>
            </a:r>
            <a:endParaRPr sz="1250"/>
          </a:p>
        </p:txBody>
      </p:sp>
      <p:sp>
        <p:nvSpPr>
          <p:cNvPr id="15" name="!!dist-c-2"/>
          <p:cNvSpPr/>
          <p:nvPr/>
        </p:nvSpPr>
        <p:spPr>
          <a:xfrm>
            <a:off x="298380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dist-2"/>
          <p:cNvSpPr txBox="1"/>
          <p:nvPr/>
        </p:nvSpPr>
        <p:spPr>
          <a:xfrm>
            <a:off x="3177480" y="6362700"/>
            <a:ext cx="1726803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256808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 cobr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jus</a:t>
            </a:r>
            <a:r>
              <a:rPr sz="4000" b="0" i="0" cap="all" spc="-240">
                <a:solidFill>
                  <a:srgbClr val="FFFFFF"/>
                </a:solidFill>
                <a:latin typeface="Work Sans Black"/>
              </a:rPr>
              <a:t>t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o</a:t>
            </a:r>
            <a:endParaRPr sz="4000"/>
          </a:p>
        </p:txBody>
      </p:sp>
      <p:sp>
        <p:nvSpPr>
          <p:cNvPr id="3" name="!!puerta-izq"/>
          <p:cNvSpPr/>
          <p:nvPr/>
        </p:nvSpPr>
        <p:spPr>
          <a:xfrm>
            <a:off x="6350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puerta-der"/>
          <p:cNvSpPr/>
          <p:nvPr/>
        </p:nvSpPr>
        <p:spPr>
          <a:xfrm>
            <a:off x="7556500" y="1524000"/>
            <a:ext cx="12700" cy="46482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!!diagrama-caja" descr="diagrama-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98600"/>
            <a:ext cx="6985000" cy="4699000"/>
          </a:xfrm>
          <a:prstGeom prst="rect">
            <a:avLst/>
          </a:prstGeom>
        </p:spPr>
      </p:pic>
      <p:sp>
        <p:nvSpPr>
          <p:cNvPr id="6" name="!!mec-sombra"/>
          <p:cNvSpPr/>
          <p:nvPr/>
        </p:nvSpPr>
        <p:spPr>
          <a:xfrm>
            <a:off x="8064500" y="1587500"/>
            <a:ext cx="3517900" cy="4610100"/>
          </a:xfrm>
          <a:prstGeom prst="roundRect">
            <a:avLst>
              <a:gd name="adj" fmla="val 1805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mec"/>
          <p:cNvSpPr/>
          <p:nvPr/>
        </p:nvSpPr>
        <p:spPr>
          <a:xfrm>
            <a:off x="7988300" y="1511300"/>
            <a:ext cx="3492500" cy="45847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mec-h3"/>
          <p:cNvSpPr txBox="1"/>
          <p:nvPr/>
        </p:nvSpPr>
        <p:spPr>
          <a:xfrm>
            <a:off x="8166100" y="1689100"/>
            <a:ext cx="3136900" cy="246062"/>
          </a:xfrm>
          <a:prstGeom prst="rect">
            <a:avLst/>
          </a:prstGeom>
          <a:noFill/>
        </p:spPr>
        <p:txBody>
          <a:bodyPr wrap="none" lIns="0" tIns="22586" r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900" b="0" i="0" spc="-57">
                <a:solidFill>
                  <a:srgbClr val="0B0B0D"/>
                </a:solidFill>
                <a:latin typeface="Work Sans Black"/>
              </a:rPr>
              <a:t>A2</a:t>
            </a:r>
            <a:r>
              <a:rPr sz="1900" b="0" i="0" spc="-76">
                <a:solidFill>
                  <a:srgbClr val="0B0B0D"/>
                </a:solidFill>
                <a:latin typeface="Work Sans Black"/>
              </a:rPr>
              <a:t>A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 con </a:t>
            </a:r>
            <a:r>
              <a:rPr sz="1900" b="0" i="0" spc="-72">
                <a:solidFill>
                  <a:srgbClr val="0B0B0D"/>
                </a:solidFill>
                <a:latin typeface="Work Sans Black"/>
              </a:rPr>
              <a:t>p</a:t>
            </a:r>
            <a:r>
              <a:rPr sz="1900" b="0" i="0" spc="-57">
                <a:solidFill>
                  <a:srgbClr val="0B0B0D"/>
                </a:solidFill>
                <a:latin typeface="Work Sans Black"/>
              </a:rPr>
              <a:t>ausa humana</a:t>
            </a:r>
            <a:endParaRPr sz="1900"/>
          </a:p>
        </p:txBody>
      </p:sp>
      <p:sp>
        <p:nvSpPr>
          <p:cNvPr id="9" name="!!mec-que"/>
          <p:cNvSpPr txBox="1"/>
          <p:nvPr/>
        </p:nvSpPr>
        <p:spPr>
          <a:xfrm>
            <a:off x="8166100" y="2036762"/>
            <a:ext cx="3136900" cy="10075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87"/>
              </a:lnSpc>
            </a:pPr>
            <a:r>
              <a:rPr sz="1150" b="0" i="0">
                <a:solidFill>
                  <a:srgbClr val="0B0B0D"/>
                </a:solidFill>
                <a:latin typeface="Work Sans"/>
              </a:rPr>
              <a:t>La caja deja su tarea «esperando al cliente»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(input-required) hasta que pulsas «Tarjeta»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o «Efectivo». Suma con aritmética decimal,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sin redondeos raros, y solo con precios de</a:t>
            </a:r>
            <a:br/>
            <a:r>
              <a:rPr sz="1150" b="0" i="0">
                <a:solidFill>
                  <a:srgbClr val="0B0B0D"/>
                </a:solidFill>
                <a:latin typeface="Work Sans"/>
              </a:rPr>
              <a:t>la carta.</a:t>
            </a:r>
            <a:endParaRPr sz="1150"/>
          </a:p>
        </p:txBody>
      </p:sp>
      <p:sp>
        <p:nvSpPr>
          <p:cNvPr id="10" name="!!mec-pre-fondo"/>
          <p:cNvSpPr/>
          <p:nvPr/>
        </p:nvSpPr>
        <p:spPr>
          <a:xfrm>
            <a:off x="8166100" y="3145929"/>
            <a:ext cx="3136900" cy="1392833"/>
          </a:xfrm>
          <a:prstGeom prst="roundRect">
            <a:avLst>
              <a:gd name="adj" fmla="val 3647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mec-pre"/>
          <p:cNvSpPr txBox="1"/>
          <p:nvPr/>
        </p:nvSpPr>
        <p:spPr>
          <a:xfrm>
            <a:off x="8166100" y="3145929"/>
            <a:ext cx="3517900" cy="1392833"/>
          </a:xfrm>
          <a:prstGeom prst="rect">
            <a:avLst/>
          </a:prstGeom>
          <a:noFill/>
        </p:spPr>
        <p:txBody>
          <a:bodyPr wrap="none" lIns="76200" tIns="88900" rIns="76200" bIns="88900" anchor="t">
            <a:noAutofit/>
          </a:bodyPr>
          <a:lstStyle/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pedir_la_cuenta() 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# sin argumentos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5D5D63"/>
                </a:solidFill>
                <a:latin typeface="Consolas"/>
              </a:rPr>
              <a:t>→</a:t>
            </a:r>
            <a:r>
              <a:rPr sz="1100" b="0" i="0">
                <a:solidFill>
                  <a:srgbClr val="0B0B0D"/>
                </a:solidFill>
                <a:latin typeface="Consolas"/>
              </a:rPr>
              <a:t> 8,50 + 2,20 = </a:t>
            </a:r>
            <a:r>
              <a:rPr sz="1100" b="1" i="0">
                <a:solidFill>
                  <a:srgbClr val="B53D12"/>
                </a:solidFill>
                <a:latin typeface="Consolas"/>
              </a:rPr>
              <a:t>10,70 €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1" i="0">
                <a:solidFill>
                  <a:srgbClr val="B53D12"/>
                </a:solidFill>
                <a:latin typeface="Consolas"/>
              </a:rPr>
              <a:t>|| input-required: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1" i="0">
                <a:solidFill>
                  <a:srgbClr val="B53D12"/>
                </a:solidFill>
                <a:latin typeface="Consolas"/>
              </a:rPr>
              <a:t>  ¿tarjeta o efectivo?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pay_bill(tarjeta)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→ recibo pay_…</a:t>
            </a:r>
            <a:endParaRPr sz="1100"/>
          </a:p>
          <a:p>
            <a:pPr algn="l">
              <a:lnSpc>
                <a:spcPts val="1595"/>
              </a:lnSpc>
            </a:pPr>
            <a:r>
              <a:rPr sz="1100" b="0" i="0">
                <a:solidFill>
                  <a:srgbClr val="0B0B0D"/>
                </a:solidFill>
                <a:latin typeface="Consolas"/>
              </a:rPr>
              <a:t>pay_bill(tarjeta) </a:t>
            </a:r>
            <a:r>
              <a:rPr sz="1100" b="0" i="0">
                <a:solidFill>
                  <a:srgbClr val="5D5D63"/>
                </a:solidFill>
                <a:latin typeface="Consolas"/>
              </a:rPr>
              <a:t>→ mismo recibo</a:t>
            </a:r>
            <a:endParaRPr sz="1100"/>
          </a:p>
        </p:txBody>
      </p:sp>
      <p:sp>
        <p:nvSpPr>
          <p:cNvPr id="12" name="!!mec-porque"/>
          <p:cNvSpPr txBox="1"/>
          <p:nvPr/>
        </p:nvSpPr>
        <p:spPr>
          <a:xfrm>
            <a:off x="8166100" y="4822825"/>
            <a:ext cx="3517900" cy="177800"/>
          </a:xfrm>
          <a:prstGeom prst="rect">
            <a:avLst/>
          </a:prstGeom>
          <a:noFill/>
        </p:spPr>
        <p:txBody>
          <a:bodyPr wrap="none" lIns="0" tIns="8552" r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200" b="0" i="0" cap="all" spc="36">
                <a:solidFill>
                  <a:srgbClr val="0B0B0D"/>
                </a:solidFill>
                <a:latin typeface="Work Sans Black"/>
              </a:rPr>
              <a:t>Por qué así</a:t>
            </a:r>
            <a:endParaRPr sz="1200"/>
          </a:p>
        </p:txBody>
      </p:sp>
      <p:sp>
        <p:nvSpPr>
          <p:cNvPr id="13" name="!!mec-lista"/>
          <p:cNvSpPr txBox="1"/>
          <p:nvPr/>
        </p:nvSpPr>
        <p:spPr>
          <a:xfrm>
            <a:off x="8166100" y="5051425"/>
            <a:ext cx="3304540" cy="8667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67640" indent="-167640">
              <a:lnSpc>
                <a:spcPts val="1632"/>
              </a:lnSpc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El modelo no elige qué se cobra ni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cuánto.</a:t>
            </a:r>
            <a:endParaRPr sz="1200"/>
          </a:p>
          <a:p>
            <a:pPr algn="l" marL="167640" indent="-167640">
              <a:lnSpc>
                <a:spcPts val="1632"/>
              </a:lnSpc>
              <a:spcBef>
                <a:spcPts val="300"/>
              </a:spcBef>
              <a:buClr>
                <a:srgbClr val="EF6B3B"/>
              </a:buClr>
              <a:buFont typeface="Arial"/>
              <a:buChar char="•"/>
            </a:pPr>
            <a:r>
              <a:rPr sz="1200" b="0" i="0">
                <a:solidFill>
                  <a:srgbClr val="0B0B0D"/>
                </a:solidFill>
                <a:latin typeface="Work Sans"/>
              </a:rPr>
              <a:t>Un mensaje nunca paga, y pagar dos</a:t>
            </a:r>
            <a:br/>
            <a:r>
              <a:rPr sz="1200" b="0" i="0">
                <a:solidFill>
                  <a:srgbClr val="0B0B0D"/>
                </a:solidFill>
                <a:latin typeface="Work Sans"/>
              </a:rPr>
              <a:t>veces no cobra dos veces.</a:t>
            </a:r>
            <a:endParaRPr sz="1200"/>
          </a:p>
        </p:txBody>
      </p:sp>
      <p:sp>
        <p:nvSpPr>
          <p:cNvPr id="14" name="!!dist-c-0"/>
          <p:cNvSpPr/>
          <p:nvPr/>
        </p:nvSpPr>
        <p:spPr>
          <a:xfrm>
            <a:off x="619125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dist-0"/>
          <p:cNvSpPr txBox="1"/>
          <p:nvPr/>
        </p:nvSpPr>
        <p:spPr>
          <a:xfrm>
            <a:off x="812800" y="6362700"/>
            <a:ext cx="1247577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truco</a:t>
            </a:r>
            <a:endParaRPr sz="1250"/>
          </a:p>
        </p:txBody>
      </p:sp>
      <p:sp>
        <p:nvSpPr>
          <p:cNvPr id="16" name="!!dist-c-1"/>
          <p:cNvSpPr/>
          <p:nvPr/>
        </p:nvSpPr>
        <p:spPr>
          <a:xfrm>
            <a:off x="1714302" y="6394450"/>
            <a:ext cx="107950" cy="107950"/>
          </a:xfrm>
          <a:prstGeom prst="ellipse">
            <a:avLst/>
          </a:prstGeom>
          <a:noFill/>
          <a:ln w="19050">
            <a:solidFill>
              <a:srgbClr val="5F5F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dist-1"/>
          <p:cNvSpPr txBox="1"/>
          <p:nvPr/>
        </p:nvSpPr>
        <p:spPr>
          <a:xfrm>
            <a:off x="1907977" y="6362700"/>
            <a:ext cx="1416248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5F5F66"/>
                </a:solidFill>
                <a:latin typeface="Work Sans SemiBold"/>
              </a:rPr>
              <a:t>El secreto</a:t>
            </a:r>
            <a:endParaRPr sz="1250"/>
          </a:p>
        </p:txBody>
      </p:sp>
      <p:sp>
        <p:nvSpPr>
          <p:cNvPr id="18" name="!!dist-c-2"/>
          <p:cNvSpPr/>
          <p:nvPr/>
        </p:nvSpPr>
        <p:spPr>
          <a:xfrm>
            <a:off x="2978150" y="6394450"/>
            <a:ext cx="107950" cy="107950"/>
          </a:xfrm>
          <a:prstGeom prst="ellipse">
            <a:avLst/>
          </a:prstGeom>
          <a:solidFill>
            <a:srgbClr val="EF6B3B"/>
          </a:solidFill>
          <a:ln w="1905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!!dist-2"/>
          <p:cNvSpPr txBox="1"/>
          <p:nvPr/>
        </p:nvSpPr>
        <p:spPr>
          <a:xfrm>
            <a:off x="3171825" y="6362700"/>
            <a:ext cx="1727795" cy="184150"/>
          </a:xfrm>
          <a:prstGeom prst="rect">
            <a:avLst/>
          </a:prstGeom>
          <a:noFill/>
        </p:spPr>
        <p:txBody>
          <a:bodyPr wrap="none" lIns="0" tIns="18828" rIns="0" bIns="0" anchor="ctr">
            <a:noAutofit/>
          </a:bodyPr>
          <a:lstStyle/>
          <a:p>
            <a:pPr algn="l">
              <a:lnSpc>
                <a:spcPts val="1450"/>
              </a:lnSpc>
            </a:pPr>
            <a:r>
              <a:rPr sz="1250" b="0" i="0">
                <a:solidFill>
                  <a:srgbClr val="0B0B0D"/>
                </a:solidFill>
                <a:latin typeface="Work Sans ExtraBold"/>
              </a:rPr>
              <a:t>El mecanismo</a:t>
            </a:r>
            <a:endParaRPr sz="1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cortina-izq"/>
          <p:cNvSpPr/>
          <p:nvPr/>
        </p:nvSpPr>
        <p:spPr>
          <a:xfrm>
            <a:off x="0" y="0"/>
            <a:ext cx="6120384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cortina-izq-borde"/>
          <p:cNvSpPr/>
          <p:nvPr/>
        </p:nvSpPr>
        <p:spPr>
          <a:xfrm>
            <a:off x="6056884" y="0"/>
            <a:ext cx="63500" cy="6858000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cortina-der"/>
          <p:cNvSpPr/>
          <p:nvPr/>
        </p:nvSpPr>
        <p:spPr>
          <a:xfrm>
            <a:off x="6071616" y="0"/>
            <a:ext cx="6120384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cortina-der-borde"/>
          <p:cNvSpPr/>
          <p:nvPr/>
        </p:nvSpPr>
        <p:spPr>
          <a:xfrm>
            <a:off x="6071616" y="0"/>
            <a:ext cx="63500" cy="6858000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Tm="30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cortina-izq"/>
          <p:cNvSpPr/>
          <p:nvPr/>
        </p:nvSpPr>
        <p:spPr>
          <a:xfrm>
            <a:off x="-6247384" y="0"/>
            <a:ext cx="6120384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cortina-izq-borde"/>
          <p:cNvSpPr/>
          <p:nvPr/>
        </p:nvSpPr>
        <p:spPr>
          <a:xfrm>
            <a:off x="-190500" y="0"/>
            <a:ext cx="63500" cy="6858000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cortina-der"/>
          <p:cNvSpPr/>
          <p:nvPr/>
        </p:nvSpPr>
        <p:spPr>
          <a:xfrm>
            <a:off x="12319000" y="0"/>
            <a:ext cx="6120384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cortina-der-borde"/>
          <p:cNvSpPr/>
          <p:nvPr/>
        </p:nvSpPr>
        <p:spPr>
          <a:xfrm>
            <a:off x="12319000" y="0"/>
            <a:ext cx="63500" cy="6858000"/>
          </a:xfrm>
          <a:prstGeom prst="rect">
            <a:avLst/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3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ruta-m1"/>
          <p:cNvSpPr/>
          <p:nvPr/>
        </p:nvSpPr>
        <p:spPr>
          <a:xfrm>
            <a:off x="1803400" y="352425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20638" y="0"/>
                </a:lnTo>
                <a:lnTo>
                  <a:pt x="41275" y="0"/>
                </a:lnTo>
                <a:lnTo>
                  <a:pt x="61912" y="0"/>
                </a:lnTo>
                <a:lnTo>
                  <a:pt x="82550" y="0"/>
                </a:lnTo>
                <a:lnTo>
                  <a:pt x="103188" y="0"/>
                </a:lnTo>
                <a:lnTo>
                  <a:pt x="123825" y="0"/>
                </a:lnTo>
                <a:lnTo>
                  <a:pt x="144462" y="0"/>
                </a:lnTo>
                <a:lnTo>
                  <a:pt x="165100" y="0"/>
                </a:lnTo>
                <a:lnTo>
                  <a:pt x="185738" y="0"/>
                </a:lnTo>
                <a:lnTo>
                  <a:pt x="206375" y="0"/>
                </a:lnTo>
                <a:lnTo>
                  <a:pt x="227013" y="0"/>
                </a:lnTo>
                <a:lnTo>
                  <a:pt x="247650" y="0"/>
                </a:lnTo>
                <a:lnTo>
                  <a:pt x="268288" y="0"/>
                </a:lnTo>
                <a:lnTo>
                  <a:pt x="288925" y="0"/>
                </a:lnTo>
                <a:lnTo>
                  <a:pt x="309562" y="0"/>
                </a:lnTo>
                <a:lnTo>
                  <a:pt x="330200" y="0"/>
                </a:lnTo>
                <a:lnTo>
                  <a:pt x="350838" y="0"/>
                </a:lnTo>
                <a:lnTo>
                  <a:pt x="371475" y="0"/>
                </a:lnTo>
                <a:lnTo>
                  <a:pt x="392112" y="0"/>
                </a:lnTo>
                <a:lnTo>
                  <a:pt x="412750" y="0"/>
                </a:lnTo>
                <a:lnTo>
                  <a:pt x="433388" y="0"/>
                </a:lnTo>
                <a:lnTo>
                  <a:pt x="454025" y="0"/>
                </a:lnTo>
                <a:lnTo>
                  <a:pt x="474662" y="0"/>
                </a:lnTo>
                <a:lnTo>
                  <a:pt x="495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ruta-m2"/>
          <p:cNvSpPr/>
          <p:nvPr/>
        </p:nvSpPr>
        <p:spPr>
          <a:xfrm>
            <a:off x="3771900" y="3485515"/>
            <a:ext cx="749300" cy="19685"/>
          </a:xfrm>
          <a:custGeom>
            <a:avLst/>
            <a:gdLst/>
            <a:ahLst/>
            <a:cxnLst/>
            <a:rect l="l" t="t" r="r" b="b"/>
            <a:pathLst>
              <a:path w="749300" h="19685">
                <a:moveTo>
                  <a:pt x="0" y="19685"/>
                </a:moveTo>
                <a:lnTo>
                  <a:pt x="31221" y="18839"/>
                </a:lnTo>
                <a:lnTo>
                  <a:pt x="62442" y="17996"/>
                </a:lnTo>
                <a:lnTo>
                  <a:pt x="93662" y="17155"/>
                </a:lnTo>
                <a:lnTo>
                  <a:pt x="124883" y="16316"/>
                </a:lnTo>
                <a:lnTo>
                  <a:pt x="156104" y="15479"/>
                </a:lnTo>
                <a:lnTo>
                  <a:pt x="187325" y="14645"/>
                </a:lnTo>
                <a:lnTo>
                  <a:pt x="218546" y="13812"/>
                </a:lnTo>
                <a:lnTo>
                  <a:pt x="249767" y="12982"/>
                </a:lnTo>
                <a:lnTo>
                  <a:pt x="280988" y="12154"/>
                </a:lnTo>
                <a:lnTo>
                  <a:pt x="312208" y="11329"/>
                </a:lnTo>
                <a:lnTo>
                  <a:pt x="343429" y="10505"/>
                </a:lnTo>
                <a:lnTo>
                  <a:pt x="374650" y="9684"/>
                </a:lnTo>
                <a:lnTo>
                  <a:pt x="405871" y="8865"/>
                </a:lnTo>
                <a:lnTo>
                  <a:pt x="437092" y="8048"/>
                </a:lnTo>
                <a:lnTo>
                  <a:pt x="468312" y="7233"/>
                </a:lnTo>
                <a:lnTo>
                  <a:pt x="499533" y="6421"/>
                </a:lnTo>
                <a:lnTo>
                  <a:pt x="530754" y="5610"/>
                </a:lnTo>
                <a:lnTo>
                  <a:pt x="561975" y="4802"/>
                </a:lnTo>
                <a:lnTo>
                  <a:pt x="593196" y="3996"/>
                </a:lnTo>
                <a:lnTo>
                  <a:pt x="624417" y="3193"/>
                </a:lnTo>
                <a:lnTo>
                  <a:pt x="655638" y="2391"/>
                </a:lnTo>
                <a:lnTo>
                  <a:pt x="686858" y="1592"/>
                </a:lnTo>
                <a:lnTo>
                  <a:pt x="718079" y="795"/>
                </a:lnTo>
                <a:lnTo>
                  <a:pt x="749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ruta-m6"/>
          <p:cNvSpPr/>
          <p:nvPr/>
        </p:nvSpPr>
        <p:spPr>
          <a:xfrm>
            <a:off x="5715000" y="1697732"/>
            <a:ext cx="3517900" cy="918468"/>
          </a:xfrm>
          <a:custGeom>
            <a:avLst/>
            <a:gdLst/>
            <a:ahLst/>
            <a:cxnLst/>
            <a:rect l="l" t="t" r="r" b="b"/>
            <a:pathLst>
              <a:path w="3517900" h="918468">
                <a:moveTo>
                  <a:pt x="0" y="918468"/>
                </a:moveTo>
                <a:lnTo>
                  <a:pt x="131315" y="797384"/>
                </a:lnTo>
                <a:lnTo>
                  <a:pt x="263957" y="684850"/>
                </a:lnTo>
                <a:lnTo>
                  <a:pt x="397927" y="580866"/>
                </a:lnTo>
                <a:lnTo>
                  <a:pt x="533224" y="485433"/>
                </a:lnTo>
                <a:lnTo>
                  <a:pt x="669848" y="398551"/>
                </a:lnTo>
                <a:lnTo>
                  <a:pt x="807799" y="320219"/>
                </a:lnTo>
                <a:lnTo>
                  <a:pt x="947078" y="250437"/>
                </a:lnTo>
                <a:lnTo>
                  <a:pt x="1087684" y="189206"/>
                </a:lnTo>
                <a:lnTo>
                  <a:pt x="1229618" y="136525"/>
                </a:lnTo>
                <a:lnTo>
                  <a:pt x="1372879" y="92395"/>
                </a:lnTo>
                <a:lnTo>
                  <a:pt x="1517467" y="56815"/>
                </a:lnTo>
                <a:lnTo>
                  <a:pt x="1663382" y="29786"/>
                </a:lnTo>
                <a:lnTo>
                  <a:pt x="1810625" y="11307"/>
                </a:lnTo>
                <a:lnTo>
                  <a:pt x="1959195" y="1378"/>
                </a:lnTo>
                <a:lnTo>
                  <a:pt x="2109093" y="0"/>
                </a:lnTo>
                <a:lnTo>
                  <a:pt x="2260318" y="7172"/>
                </a:lnTo>
                <a:lnTo>
                  <a:pt x="2412870" y="22895"/>
                </a:lnTo>
                <a:lnTo>
                  <a:pt x="2566749" y="47169"/>
                </a:lnTo>
                <a:lnTo>
                  <a:pt x="2721956" y="79992"/>
                </a:lnTo>
                <a:lnTo>
                  <a:pt x="2878490" y="121367"/>
                </a:lnTo>
                <a:lnTo>
                  <a:pt x="3036352" y="171291"/>
                </a:lnTo>
                <a:lnTo>
                  <a:pt x="3195540" y="229766"/>
                </a:lnTo>
                <a:lnTo>
                  <a:pt x="3356057" y="296792"/>
                </a:lnTo>
                <a:lnTo>
                  <a:pt x="3517900" y="372368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uta-m3"/>
          <p:cNvSpPr/>
          <p:nvPr/>
        </p:nvSpPr>
        <p:spPr>
          <a:xfrm>
            <a:off x="6375400" y="2687955"/>
            <a:ext cx="368300" cy="123825"/>
          </a:xfrm>
          <a:custGeom>
            <a:avLst/>
            <a:gdLst/>
            <a:ahLst/>
            <a:cxnLst/>
            <a:rect l="l" t="t" r="r" b="b"/>
            <a:pathLst>
              <a:path w="368300" h="123825">
                <a:moveTo>
                  <a:pt x="0" y="123825"/>
                </a:moveTo>
                <a:lnTo>
                  <a:pt x="14078" y="115851"/>
                </a:lnTo>
                <a:lnTo>
                  <a:pt x="28266" y="108122"/>
                </a:lnTo>
                <a:lnTo>
                  <a:pt x="42565" y="100638"/>
                </a:lnTo>
                <a:lnTo>
                  <a:pt x="56974" y="93398"/>
                </a:lnTo>
                <a:lnTo>
                  <a:pt x="71493" y="86403"/>
                </a:lnTo>
                <a:lnTo>
                  <a:pt x="86122" y="79653"/>
                </a:lnTo>
                <a:lnTo>
                  <a:pt x="100861" y="73147"/>
                </a:lnTo>
                <a:lnTo>
                  <a:pt x="115711" y="66887"/>
                </a:lnTo>
                <a:lnTo>
                  <a:pt x="130671" y="60871"/>
                </a:lnTo>
                <a:lnTo>
                  <a:pt x="145741" y="55099"/>
                </a:lnTo>
                <a:lnTo>
                  <a:pt x="160922" y="49573"/>
                </a:lnTo>
                <a:lnTo>
                  <a:pt x="176212" y="44291"/>
                </a:lnTo>
                <a:lnTo>
                  <a:pt x="191613" y="39254"/>
                </a:lnTo>
                <a:lnTo>
                  <a:pt x="207125" y="34462"/>
                </a:lnTo>
                <a:lnTo>
                  <a:pt x="222746" y="29914"/>
                </a:lnTo>
                <a:lnTo>
                  <a:pt x="238478" y="25612"/>
                </a:lnTo>
                <a:lnTo>
                  <a:pt x="254320" y="21554"/>
                </a:lnTo>
                <a:lnTo>
                  <a:pt x="270272" y="17740"/>
                </a:lnTo>
                <a:lnTo>
                  <a:pt x="286334" y="14172"/>
                </a:lnTo>
                <a:lnTo>
                  <a:pt x="302507" y="10848"/>
                </a:lnTo>
                <a:lnTo>
                  <a:pt x="318790" y="7769"/>
                </a:lnTo>
                <a:lnTo>
                  <a:pt x="335183" y="4934"/>
                </a:lnTo>
                <a:lnTo>
                  <a:pt x="351686" y="2345"/>
                </a:lnTo>
                <a:lnTo>
                  <a:pt x="368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halo"/>
          <p:cNvSpPr/>
          <p:nvPr/>
        </p:nvSpPr>
        <p:spPr>
          <a:xfrm>
            <a:off x="6804025" y="2016125"/>
            <a:ext cx="1695450" cy="933450"/>
          </a:xfrm>
          <a:prstGeom prst="roundRect">
            <a:avLst>
              <a:gd name="adj" fmla="val 9523"/>
            </a:avLst>
          </a:prstGeom>
          <a:noFill/>
          <a:ln w="44450">
            <a:solidFill>
              <a:srgbClr val="EF6B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ficha"/>
          <p:cNvSpPr/>
          <p:nvPr/>
        </p:nvSpPr>
        <p:spPr>
          <a:xfrm>
            <a:off x="8347075" y="1971675"/>
            <a:ext cx="196850" cy="196850"/>
          </a:xfrm>
          <a:prstGeom prst="ellipse">
            <a:avLst/>
          </a:prstGeom>
          <a:solidFill>
            <a:srgbClr val="EF6B3B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narrador"/>
          <p:cNvSpPr/>
          <p:nvPr/>
        </p:nvSpPr>
        <p:spPr>
          <a:xfrm>
            <a:off x="9701510" y="609600"/>
            <a:ext cx="1880890" cy="425450"/>
          </a:xfrm>
          <a:prstGeom prst="roundRect">
            <a:avLst>
              <a:gd name="adj" fmla="val 17910"/>
            </a:avLst>
          </a:prstGeom>
          <a:solidFill>
            <a:srgbClr val="8C1C2B"/>
          </a:solidFill>
          <a:ln>
            <a:noFill/>
          </a:ln>
        </p:spPr>
        <p:txBody>
          <a:bodyPr rtlCol="0" anchor="ctr" wrap="none" lIns="127000" tIns="63500" rIns="127000" bIns="63500">
            <a:noAutofit/>
          </a:bodyPr>
          <a:lstStyle/>
          <a:p>
            <a:pPr algn="r">
              <a:lnSpc>
                <a:spcPts val="1994"/>
              </a:lnSpc>
            </a:pPr>
            <a:r>
              <a:rPr sz="1700" b="0" i="0">
                <a:solidFill>
                  <a:srgbClr val="F6EAD3"/>
                </a:solidFill>
                <a:highlight>
                  <a:srgbClr val="8C1C2B"/>
                </a:highlight>
                <a:latin typeface="Alegreya"/>
              </a:rPr>
              <a:t>«Hola, somos dos»</a:t>
            </a:r>
            <a:endParaRPr sz="1700"/>
          </a:p>
        </p:txBody>
      </p:sp>
      <p:sp>
        <p:nvSpPr>
          <p:cNvPr id="11" name="!!narrador-ruta"/>
          <p:cNvSpPr txBox="1"/>
          <p:nvPr/>
        </p:nvSpPr>
        <p:spPr>
          <a:xfrm>
            <a:off x="8488561" y="1098550"/>
            <a:ext cx="3093839" cy="184150"/>
          </a:xfrm>
          <a:prstGeom prst="rect">
            <a:avLst/>
          </a:prstGeom>
          <a:noFill/>
        </p:spPr>
        <p:txBody>
          <a:bodyPr wrap="none" lIns="381000" tIns="8552" rIns="0" bIns="0" anchor="t">
            <a:noAutofit/>
          </a:bodyPr>
          <a:lstStyle/>
          <a:p>
            <a:pPr algn="r">
              <a:lnSpc>
                <a:spcPts val="1407"/>
              </a:lnSpc>
            </a:pPr>
            <a:r>
              <a:rPr sz="1200" b="1" i="0">
                <a:solidFill>
                  <a:srgbClr val="5F5F66"/>
                </a:solidFill>
                <a:latin typeface="Work Sans"/>
              </a:rPr>
              <a:t>sala → libreta → camarero → mesas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 advTm="3800">
        <p159:morph option="byObject"/>
      </p:transition>
    </mc:Choice>
    <mc:Fallback>
      <p:transition spd="slow" advTm="3800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ruta-m1"/>
          <p:cNvSpPr/>
          <p:nvPr/>
        </p:nvSpPr>
        <p:spPr>
          <a:xfrm>
            <a:off x="1803400" y="352425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20638" y="0"/>
                </a:lnTo>
                <a:lnTo>
                  <a:pt x="41275" y="0"/>
                </a:lnTo>
                <a:lnTo>
                  <a:pt x="61912" y="0"/>
                </a:lnTo>
                <a:lnTo>
                  <a:pt x="82550" y="0"/>
                </a:lnTo>
                <a:lnTo>
                  <a:pt x="103188" y="0"/>
                </a:lnTo>
                <a:lnTo>
                  <a:pt x="123825" y="0"/>
                </a:lnTo>
                <a:lnTo>
                  <a:pt x="144462" y="0"/>
                </a:lnTo>
                <a:lnTo>
                  <a:pt x="165100" y="0"/>
                </a:lnTo>
                <a:lnTo>
                  <a:pt x="185738" y="0"/>
                </a:lnTo>
                <a:lnTo>
                  <a:pt x="206375" y="0"/>
                </a:lnTo>
                <a:lnTo>
                  <a:pt x="227013" y="0"/>
                </a:lnTo>
                <a:lnTo>
                  <a:pt x="247650" y="0"/>
                </a:lnTo>
                <a:lnTo>
                  <a:pt x="268288" y="0"/>
                </a:lnTo>
                <a:lnTo>
                  <a:pt x="288925" y="0"/>
                </a:lnTo>
                <a:lnTo>
                  <a:pt x="309562" y="0"/>
                </a:lnTo>
                <a:lnTo>
                  <a:pt x="330200" y="0"/>
                </a:lnTo>
                <a:lnTo>
                  <a:pt x="350838" y="0"/>
                </a:lnTo>
                <a:lnTo>
                  <a:pt x="371475" y="0"/>
                </a:lnTo>
                <a:lnTo>
                  <a:pt x="392112" y="0"/>
                </a:lnTo>
                <a:lnTo>
                  <a:pt x="412750" y="0"/>
                </a:lnTo>
                <a:lnTo>
                  <a:pt x="433388" y="0"/>
                </a:lnTo>
                <a:lnTo>
                  <a:pt x="454025" y="0"/>
                </a:lnTo>
                <a:lnTo>
                  <a:pt x="474662" y="0"/>
                </a:lnTo>
                <a:lnTo>
                  <a:pt x="495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ruta-m2"/>
          <p:cNvSpPr/>
          <p:nvPr/>
        </p:nvSpPr>
        <p:spPr>
          <a:xfrm>
            <a:off x="3771900" y="3485515"/>
            <a:ext cx="749300" cy="19685"/>
          </a:xfrm>
          <a:custGeom>
            <a:avLst/>
            <a:gdLst/>
            <a:ahLst/>
            <a:cxnLst/>
            <a:rect l="l" t="t" r="r" b="b"/>
            <a:pathLst>
              <a:path w="749300" h="19685">
                <a:moveTo>
                  <a:pt x="0" y="19685"/>
                </a:moveTo>
                <a:lnTo>
                  <a:pt x="31221" y="18839"/>
                </a:lnTo>
                <a:lnTo>
                  <a:pt x="62442" y="17996"/>
                </a:lnTo>
                <a:lnTo>
                  <a:pt x="93662" y="17155"/>
                </a:lnTo>
                <a:lnTo>
                  <a:pt x="124883" y="16316"/>
                </a:lnTo>
                <a:lnTo>
                  <a:pt x="156104" y="15479"/>
                </a:lnTo>
                <a:lnTo>
                  <a:pt x="187325" y="14645"/>
                </a:lnTo>
                <a:lnTo>
                  <a:pt x="218546" y="13812"/>
                </a:lnTo>
                <a:lnTo>
                  <a:pt x="249767" y="12982"/>
                </a:lnTo>
                <a:lnTo>
                  <a:pt x="280988" y="12154"/>
                </a:lnTo>
                <a:lnTo>
                  <a:pt x="312208" y="11329"/>
                </a:lnTo>
                <a:lnTo>
                  <a:pt x="343429" y="10505"/>
                </a:lnTo>
                <a:lnTo>
                  <a:pt x="374650" y="9684"/>
                </a:lnTo>
                <a:lnTo>
                  <a:pt x="405871" y="8865"/>
                </a:lnTo>
                <a:lnTo>
                  <a:pt x="437092" y="8048"/>
                </a:lnTo>
                <a:lnTo>
                  <a:pt x="468312" y="7233"/>
                </a:lnTo>
                <a:lnTo>
                  <a:pt x="499533" y="6421"/>
                </a:lnTo>
                <a:lnTo>
                  <a:pt x="530754" y="5610"/>
                </a:lnTo>
                <a:lnTo>
                  <a:pt x="561975" y="4802"/>
                </a:lnTo>
                <a:lnTo>
                  <a:pt x="593196" y="3996"/>
                </a:lnTo>
                <a:lnTo>
                  <a:pt x="624417" y="3193"/>
                </a:lnTo>
                <a:lnTo>
                  <a:pt x="655638" y="2391"/>
                </a:lnTo>
                <a:lnTo>
                  <a:pt x="686858" y="1592"/>
                </a:lnTo>
                <a:lnTo>
                  <a:pt x="718079" y="795"/>
                </a:lnTo>
                <a:lnTo>
                  <a:pt x="749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ruta-m4"/>
          <p:cNvSpPr/>
          <p:nvPr/>
        </p:nvSpPr>
        <p:spPr>
          <a:xfrm>
            <a:off x="6375400" y="3503295"/>
            <a:ext cx="368300" cy="17145"/>
          </a:xfrm>
          <a:custGeom>
            <a:avLst/>
            <a:gdLst/>
            <a:ahLst/>
            <a:cxnLst/>
            <a:rect l="l" t="t" r="r" b="b"/>
            <a:pathLst>
              <a:path w="368300" h="17145">
                <a:moveTo>
                  <a:pt x="0" y="0"/>
                </a:moveTo>
                <a:lnTo>
                  <a:pt x="15346" y="689"/>
                </a:lnTo>
                <a:lnTo>
                  <a:pt x="30692" y="1380"/>
                </a:lnTo>
                <a:lnTo>
                  <a:pt x="46038" y="2074"/>
                </a:lnTo>
                <a:lnTo>
                  <a:pt x="61383" y="2769"/>
                </a:lnTo>
                <a:lnTo>
                  <a:pt x="76729" y="3467"/>
                </a:lnTo>
                <a:lnTo>
                  <a:pt x="92075" y="4167"/>
                </a:lnTo>
                <a:lnTo>
                  <a:pt x="107421" y="4869"/>
                </a:lnTo>
                <a:lnTo>
                  <a:pt x="122767" y="5574"/>
                </a:lnTo>
                <a:lnTo>
                  <a:pt x="138112" y="6281"/>
                </a:lnTo>
                <a:lnTo>
                  <a:pt x="153458" y="6989"/>
                </a:lnTo>
                <a:lnTo>
                  <a:pt x="168804" y="7700"/>
                </a:lnTo>
                <a:lnTo>
                  <a:pt x="184150" y="8414"/>
                </a:lnTo>
                <a:lnTo>
                  <a:pt x="199496" y="9129"/>
                </a:lnTo>
                <a:lnTo>
                  <a:pt x="214842" y="9847"/>
                </a:lnTo>
                <a:lnTo>
                  <a:pt x="230188" y="10567"/>
                </a:lnTo>
                <a:lnTo>
                  <a:pt x="245533" y="11289"/>
                </a:lnTo>
                <a:lnTo>
                  <a:pt x="260879" y="12013"/>
                </a:lnTo>
                <a:lnTo>
                  <a:pt x="276225" y="12740"/>
                </a:lnTo>
                <a:lnTo>
                  <a:pt x="291571" y="13468"/>
                </a:lnTo>
                <a:lnTo>
                  <a:pt x="306917" y="14199"/>
                </a:lnTo>
                <a:lnTo>
                  <a:pt x="322262" y="14932"/>
                </a:lnTo>
                <a:lnTo>
                  <a:pt x="337608" y="15668"/>
                </a:lnTo>
                <a:lnTo>
                  <a:pt x="352954" y="16405"/>
                </a:lnTo>
                <a:lnTo>
                  <a:pt x="368300" y="17145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uta-m7"/>
          <p:cNvSpPr/>
          <p:nvPr/>
        </p:nvSpPr>
        <p:spPr>
          <a:xfrm>
            <a:off x="5461000" y="4305300"/>
            <a:ext cx="3771900" cy="1037475"/>
          </a:xfrm>
          <a:custGeom>
            <a:avLst/>
            <a:gdLst/>
            <a:ahLst/>
            <a:cxnLst/>
            <a:rect l="l" t="t" r="r" b="b"/>
            <a:pathLst>
              <a:path w="3771900" h="1037475">
                <a:moveTo>
                  <a:pt x="0" y="0"/>
                </a:moveTo>
                <a:lnTo>
                  <a:pt x="139413" y="138798"/>
                </a:lnTo>
                <a:lnTo>
                  <a:pt x="280370" y="267644"/>
                </a:lnTo>
                <a:lnTo>
                  <a:pt x="422870" y="386536"/>
                </a:lnTo>
                <a:lnTo>
                  <a:pt x="566914" y="495476"/>
                </a:lnTo>
                <a:lnTo>
                  <a:pt x="712501" y="594464"/>
                </a:lnTo>
                <a:lnTo>
                  <a:pt x="859631" y="683498"/>
                </a:lnTo>
                <a:lnTo>
                  <a:pt x="1008305" y="762580"/>
                </a:lnTo>
                <a:lnTo>
                  <a:pt x="1158522" y="831709"/>
                </a:lnTo>
                <a:lnTo>
                  <a:pt x="1310283" y="890885"/>
                </a:lnTo>
                <a:lnTo>
                  <a:pt x="1463587" y="940109"/>
                </a:lnTo>
                <a:lnTo>
                  <a:pt x="1618434" y="979379"/>
                </a:lnTo>
                <a:lnTo>
                  <a:pt x="1774825" y="1008698"/>
                </a:lnTo>
                <a:lnTo>
                  <a:pt x="1932759" y="1028063"/>
                </a:lnTo>
                <a:lnTo>
                  <a:pt x="2092237" y="1037475"/>
                </a:lnTo>
                <a:lnTo>
                  <a:pt x="2253258" y="1036935"/>
                </a:lnTo>
                <a:lnTo>
                  <a:pt x="2415822" y="1026442"/>
                </a:lnTo>
                <a:lnTo>
                  <a:pt x="2579930" y="1005997"/>
                </a:lnTo>
                <a:lnTo>
                  <a:pt x="2745581" y="975598"/>
                </a:lnTo>
                <a:lnTo>
                  <a:pt x="2912776" y="935247"/>
                </a:lnTo>
                <a:lnTo>
                  <a:pt x="3081514" y="884943"/>
                </a:lnTo>
                <a:lnTo>
                  <a:pt x="3251795" y="824686"/>
                </a:lnTo>
                <a:lnTo>
                  <a:pt x="3423620" y="754477"/>
                </a:lnTo>
                <a:lnTo>
                  <a:pt x="3596988" y="674315"/>
                </a:lnTo>
                <a:lnTo>
                  <a:pt x="3771900" y="58420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ruta-m8"/>
          <p:cNvSpPr/>
          <p:nvPr/>
        </p:nvSpPr>
        <p:spPr>
          <a:xfrm>
            <a:off x="8496300" y="3556000"/>
            <a:ext cx="736600" cy="254000"/>
          </a:xfrm>
          <a:custGeom>
            <a:avLst/>
            <a:gdLst/>
            <a:ahLst/>
            <a:cxnLst/>
            <a:rect l="l" t="t" r="r" b="b"/>
            <a:pathLst>
              <a:path w="736600" h="254000">
                <a:moveTo>
                  <a:pt x="0" y="0"/>
                </a:moveTo>
                <a:lnTo>
                  <a:pt x="30692" y="10583"/>
                </a:lnTo>
                <a:lnTo>
                  <a:pt x="61383" y="21167"/>
                </a:lnTo>
                <a:lnTo>
                  <a:pt x="92075" y="31750"/>
                </a:lnTo>
                <a:lnTo>
                  <a:pt x="122767" y="42333"/>
                </a:lnTo>
                <a:lnTo>
                  <a:pt x="153458" y="52917"/>
                </a:lnTo>
                <a:lnTo>
                  <a:pt x="184150" y="63500"/>
                </a:lnTo>
                <a:lnTo>
                  <a:pt x="214842" y="74083"/>
                </a:lnTo>
                <a:lnTo>
                  <a:pt x="245533" y="84667"/>
                </a:lnTo>
                <a:lnTo>
                  <a:pt x="276225" y="95250"/>
                </a:lnTo>
                <a:lnTo>
                  <a:pt x="306917" y="105833"/>
                </a:lnTo>
                <a:lnTo>
                  <a:pt x="337608" y="116417"/>
                </a:lnTo>
                <a:lnTo>
                  <a:pt x="368300" y="127000"/>
                </a:lnTo>
                <a:lnTo>
                  <a:pt x="398992" y="137583"/>
                </a:lnTo>
                <a:lnTo>
                  <a:pt x="429683" y="148167"/>
                </a:lnTo>
                <a:lnTo>
                  <a:pt x="460375" y="158750"/>
                </a:lnTo>
                <a:lnTo>
                  <a:pt x="491067" y="169333"/>
                </a:lnTo>
                <a:lnTo>
                  <a:pt x="521758" y="179917"/>
                </a:lnTo>
                <a:lnTo>
                  <a:pt x="552450" y="190500"/>
                </a:lnTo>
                <a:lnTo>
                  <a:pt x="583142" y="201083"/>
                </a:lnTo>
                <a:lnTo>
                  <a:pt x="613833" y="211667"/>
                </a:lnTo>
                <a:lnTo>
                  <a:pt x="644525" y="222250"/>
                </a:lnTo>
                <a:lnTo>
                  <a:pt x="675217" y="232833"/>
                </a:lnTo>
                <a:lnTo>
                  <a:pt x="705908" y="243417"/>
                </a:lnTo>
                <a:lnTo>
                  <a:pt x="736600" y="25400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halo"/>
          <p:cNvSpPr/>
          <p:nvPr/>
        </p:nvSpPr>
        <p:spPr>
          <a:xfrm>
            <a:off x="6804025" y="3095625"/>
            <a:ext cx="1695450" cy="933450"/>
          </a:xfrm>
          <a:prstGeom prst="roundRect">
            <a:avLst>
              <a:gd name="adj" fmla="val 9523"/>
            </a:avLst>
          </a:prstGeom>
          <a:noFill/>
          <a:ln w="44450">
            <a:solidFill>
              <a:srgbClr val="EF6B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ficha"/>
          <p:cNvSpPr/>
          <p:nvPr/>
        </p:nvSpPr>
        <p:spPr>
          <a:xfrm>
            <a:off x="8347075" y="3051175"/>
            <a:ext cx="196850" cy="196850"/>
          </a:xfrm>
          <a:prstGeom prst="ellipse">
            <a:avLst/>
          </a:prstGeom>
          <a:solidFill>
            <a:srgbClr val="EF6B3B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narrador"/>
          <p:cNvSpPr/>
          <p:nvPr/>
        </p:nvSpPr>
        <p:spPr>
          <a:xfrm>
            <a:off x="8435280" y="609600"/>
            <a:ext cx="3147120" cy="425450"/>
          </a:xfrm>
          <a:prstGeom prst="roundRect">
            <a:avLst>
              <a:gd name="adj" fmla="val 17910"/>
            </a:avLst>
          </a:prstGeom>
          <a:solidFill>
            <a:srgbClr val="8C1C2B"/>
          </a:solidFill>
          <a:ln>
            <a:noFill/>
          </a:ln>
        </p:spPr>
        <p:txBody>
          <a:bodyPr rtlCol="0" anchor="ctr" wrap="none" lIns="127000" tIns="63500" rIns="127000" bIns="63500">
            <a:noAutofit/>
          </a:bodyPr>
          <a:lstStyle/>
          <a:p>
            <a:pPr algn="r">
              <a:lnSpc>
                <a:spcPts val="1994"/>
              </a:lnSpc>
            </a:pPr>
            <a:r>
              <a:rPr sz="1700" b="0" i="0">
                <a:solidFill>
                  <a:srgbClr val="F6EAD3"/>
                </a:solidFill>
                <a:highlight>
                  <a:srgbClr val="8C1C2B"/>
                </a:highlight>
                <a:latin typeface="Alegreya"/>
              </a:rPr>
              <a:t>«Una morcilla y un agua con gas»</a:t>
            </a:r>
            <a:endParaRPr sz="1700"/>
          </a:p>
        </p:txBody>
      </p:sp>
      <p:sp>
        <p:nvSpPr>
          <p:cNvPr id="12" name="!!narrador-ruta"/>
          <p:cNvSpPr txBox="1"/>
          <p:nvPr/>
        </p:nvSpPr>
        <p:spPr>
          <a:xfrm>
            <a:off x="8054280" y="1098550"/>
            <a:ext cx="3528120" cy="184150"/>
          </a:xfrm>
          <a:prstGeom prst="rect">
            <a:avLst/>
          </a:prstGeom>
          <a:noFill/>
        </p:spPr>
        <p:txBody>
          <a:bodyPr wrap="none" lIns="381000" tIns="8552" rIns="0" bIns="0" anchor="t">
            <a:noAutofit/>
          </a:bodyPr>
          <a:lstStyle/>
          <a:p>
            <a:pPr algn="r">
              <a:lnSpc>
                <a:spcPts val="1407"/>
              </a:lnSpc>
            </a:pPr>
            <a:r>
              <a:rPr sz="1200" b="1" i="0">
                <a:solidFill>
                  <a:srgbClr val="5F5F66"/>
                </a:solidFill>
                <a:latin typeface="Work Sans"/>
              </a:rPr>
              <a:t>camarero → cocina y barra → carta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 advTm="3800">
        <p159:morph option="byObject"/>
      </p:transition>
    </mc:Choice>
    <mc:Fallback>
      <p:transition spd="slow" advTm="3800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ruta-m1"/>
          <p:cNvSpPr/>
          <p:nvPr/>
        </p:nvSpPr>
        <p:spPr>
          <a:xfrm>
            <a:off x="1803400" y="352425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 h="0">
                <a:moveTo>
                  <a:pt x="0" y="0"/>
                </a:moveTo>
                <a:lnTo>
                  <a:pt x="20638" y="0"/>
                </a:lnTo>
                <a:lnTo>
                  <a:pt x="41275" y="0"/>
                </a:lnTo>
                <a:lnTo>
                  <a:pt x="61912" y="0"/>
                </a:lnTo>
                <a:lnTo>
                  <a:pt x="82550" y="0"/>
                </a:lnTo>
                <a:lnTo>
                  <a:pt x="103188" y="0"/>
                </a:lnTo>
                <a:lnTo>
                  <a:pt x="123825" y="0"/>
                </a:lnTo>
                <a:lnTo>
                  <a:pt x="144462" y="0"/>
                </a:lnTo>
                <a:lnTo>
                  <a:pt x="165100" y="0"/>
                </a:lnTo>
                <a:lnTo>
                  <a:pt x="185738" y="0"/>
                </a:lnTo>
                <a:lnTo>
                  <a:pt x="206375" y="0"/>
                </a:lnTo>
                <a:lnTo>
                  <a:pt x="227013" y="0"/>
                </a:lnTo>
                <a:lnTo>
                  <a:pt x="247650" y="0"/>
                </a:lnTo>
                <a:lnTo>
                  <a:pt x="268288" y="0"/>
                </a:lnTo>
                <a:lnTo>
                  <a:pt x="288925" y="0"/>
                </a:lnTo>
                <a:lnTo>
                  <a:pt x="309562" y="0"/>
                </a:lnTo>
                <a:lnTo>
                  <a:pt x="330200" y="0"/>
                </a:lnTo>
                <a:lnTo>
                  <a:pt x="350838" y="0"/>
                </a:lnTo>
                <a:lnTo>
                  <a:pt x="371475" y="0"/>
                </a:lnTo>
                <a:lnTo>
                  <a:pt x="392112" y="0"/>
                </a:lnTo>
                <a:lnTo>
                  <a:pt x="412750" y="0"/>
                </a:lnTo>
                <a:lnTo>
                  <a:pt x="433388" y="0"/>
                </a:lnTo>
                <a:lnTo>
                  <a:pt x="454025" y="0"/>
                </a:lnTo>
                <a:lnTo>
                  <a:pt x="474662" y="0"/>
                </a:lnTo>
                <a:lnTo>
                  <a:pt x="495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ruta-m2"/>
          <p:cNvSpPr/>
          <p:nvPr/>
        </p:nvSpPr>
        <p:spPr>
          <a:xfrm>
            <a:off x="3771900" y="3485515"/>
            <a:ext cx="749300" cy="19685"/>
          </a:xfrm>
          <a:custGeom>
            <a:avLst/>
            <a:gdLst/>
            <a:ahLst/>
            <a:cxnLst/>
            <a:rect l="l" t="t" r="r" b="b"/>
            <a:pathLst>
              <a:path w="749300" h="19685">
                <a:moveTo>
                  <a:pt x="0" y="19685"/>
                </a:moveTo>
                <a:lnTo>
                  <a:pt x="31221" y="18839"/>
                </a:lnTo>
                <a:lnTo>
                  <a:pt x="62442" y="17996"/>
                </a:lnTo>
                <a:lnTo>
                  <a:pt x="93662" y="17155"/>
                </a:lnTo>
                <a:lnTo>
                  <a:pt x="124883" y="16316"/>
                </a:lnTo>
                <a:lnTo>
                  <a:pt x="156104" y="15479"/>
                </a:lnTo>
                <a:lnTo>
                  <a:pt x="187325" y="14645"/>
                </a:lnTo>
                <a:lnTo>
                  <a:pt x="218546" y="13812"/>
                </a:lnTo>
                <a:lnTo>
                  <a:pt x="249767" y="12982"/>
                </a:lnTo>
                <a:lnTo>
                  <a:pt x="280988" y="12154"/>
                </a:lnTo>
                <a:lnTo>
                  <a:pt x="312208" y="11329"/>
                </a:lnTo>
                <a:lnTo>
                  <a:pt x="343429" y="10505"/>
                </a:lnTo>
                <a:lnTo>
                  <a:pt x="374650" y="9684"/>
                </a:lnTo>
                <a:lnTo>
                  <a:pt x="405871" y="8865"/>
                </a:lnTo>
                <a:lnTo>
                  <a:pt x="437092" y="8048"/>
                </a:lnTo>
                <a:lnTo>
                  <a:pt x="468312" y="7233"/>
                </a:lnTo>
                <a:lnTo>
                  <a:pt x="499533" y="6421"/>
                </a:lnTo>
                <a:lnTo>
                  <a:pt x="530754" y="5610"/>
                </a:lnTo>
                <a:lnTo>
                  <a:pt x="561975" y="4802"/>
                </a:lnTo>
                <a:lnTo>
                  <a:pt x="593196" y="3996"/>
                </a:lnTo>
                <a:lnTo>
                  <a:pt x="624417" y="3193"/>
                </a:lnTo>
                <a:lnTo>
                  <a:pt x="655638" y="2391"/>
                </a:lnTo>
                <a:lnTo>
                  <a:pt x="686858" y="1592"/>
                </a:lnTo>
                <a:lnTo>
                  <a:pt x="718079" y="795"/>
                </a:lnTo>
                <a:lnTo>
                  <a:pt x="7493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ruta-m5"/>
          <p:cNvSpPr/>
          <p:nvPr/>
        </p:nvSpPr>
        <p:spPr>
          <a:xfrm>
            <a:off x="6375400" y="4218305"/>
            <a:ext cx="368300" cy="145415"/>
          </a:xfrm>
          <a:custGeom>
            <a:avLst/>
            <a:gdLst/>
            <a:ahLst/>
            <a:cxnLst/>
            <a:rect l="l" t="t" r="r" b="b"/>
            <a:pathLst>
              <a:path w="368300" h="145415">
                <a:moveTo>
                  <a:pt x="0" y="0"/>
                </a:moveTo>
                <a:lnTo>
                  <a:pt x="13824" y="8873"/>
                </a:lnTo>
                <a:lnTo>
                  <a:pt x="27781" y="17502"/>
                </a:lnTo>
                <a:lnTo>
                  <a:pt x="41870" y="25886"/>
                </a:lnTo>
                <a:lnTo>
                  <a:pt x="56092" y="34025"/>
                </a:lnTo>
                <a:lnTo>
                  <a:pt x="70445" y="41920"/>
                </a:lnTo>
                <a:lnTo>
                  <a:pt x="84931" y="49570"/>
                </a:lnTo>
                <a:lnTo>
                  <a:pt x="99549" y="56975"/>
                </a:lnTo>
                <a:lnTo>
                  <a:pt x="114300" y="64135"/>
                </a:lnTo>
                <a:lnTo>
                  <a:pt x="129183" y="71051"/>
                </a:lnTo>
                <a:lnTo>
                  <a:pt x="144198" y="77721"/>
                </a:lnTo>
                <a:lnTo>
                  <a:pt x="159345" y="84147"/>
                </a:lnTo>
                <a:lnTo>
                  <a:pt x="174625" y="90329"/>
                </a:lnTo>
                <a:lnTo>
                  <a:pt x="190037" y="96265"/>
                </a:lnTo>
                <a:lnTo>
                  <a:pt x="205581" y="101957"/>
                </a:lnTo>
                <a:lnTo>
                  <a:pt x="221258" y="107404"/>
                </a:lnTo>
                <a:lnTo>
                  <a:pt x="237067" y="112607"/>
                </a:lnTo>
                <a:lnTo>
                  <a:pt x="253008" y="117564"/>
                </a:lnTo>
                <a:lnTo>
                  <a:pt x="269081" y="122277"/>
                </a:lnTo>
                <a:lnTo>
                  <a:pt x="285287" y="126745"/>
                </a:lnTo>
                <a:lnTo>
                  <a:pt x="301625" y="130969"/>
                </a:lnTo>
                <a:lnTo>
                  <a:pt x="318095" y="134947"/>
                </a:lnTo>
                <a:lnTo>
                  <a:pt x="334698" y="138681"/>
                </a:lnTo>
                <a:lnTo>
                  <a:pt x="351433" y="142171"/>
                </a:lnTo>
                <a:lnTo>
                  <a:pt x="368300" y="145415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ruta-m9"/>
          <p:cNvSpPr/>
          <p:nvPr/>
        </p:nvSpPr>
        <p:spPr>
          <a:xfrm>
            <a:off x="8496300" y="4445000"/>
            <a:ext cx="736600" cy="190500"/>
          </a:xfrm>
          <a:custGeom>
            <a:avLst/>
            <a:gdLst/>
            <a:ahLst/>
            <a:cxnLst/>
            <a:rect l="l" t="t" r="r" b="b"/>
            <a:pathLst>
              <a:path w="736600" h="190500">
                <a:moveTo>
                  <a:pt x="0" y="190500"/>
                </a:moveTo>
                <a:lnTo>
                  <a:pt x="30692" y="182563"/>
                </a:lnTo>
                <a:lnTo>
                  <a:pt x="61383" y="174625"/>
                </a:lnTo>
                <a:lnTo>
                  <a:pt x="92075" y="166688"/>
                </a:lnTo>
                <a:lnTo>
                  <a:pt x="122767" y="158750"/>
                </a:lnTo>
                <a:lnTo>
                  <a:pt x="153458" y="150812"/>
                </a:lnTo>
                <a:lnTo>
                  <a:pt x="184150" y="142875"/>
                </a:lnTo>
                <a:lnTo>
                  <a:pt x="214842" y="134938"/>
                </a:lnTo>
                <a:lnTo>
                  <a:pt x="245533" y="127000"/>
                </a:lnTo>
                <a:lnTo>
                  <a:pt x="276225" y="119062"/>
                </a:lnTo>
                <a:lnTo>
                  <a:pt x="306917" y="111125"/>
                </a:lnTo>
                <a:lnTo>
                  <a:pt x="337608" y="103188"/>
                </a:lnTo>
                <a:lnTo>
                  <a:pt x="368300" y="95250"/>
                </a:lnTo>
                <a:lnTo>
                  <a:pt x="398992" y="87312"/>
                </a:lnTo>
                <a:lnTo>
                  <a:pt x="429683" y="79375"/>
                </a:lnTo>
                <a:lnTo>
                  <a:pt x="460375" y="71438"/>
                </a:lnTo>
                <a:lnTo>
                  <a:pt x="491067" y="63500"/>
                </a:lnTo>
                <a:lnTo>
                  <a:pt x="521758" y="55562"/>
                </a:lnTo>
                <a:lnTo>
                  <a:pt x="552450" y="47625"/>
                </a:lnTo>
                <a:lnTo>
                  <a:pt x="583142" y="39688"/>
                </a:lnTo>
                <a:lnTo>
                  <a:pt x="613833" y="31750"/>
                </a:lnTo>
                <a:lnTo>
                  <a:pt x="644525" y="23812"/>
                </a:lnTo>
                <a:lnTo>
                  <a:pt x="675217" y="15875"/>
                </a:lnTo>
                <a:lnTo>
                  <a:pt x="705908" y="7938"/>
                </a:lnTo>
                <a:lnTo>
                  <a:pt x="736600" y="0"/>
                </a:lnTo>
              </a:path>
            </a:pathLst>
          </a:custGeom>
          <a:noFill/>
          <a:ln w="57150" cap="rnd">
            <a:solidFill>
              <a:srgbClr val="EF6B3B">
                <a:alpha val="90000"/>
              </a:srgbClr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halo"/>
          <p:cNvSpPr/>
          <p:nvPr/>
        </p:nvSpPr>
        <p:spPr>
          <a:xfrm>
            <a:off x="6804025" y="4175125"/>
            <a:ext cx="1695450" cy="933450"/>
          </a:xfrm>
          <a:prstGeom prst="roundRect">
            <a:avLst>
              <a:gd name="adj" fmla="val 9523"/>
            </a:avLst>
          </a:prstGeom>
          <a:noFill/>
          <a:ln w="44450">
            <a:solidFill>
              <a:srgbClr val="EF6B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ficha"/>
          <p:cNvSpPr/>
          <p:nvPr/>
        </p:nvSpPr>
        <p:spPr>
          <a:xfrm>
            <a:off x="8347075" y="4130675"/>
            <a:ext cx="196850" cy="196850"/>
          </a:xfrm>
          <a:prstGeom prst="ellipse">
            <a:avLst/>
          </a:prstGeom>
          <a:solidFill>
            <a:srgbClr val="EF6B3B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narrador"/>
          <p:cNvSpPr/>
          <p:nvPr/>
        </p:nvSpPr>
        <p:spPr>
          <a:xfrm>
            <a:off x="9398595" y="609600"/>
            <a:ext cx="2183805" cy="425450"/>
          </a:xfrm>
          <a:prstGeom prst="roundRect">
            <a:avLst>
              <a:gd name="adj" fmla="val 17910"/>
            </a:avLst>
          </a:prstGeom>
          <a:solidFill>
            <a:srgbClr val="8C1C2B"/>
          </a:solidFill>
          <a:ln>
            <a:noFill/>
          </a:ln>
        </p:spPr>
        <p:txBody>
          <a:bodyPr rtlCol="0" anchor="ctr" wrap="none" lIns="127000" tIns="63500" rIns="127000" bIns="63500">
            <a:noAutofit/>
          </a:bodyPr>
          <a:lstStyle/>
          <a:p>
            <a:pPr algn="r">
              <a:lnSpc>
                <a:spcPts val="1994"/>
              </a:lnSpc>
            </a:pPr>
            <a:r>
              <a:rPr sz="1700" b="0" i="0">
                <a:solidFill>
                  <a:srgbClr val="F6EAD3"/>
                </a:solidFill>
                <a:highlight>
                  <a:srgbClr val="8C1C2B"/>
                </a:highlight>
                <a:latin typeface="Alegreya"/>
              </a:rPr>
              <a:t>«La cuenta, por favor»</a:t>
            </a:r>
            <a:endParaRPr sz="1700"/>
          </a:p>
        </p:txBody>
      </p:sp>
      <p:sp>
        <p:nvSpPr>
          <p:cNvPr id="11" name="!!narrador-ruta"/>
          <p:cNvSpPr txBox="1"/>
          <p:nvPr/>
        </p:nvSpPr>
        <p:spPr>
          <a:xfrm>
            <a:off x="8430617" y="1098550"/>
            <a:ext cx="3151783" cy="184150"/>
          </a:xfrm>
          <a:prstGeom prst="rect">
            <a:avLst/>
          </a:prstGeom>
          <a:noFill/>
        </p:spPr>
        <p:txBody>
          <a:bodyPr wrap="none" lIns="381000" tIns="8552" rIns="0" bIns="0" anchor="t">
            <a:noAutofit/>
          </a:bodyPr>
          <a:lstStyle/>
          <a:p>
            <a:pPr algn="r">
              <a:lnSpc>
                <a:spcPts val="1407"/>
              </a:lnSpc>
            </a:pPr>
            <a:r>
              <a:rPr sz="1200" b="1" i="0">
                <a:solidFill>
                  <a:srgbClr val="5F5F66"/>
                </a:solidFill>
                <a:latin typeface="Work Sans"/>
              </a:rPr>
              <a:t>camarero → caja → carta → tu botón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 advTm="3800">
        <p159:morph option="byObject"/>
      </p:transition>
    </mc:Choice>
    <mc:Fallback>
      <p:transition spd="slow" advTm="3800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halo"/>
          <p:cNvSpPr/>
          <p:nvPr/>
        </p:nvSpPr>
        <p:spPr>
          <a:xfrm>
            <a:off x="517525" y="2994025"/>
            <a:ext cx="1250950" cy="1060450"/>
          </a:xfrm>
          <a:prstGeom prst="roundRect">
            <a:avLst>
              <a:gd name="adj" fmla="val 8383"/>
            </a:avLst>
          </a:prstGeom>
          <a:noFill/>
          <a:ln w="44450">
            <a:solidFill>
              <a:srgbClr val="EF6B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ficha"/>
          <p:cNvSpPr/>
          <p:nvPr/>
        </p:nvSpPr>
        <p:spPr>
          <a:xfrm>
            <a:off x="1616075" y="2949575"/>
            <a:ext cx="196850" cy="196850"/>
          </a:xfrm>
          <a:prstGeom prst="ellipse">
            <a:avLst/>
          </a:prstGeom>
          <a:solidFill>
            <a:srgbClr val="EF6B3B"/>
          </a:solidFill>
          <a:ln w="317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narrador"/>
          <p:cNvSpPr/>
          <p:nvPr/>
        </p:nvSpPr>
        <p:spPr>
          <a:xfrm>
            <a:off x="9724827" y="609600"/>
            <a:ext cx="1857573" cy="425450"/>
          </a:xfrm>
          <a:prstGeom prst="roundRect">
            <a:avLst>
              <a:gd name="adj" fmla="val 17910"/>
            </a:avLst>
          </a:prstGeom>
          <a:solidFill>
            <a:srgbClr val="8C1C2B"/>
          </a:solidFill>
          <a:ln>
            <a:noFill/>
          </a:ln>
        </p:spPr>
        <p:txBody>
          <a:bodyPr rtlCol="0" anchor="ctr" wrap="none" lIns="127000" tIns="63500" rIns="127000" bIns="63500">
            <a:noAutofit/>
          </a:bodyPr>
          <a:lstStyle/>
          <a:p>
            <a:pPr algn="r">
              <a:lnSpc>
                <a:spcPts val="1994"/>
              </a:lnSpc>
            </a:pPr>
            <a:r>
              <a:rPr sz="1700" b="0" i="0">
                <a:solidFill>
                  <a:srgbClr val="F6EAD3"/>
                </a:solidFill>
                <a:highlight>
                  <a:srgbClr val="8C1C2B"/>
                </a:highlight>
                <a:latin typeface="Alegreya"/>
              </a:rPr>
              <a:t>«Tarjeta». Pagado.</a:t>
            </a:r>
            <a:endParaRPr sz="1700"/>
          </a:p>
        </p:txBody>
      </p:sp>
      <p:sp>
        <p:nvSpPr>
          <p:cNvPr id="7" name="!!narrador-ruta"/>
          <p:cNvSpPr txBox="1"/>
          <p:nvPr/>
        </p:nvSpPr>
        <p:spPr>
          <a:xfrm>
            <a:off x="8419207" y="1098550"/>
            <a:ext cx="3163193" cy="177800"/>
          </a:xfrm>
          <a:prstGeom prst="rect">
            <a:avLst/>
          </a:prstGeom>
          <a:noFill/>
        </p:spPr>
        <p:txBody>
          <a:bodyPr wrap="none" lIns="381000" tIns="8552" rIns="0" bIns="0" anchor="t">
            <a:noAutofit/>
          </a:bodyPr>
          <a:lstStyle/>
          <a:p>
            <a:pPr algn="r">
              <a:lnSpc>
                <a:spcPts val="1407"/>
              </a:lnSpc>
            </a:pPr>
            <a:r>
              <a:rPr sz="1200" b="1" i="0">
                <a:solidFill>
                  <a:srgbClr val="5F5F66"/>
                </a:solidFill>
                <a:latin typeface="Work Sans"/>
              </a:rPr>
              <a:t>la mesa queda libre para el siguiente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mapa" descr="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lockup"/>
          <p:cNvSpPr/>
          <p:nvPr/>
        </p:nvSpPr>
        <p:spPr>
          <a:xfrm>
            <a:off x="609600" y="533400"/>
            <a:ext cx="506938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Detrás de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 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te</a:t>
            </a:r>
            <a:r>
              <a:rPr sz="4000" b="0" i="0" cap="all" spc="-200">
                <a:solidFill>
                  <a:srgbClr val="FFFFFF"/>
                </a:solidFill>
                <a:latin typeface="Work Sans Black"/>
              </a:rPr>
              <a:t>l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ón</a:t>
            </a:r>
            <a:endParaRPr sz="4000"/>
          </a:p>
        </p:txBody>
      </p:sp>
      <p:sp>
        <p:nvSpPr>
          <p:cNvPr id="4" name="!!cifras"/>
          <p:cNvSpPr txBox="1"/>
          <p:nvPr/>
        </p:nvSpPr>
        <p:spPr>
          <a:xfrm>
            <a:off x="6049863" y="584200"/>
            <a:ext cx="5532537" cy="539750"/>
          </a:xfrm>
          <a:prstGeom prst="rect">
            <a:avLst/>
          </a:prstGeom>
          <a:noFill/>
        </p:spPr>
        <p:txBody>
          <a:bodyPr wrap="none" lIns="0" tIns="8042" rIns="0" bIns="0" anchor="t">
            <a:noAutofit/>
          </a:bodyPr>
          <a:lstStyle/>
          <a:p>
            <a:pPr algn="r">
              <a:lnSpc>
                <a:spcPts val="2125"/>
              </a:lnSpc>
            </a:pPr>
            <a:r>
              <a:rPr sz="1700" b="0" i="0" spc="-17">
                <a:solidFill>
                  <a:srgbClr val="0B0B0D"/>
                </a:solidFill>
                <a:latin typeface="Work Sans ExtraBold"/>
              </a:rPr>
              <a:t>6 contenedores · MCP y A2A · 1 base de conocimiento</a:t>
            </a:r>
            <a:br/>
            <a:r>
              <a:rPr sz="1700" b="0" i="0" spc="-17">
                <a:solidFill>
                  <a:srgbClr val="0B0B0D"/>
                </a:solidFill>
                <a:latin typeface="Work Sans ExtraBold"/>
              </a:rPr>
              <a:t>2 botones que deciden · </a:t>
            </a:r>
            <a:r>
              <a:rPr sz="1700" b="0" i="0" spc="-17">
                <a:solidFill>
                  <a:srgbClr val="0B0B0D"/>
                </a:solidFill>
                <a:highlight>
                  <a:srgbClr val="EF6B3B"/>
                </a:highlight>
                <a:latin typeface="Work Sans Black"/>
              </a:rPr>
              <a:t>0 magia</a:t>
            </a:r>
            <a:endParaRPr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16334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Reglas de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casa</a:t>
            </a:r>
            <a:endParaRPr sz="4000"/>
          </a:p>
        </p:txBody>
      </p:sp>
      <p:sp>
        <p:nvSpPr>
          <p:cNvPr id="3" name="!!regla-linea-0"/>
          <p:cNvSpPr/>
          <p:nvPr/>
        </p:nvSpPr>
        <p:spPr>
          <a:xfrm>
            <a:off x="609600" y="158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regla-bola-0" descr="bol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81175"/>
            <a:ext cx="584200" cy="584200"/>
          </a:xfrm>
          <a:prstGeom prst="rect">
            <a:avLst/>
          </a:prstGeom>
        </p:spPr>
      </p:pic>
      <p:sp>
        <p:nvSpPr>
          <p:cNvPr id="5" name="!!regla-h3-0"/>
          <p:cNvSpPr txBox="1"/>
          <p:nvPr/>
        </p:nvSpPr>
        <p:spPr>
          <a:xfrm>
            <a:off x="1371600" y="160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C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da uno a lo su</a:t>
            </a:r>
            <a:r>
              <a:rPr sz="2900" b="0" i="0" spc="-145">
                <a:solidFill>
                  <a:srgbClr val="0B0B0D"/>
                </a:solidFill>
                <a:latin typeface="Work Sans Black"/>
              </a:rPr>
              <a:t>y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o</a:t>
            </a:r>
            <a:endParaRPr sz="2900"/>
          </a:p>
        </p:txBody>
      </p:sp>
      <p:sp>
        <p:nvSpPr>
          <p:cNvPr id="6" name="!!regla-p-0"/>
          <p:cNvSpPr txBox="1"/>
          <p:nvPr/>
        </p:nvSpPr>
        <p:spPr>
          <a:xfrm>
            <a:off x="6985000" y="1830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Agentes pequeños y especialistas, y uno que sabe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a quién pedir cada cosa.</a:t>
            </a:r>
            <a:endParaRPr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16334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Reglas de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casa</a:t>
            </a:r>
            <a:endParaRPr sz="4000"/>
          </a:p>
        </p:txBody>
      </p:sp>
      <p:sp>
        <p:nvSpPr>
          <p:cNvPr id="3" name="!!regla-linea-0"/>
          <p:cNvSpPr/>
          <p:nvPr/>
        </p:nvSpPr>
        <p:spPr>
          <a:xfrm>
            <a:off x="609600" y="158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regla-bola-0" descr="bol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81175"/>
            <a:ext cx="584200" cy="584200"/>
          </a:xfrm>
          <a:prstGeom prst="rect">
            <a:avLst/>
          </a:prstGeom>
        </p:spPr>
      </p:pic>
      <p:sp>
        <p:nvSpPr>
          <p:cNvPr id="5" name="!!regla-h3-0"/>
          <p:cNvSpPr txBox="1"/>
          <p:nvPr/>
        </p:nvSpPr>
        <p:spPr>
          <a:xfrm>
            <a:off x="1371600" y="160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C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da uno a lo su</a:t>
            </a:r>
            <a:r>
              <a:rPr sz="2900" b="0" i="0" spc="-145">
                <a:solidFill>
                  <a:srgbClr val="0B0B0D"/>
                </a:solidFill>
                <a:latin typeface="Work Sans Black"/>
              </a:rPr>
              <a:t>y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o</a:t>
            </a:r>
            <a:endParaRPr sz="2900"/>
          </a:p>
        </p:txBody>
      </p:sp>
      <p:sp>
        <p:nvSpPr>
          <p:cNvPr id="6" name="!!regla-p-0"/>
          <p:cNvSpPr txBox="1"/>
          <p:nvPr/>
        </p:nvSpPr>
        <p:spPr>
          <a:xfrm>
            <a:off x="6985000" y="1830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Agentes pequeños y especialistas, y uno que sabe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a quién pedir cada cosa.</a:t>
            </a:r>
            <a:endParaRPr sz="1450"/>
          </a:p>
        </p:txBody>
      </p:sp>
      <p:sp>
        <p:nvSpPr>
          <p:cNvPr id="7" name="!!regla-linea-1"/>
          <p:cNvSpPr/>
          <p:nvPr/>
        </p:nvSpPr>
        <p:spPr>
          <a:xfrm>
            <a:off x="609600" y="2540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!!regla-bola-1" descr="bol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733675"/>
            <a:ext cx="584200" cy="584200"/>
          </a:xfrm>
          <a:prstGeom prst="rect">
            <a:avLst/>
          </a:prstGeom>
        </p:spPr>
      </p:pic>
      <p:sp>
        <p:nvSpPr>
          <p:cNvPr id="9" name="!!regla-h3-1"/>
          <p:cNvSpPr txBox="1"/>
          <p:nvPr/>
        </p:nvSpPr>
        <p:spPr>
          <a:xfrm>
            <a:off x="1371600" y="2559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Si no es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á en </a:t>
            </a:r>
            <a:r>
              <a:rPr sz="2900" b="0" i="0" spc="-64">
                <a:solidFill>
                  <a:srgbClr val="0B0B0D"/>
                </a:solidFill>
                <a:latin typeface="Work Sans Black"/>
              </a:rPr>
              <a:t>l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 car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4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no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xiste</a:t>
            </a:r>
            <a:endParaRPr sz="2900"/>
          </a:p>
        </p:txBody>
      </p:sp>
      <p:sp>
        <p:nvSpPr>
          <p:cNvPr id="10" name="!!regla-p-1"/>
          <p:cNvSpPr txBox="1"/>
          <p:nvPr/>
        </p:nvSpPr>
        <p:spPr>
          <a:xfrm>
            <a:off x="6985000" y="27827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La IA responde con tus documentos y dice de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dónde lo ha sacado.</a:t>
            </a:r>
            <a:endParaRPr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16334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Reglas de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casa</a:t>
            </a:r>
            <a:endParaRPr sz="4000"/>
          </a:p>
        </p:txBody>
      </p:sp>
      <p:sp>
        <p:nvSpPr>
          <p:cNvPr id="3" name="!!regla-linea-0"/>
          <p:cNvSpPr/>
          <p:nvPr/>
        </p:nvSpPr>
        <p:spPr>
          <a:xfrm>
            <a:off x="609600" y="158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regla-bola-0" descr="bol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81175"/>
            <a:ext cx="584200" cy="584200"/>
          </a:xfrm>
          <a:prstGeom prst="rect">
            <a:avLst/>
          </a:prstGeom>
        </p:spPr>
      </p:pic>
      <p:sp>
        <p:nvSpPr>
          <p:cNvPr id="5" name="!!regla-h3-0"/>
          <p:cNvSpPr txBox="1"/>
          <p:nvPr/>
        </p:nvSpPr>
        <p:spPr>
          <a:xfrm>
            <a:off x="1371600" y="160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C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da uno a lo su</a:t>
            </a:r>
            <a:r>
              <a:rPr sz="2900" b="0" i="0" spc="-145">
                <a:solidFill>
                  <a:srgbClr val="0B0B0D"/>
                </a:solidFill>
                <a:latin typeface="Work Sans Black"/>
              </a:rPr>
              <a:t>y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o</a:t>
            </a:r>
            <a:endParaRPr sz="2900"/>
          </a:p>
        </p:txBody>
      </p:sp>
      <p:sp>
        <p:nvSpPr>
          <p:cNvPr id="6" name="!!regla-p-0"/>
          <p:cNvSpPr txBox="1"/>
          <p:nvPr/>
        </p:nvSpPr>
        <p:spPr>
          <a:xfrm>
            <a:off x="6985000" y="1830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Agentes pequeños y especialistas, y uno que sabe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a quién pedir cada cosa.</a:t>
            </a:r>
            <a:endParaRPr sz="1450"/>
          </a:p>
        </p:txBody>
      </p:sp>
      <p:sp>
        <p:nvSpPr>
          <p:cNvPr id="7" name="!!regla-linea-1"/>
          <p:cNvSpPr/>
          <p:nvPr/>
        </p:nvSpPr>
        <p:spPr>
          <a:xfrm>
            <a:off x="609600" y="2540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!!regla-bola-1" descr="bol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733675"/>
            <a:ext cx="584200" cy="584200"/>
          </a:xfrm>
          <a:prstGeom prst="rect">
            <a:avLst/>
          </a:prstGeom>
        </p:spPr>
      </p:pic>
      <p:sp>
        <p:nvSpPr>
          <p:cNvPr id="9" name="!!regla-h3-1"/>
          <p:cNvSpPr txBox="1"/>
          <p:nvPr/>
        </p:nvSpPr>
        <p:spPr>
          <a:xfrm>
            <a:off x="1371600" y="2559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Si no es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á en </a:t>
            </a:r>
            <a:r>
              <a:rPr sz="2900" b="0" i="0" spc="-64">
                <a:solidFill>
                  <a:srgbClr val="0B0B0D"/>
                </a:solidFill>
                <a:latin typeface="Work Sans Black"/>
              </a:rPr>
              <a:t>l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 car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4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no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xiste</a:t>
            </a:r>
            <a:endParaRPr sz="2900"/>
          </a:p>
        </p:txBody>
      </p:sp>
      <p:sp>
        <p:nvSpPr>
          <p:cNvPr id="10" name="!!regla-p-1"/>
          <p:cNvSpPr txBox="1"/>
          <p:nvPr/>
        </p:nvSpPr>
        <p:spPr>
          <a:xfrm>
            <a:off x="6985000" y="27827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La IA responde con tus documentos y dice de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dónde lo ha sacado.</a:t>
            </a:r>
            <a:endParaRPr sz="1450"/>
          </a:p>
        </p:txBody>
      </p:sp>
      <p:sp>
        <p:nvSpPr>
          <p:cNvPr id="11" name="!!regla-linea-2"/>
          <p:cNvSpPr/>
          <p:nvPr/>
        </p:nvSpPr>
        <p:spPr>
          <a:xfrm>
            <a:off x="609600" y="3492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regla-bola-2" descr="bola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686175"/>
            <a:ext cx="584200" cy="584200"/>
          </a:xfrm>
          <a:prstGeom prst="rect">
            <a:avLst/>
          </a:prstGeom>
        </p:spPr>
      </p:pic>
      <p:sp>
        <p:nvSpPr>
          <p:cNvPr id="13" name="!!regla-h3-2"/>
          <p:cNvSpPr txBox="1"/>
          <p:nvPr/>
        </p:nvSpPr>
        <p:spPr>
          <a:xfrm>
            <a:off x="1371600" y="3511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ct</a:t>
            </a:r>
            <a:r>
              <a:rPr sz="2900" b="0" i="0" spc="-139">
                <a:solidFill>
                  <a:srgbClr val="0B0B0D"/>
                </a:solidFill>
                <a:latin typeface="Work Sans Black"/>
              </a:rPr>
              <a:t>o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con código</a:t>
            </a:r>
            <a:endParaRPr sz="2900"/>
          </a:p>
        </p:txBody>
      </p:sp>
      <p:sp>
        <p:nvSpPr>
          <p:cNvPr id="14" name="!!regla-p-2"/>
          <p:cNvSpPr txBox="1"/>
          <p:nvPr/>
        </p:nvSpPr>
        <p:spPr>
          <a:xfrm>
            <a:off x="6985000" y="3735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Mesas, alérgenos, precios y pagos no se dejan a la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intuición del modelo.</a:t>
            </a:r>
            <a:endParaRPr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16334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Reglas de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casa</a:t>
            </a:r>
            <a:endParaRPr sz="4000"/>
          </a:p>
        </p:txBody>
      </p:sp>
      <p:sp>
        <p:nvSpPr>
          <p:cNvPr id="3" name="!!regla-linea-0"/>
          <p:cNvSpPr/>
          <p:nvPr/>
        </p:nvSpPr>
        <p:spPr>
          <a:xfrm>
            <a:off x="609600" y="158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regla-bola-0" descr="bol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81175"/>
            <a:ext cx="584200" cy="584200"/>
          </a:xfrm>
          <a:prstGeom prst="rect">
            <a:avLst/>
          </a:prstGeom>
        </p:spPr>
      </p:pic>
      <p:sp>
        <p:nvSpPr>
          <p:cNvPr id="5" name="!!regla-h3-0"/>
          <p:cNvSpPr txBox="1"/>
          <p:nvPr/>
        </p:nvSpPr>
        <p:spPr>
          <a:xfrm>
            <a:off x="1371600" y="160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C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da uno a lo su</a:t>
            </a:r>
            <a:r>
              <a:rPr sz="2900" b="0" i="0" spc="-145">
                <a:solidFill>
                  <a:srgbClr val="0B0B0D"/>
                </a:solidFill>
                <a:latin typeface="Work Sans Black"/>
              </a:rPr>
              <a:t>y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o</a:t>
            </a:r>
            <a:endParaRPr sz="2900"/>
          </a:p>
        </p:txBody>
      </p:sp>
      <p:sp>
        <p:nvSpPr>
          <p:cNvPr id="6" name="!!regla-p-0"/>
          <p:cNvSpPr txBox="1"/>
          <p:nvPr/>
        </p:nvSpPr>
        <p:spPr>
          <a:xfrm>
            <a:off x="6985000" y="1830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Agentes pequeños y especialistas, y uno que sabe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a quién pedir cada cosa.</a:t>
            </a:r>
            <a:endParaRPr sz="1450"/>
          </a:p>
        </p:txBody>
      </p:sp>
      <p:sp>
        <p:nvSpPr>
          <p:cNvPr id="7" name="!!regla-linea-1"/>
          <p:cNvSpPr/>
          <p:nvPr/>
        </p:nvSpPr>
        <p:spPr>
          <a:xfrm>
            <a:off x="609600" y="2540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!!regla-bola-1" descr="bol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733675"/>
            <a:ext cx="584200" cy="584200"/>
          </a:xfrm>
          <a:prstGeom prst="rect">
            <a:avLst/>
          </a:prstGeom>
        </p:spPr>
      </p:pic>
      <p:sp>
        <p:nvSpPr>
          <p:cNvPr id="9" name="!!regla-h3-1"/>
          <p:cNvSpPr txBox="1"/>
          <p:nvPr/>
        </p:nvSpPr>
        <p:spPr>
          <a:xfrm>
            <a:off x="1371600" y="2559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Si no es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á en </a:t>
            </a:r>
            <a:r>
              <a:rPr sz="2900" b="0" i="0" spc="-64">
                <a:solidFill>
                  <a:srgbClr val="0B0B0D"/>
                </a:solidFill>
                <a:latin typeface="Work Sans Black"/>
              </a:rPr>
              <a:t>l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 car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4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no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xiste</a:t>
            </a:r>
            <a:endParaRPr sz="2900"/>
          </a:p>
        </p:txBody>
      </p:sp>
      <p:sp>
        <p:nvSpPr>
          <p:cNvPr id="10" name="!!regla-p-1"/>
          <p:cNvSpPr txBox="1"/>
          <p:nvPr/>
        </p:nvSpPr>
        <p:spPr>
          <a:xfrm>
            <a:off x="6985000" y="27827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La IA responde con tus documentos y dice de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dónde lo ha sacado.</a:t>
            </a:r>
            <a:endParaRPr sz="1450"/>
          </a:p>
        </p:txBody>
      </p:sp>
      <p:sp>
        <p:nvSpPr>
          <p:cNvPr id="11" name="!!regla-linea-2"/>
          <p:cNvSpPr/>
          <p:nvPr/>
        </p:nvSpPr>
        <p:spPr>
          <a:xfrm>
            <a:off x="609600" y="3492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regla-bola-2" descr="bola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686175"/>
            <a:ext cx="584200" cy="584200"/>
          </a:xfrm>
          <a:prstGeom prst="rect">
            <a:avLst/>
          </a:prstGeom>
        </p:spPr>
      </p:pic>
      <p:sp>
        <p:nvSpPr>
          <p:cNvPr id="13" name="!!regla-h3-2"/>
          <p:cNvSpPr txBox="1"/>
          <p:nvPr/>
        </p:nvSpPr>
        <p:spPr>
          <a:xfrm>
            <a:off x="1371600" y="3511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ct</a:t>
            </a:r>
            <a:r>
              <a:rPr sz="2900" b="0" i="0" spc="-139">
                <a:solidFill>
                  <a:srgbClr val="0B0B0D"/>
                </a:solidFill>
                <a:latin typeface="Work Sans Black"/>
              </a:rPr>
              <a:t>o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con código</a:t>
            </a:r>
            <a:endParaRPr sz="2900"/>
          </a:p>
        </p:txBody>
      </p:sp>
      <p:sp>
        <p:nvSpPr>
          <p:cNvPr id="14" name="!!regla-p-2"/>
          <p:cNvSpPr txBox="1"/>
          <p:nvPr/>
        </p:nvSpPr>
        <p:spPr>
          <a:xfrm>
            <a:off x="6985000" y="3735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Mesas, alérgenos, precios y pagos no se dejan a la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intuición del modelo.</a:t>
            </a:r>
            <a:endParaRPr sz="1450"/>
          </a:p>
        </p:txBody>
      </p:sp>
      <p:sp>
        <p:nvSpPr>
          <p:cNvPr id="15" name="!!regla-linea-3"/>
          <p:cNvSpPr/>
          <p:nvPr/>
        </p:nvSpPr>
        <p:spPr>
          <a:xfrm>
            <a:off x="609600" y="4445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!!regla-bola-3" descr="bola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4638675"/>
            <a:ext cx="584200" cy="584200"/>
          </a:xfrm>
          <a:prstGeom prst="rect">
            <a:avLst/>
          </a:prstGeom>
        </p:spPr>
      </p:pic>
      <p:sp>
        <p:nvSpPr>
          <p:cNvPr id="17" name="!!regla-h3-3"/>
          <p:cNvSpPr txBox="1"/>
          <p:nvPr/>
        </p:nvSpPr>
        <p:spPr>
          <a:xfrm>
            <a:off x="1371600" y="4464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La I</a:t>
            </a:r>
            <a:r>
              <a:rPr sz="2900" b="0" i="0" spc="-130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 propone</a:t>
            </a:r>
            <a:r>
              <a:rPr sz="2900" b="0" i="0" spc="-44">
                <a:solidFill>
                  <a:srgbClr val="0B0B0D"/>
                </a:solidFill>
                <a:latin typeface="Work Sans Black"/>
              </a:rPr>
              <a:t>;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 tú decides</a:t>
            </a:r>
            <a:endParaRPr sz="2900"/>
          </a:p>
        </p:txBody>
      </p:sp>
      <p:sp>
        <p:nvSpPr>
          <p:cNvPr id="18" name="!!regla-p-3"/>
          <p:cNvSpPr txBox="1"/>
          <p:nvPr/>
        </p:nvSpPr>
        <p:spPr>
          <a:xfrm>
            <a:off x="6985000" y="4809232"/>
            <a:ext cx="4597400" cy="242987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Los botones confirman. Un mensaje nunca paga.</a:t>
            </a:r>
            <a:endParaRPr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lockup"/>
          <p:cNvSpPr/>
          <p:nvPr/>
        </p:nvSpPr>
        <p:spPr>
          <a:xfrm>
            <a:off x="609600" y="533400"/>
            <a:ext cx="5163344" cy="6985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 wrap="none" lIns="152400" tIns="138938" rIns="152400" bIns="51562">
            <a:noAutofit/>
          </a:bodyPr>
          <a:lstStyle/>
          <a:p>
            <a:pPr algn="l">
              <a:lnSpc>
                <a:spcPts val="4000"/>
              </a:lnSpc>
            </a:pP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Reglas de l</a:t>
            </a:r>
            <a:r>
              <a:rPr sz="4000" b="0" i="0" cap="all" spc="-160">
                <a:solidFill>
                  <a:srgbClr val="FFFFFF"/>
                </a:solidFill>
                <a:latin typeface="Work Sans Black"/>
              </a:rPr>
              <a:t>a</a:t>
            </a:r>
            <a:r>
              <a:rPr sz="4000" b="0" i="0" cap="all" spc="-120">
                <a:solidFill>
                  <a:srgbClr val="FFFFFF"/>
                </a:solidFill>
                <a:latin typeface="Work Sans Black"/>
              </a:rPr>
              <a:t> casa</a:t>
            </a:r>
            <a:endParaRPr sz="4000"/>
          </a:p>
        </p:txBody>
      </p:sp>
      <p:sp>
        <p:nvSpPr>
          <p:cNvPr id="3" name="!!regla-linea-0"/>
          <p:cNvSpPr/>
          <p:nvPr/>
        </p:nvSpPr>
        <p:spPr>
          <a:xfrm>
            <a:off x="609600" y="158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!!regla-bola-0" descr="bola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781175"/>
            <a:ext cx="584200" cy="584200"/>
          </a:xfrm>
          <a:prstGeom prst="rect">
            <a:avLst/>
          </a:prstGeom>
        </p:spPr>
      </p:pic>
      <p:sp>
        <p:nvSpPr>
          <p:cNvPr id="5" name="!!regla-h3-0"/>
          <p:cNvSpPr txBox="1"/>
          <p:nvPr/>
        </p:nvSpPr>
        <p:spPr>
          <a:xfrm>
            <a:off x="1371600" y="160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C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da uno a lo su</a:t>
            </a:r>
            <a:r>
              <a:rPr sz="2900" b="0" i="0" spc="-145">
                <a:solidFill>
                  <a:srgbClr val="0B0B0D"/>
                </a:solidFill>
                <a:latin typeface="Work Sans Black"/>
              </a:rPr>
              <a:t>y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o</a:t>
            </a:r>
            <a:endParaRPr sz="2900"/>
          </a:p>
        </p:txBody>
      </p:sp>
      <p:sp>
        <p:nvSpPr>
          <p:cNvPr id="6" name="!!regla-p-0"/>
          <p:cNvSpPr txBox="1"/>
          <p:nvPr/>
        </p:nvSpPr>
        <p:spPr>
          <a:xfrm>
            <a:off x="6985000" y="1830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Agentes pequeños y especialistas, y uno que sabe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a quién pedir cada cosa.</a:t>
            </a:r>
            <a:endParaRPr sz="1450"/>
          </a:p>
        </p:txBody>
      </p:sp>
      <p:sp>
        <p:nvSpPr>
          <p:cNvPr id="7" name="!!regla-linea-1"/>
          <p:cNvSpPr/>
          <p:nvPr/>
        </p:nvSpPr>
        <p:spPr>
          <a:xfrm>
            <a:off x="609600" y="2540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!!regla-bola-1" descr="bol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733675"/>
            <a:ext cx="584200" cy="584200"/>
          </a:xfrm>
          <a:prstGeom prst="rect">
            <a:avLst/>
          </a:prstGeom>
        </p:spPr>
      </p:pic>
      <p:sp>
        <p:nvSpPr>
          <p:cNvPr id="9" name="!!regla-h3-1"/>
          <p:cNvSpPr txBox="1"/>
          <p:nvPr/>
        </p:nvSpPr>
        <p:spPr>
          <a:xfrm>
            <a:off x="1371600" y="2559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Si no es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á en </a:t>
            </a:r>
            <a:r>
              <a:rPr sz="2900" b="0" i="0" spc="-64">
                <a:solidFill>
                  <a:srgbClr val="0B0B0D"/>
                </a:solidFill>
                <a:latin typeface="Work Sans Black"/>
              </a:rPr>
              <a:t>l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 car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4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no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xiste</a:t>
            </a:r>
            <a:endParaRPr sz="2900"/>
          </a:p>
        </p:txBody>
      </p:sp>
      <p:sp>
        <p:nvSpPr>
          <p:cNvPr id="10" name="!!regla-p-1"/>
          <p:cNvSpPr txBox="1"/>
          <p:nvPr/>
        </p:nvSpPr>
        <p:spPr>
          <a:xfrm>
            <a:off x="6985000" y="27827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La IA responde con tus documentos y dice de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dónde lo ha sacado.</a:t>
            </a:r>
            <a:endParaRPr sz="1450"/>
          </a:p>
        </p:txBody>
      </p:sp>
      <p:sp>
        <p:nvSpPr>
          <p:cNvPr id="11" name="!!regla-linea-2"/>
          <p:cNvSpPr/>
          <p:nvPr/>
        </p:nvSpPr>
        <p:spPr>
          <a:xfrm>
            <a:off x="609600" y="3492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!!regla-bola-2" descr="bola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686175"/>
            <a:ext cx="584200" cy="584200"/>
          </a:xfrm>
          <a:prstGeom prst="rect">
            <a:avLst/>
          </a:prstGeom>
        </p:spPr>
      </p:pic>
      <p:sp>
        <p:nvSpPr>
          <p:cNvPr id="13" name="!!regla-h3-2"/>
          <p:cNvSpPr txBox="1"/>
          <p:nvPr/>
        </p:nvSpPr>
        <p:spPr>
          <a:xfrm>
            <a:off x="1371600" y="3511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Lo </a:t>
            </a:r>
            <a:r>
              <a:rPr sz="2900" b="0" i="0" spc="-192">
                <a:solidFill>
                  <a:srgbClr val="0B0B0D"/>
                </a:solidFill>
                <a:latin typeface="Work Sans Black"/>
              </a:rPr>
              <a:t>e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x</a:t>
            </a:r>
            <a:r>
              <a:rPr sz="2900" b="0" i="0" spc="-119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ct</a:t>
            </a:r>
            <a:r>
              <a:rPr sz="2900" b="0" i="0" spc="-139">
                <a:solidFill>
                  <a:srgbClr val="0B0B0D"/>
                </a:solidFill>
                <a:latin typeface="Work Sans Black"/>
              </a:rPr>
              <a:t>o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con código</a:t>
            </a:r>
            <a:endParaRPr sz="2900"/>
          </a:p>
        </p:txBody>
      </p:sp>
      <p:sp>
        <p:nvSpPr>
          <p:cNvPr id="14" name="!!regla-p-2"/>
          <p:cNvSpPr txBox="1"/>
          <p:nvPr/>
        </p:nvSpPr>
        <p:spPr>
          <a:xfrm>
            <a:off x="6985000" y="3735288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Mesas, alérgenos, precios y pagos no se dejan a la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intuición del modelo.</a:t>
            </a:r>
            <a:endParaRPr sz="1450"/>
          </a:p>
        </p:txBody>
      </p:sp>
      <p:sp>
        <p:nvSpPr>
          <p:cNvPr id="15" name="!!regla-linea-3"/>
          <p:cNvSpPr/>
          <p:nvPr/>
        </p:nvSpPr>
        <p:spPr>
          <a:xfrm>
            <a:off x="609600" y="44450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!!regla-bola-3" descr="bola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4638675"/>
            <a:ext cx="584200" cy="584200"/>
          </a:xfrm>
          <a:prstGeom prst="rect">
            <a:avLst/>
          </a:prstGeom>
        </p:spPr>
      </p:pic>
      <p:sp>
        <p:nvSpPr>
          <p:cNvPr id="17" name="!!regla-h3-3"/>
          <p:cNvSpPr txBox="1"/>
          <p:nvPr/>
        </p:nvSpPr>
        <p:spPr>
          <a:xfrm>
            <a:off x="1371600" y="44640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La I</a:t>
            </a:r>
            <a:r>
              <a:rPr sz="2900" b="0" i="0" spc="-130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 propone</a:t>
            </a:r>
            <a:r>
              <a:rPr sz="2900" b="0" i="0" spc="-44">
                <a:solidFill>
                  <a:srgbClr val="0B0B0D"/>
                </a:solidFill>
                <a:latin typeface="Work Sans Black"/>
              </a:rPr>
              <a:t>;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 tú decides</a:t>
            </a:r>
            <a:endParaRPr sz="2900"/>
          </a:p>
        </p:txBody>
      </p:sp>
      <p:sp>
        <p:nvSpPr>
          <p:cNvPr id="18" name="!!regla-p-3"/>
          <p:cNvSpPr txBox="1"/>
          <p:nvPr/>
        </p:nvSpPr>
        <p:spPr>
          <a:xfrm>
            <a:off x="6985000" y="4809232"/>
            <a:ext cx="4597400" cy="242987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Los botones confirman. Un mensaje nunca paga.</a:t>
            </a:r>
            <a:endParaRPr sz="1450"/>
          </a:p>
        </p:txBody>
      </p:sp>
      <p:sp>
        <p:nvSpPr>
          <p:cNvPr id="19" name="!!regla-linea-4"/>
          <p:cNvSpPr/>
          <p:nvPr/>
        </p:nvSpPr>
        <p:spPr>
          <a:xfrm>
            <a:off x="609600" y="539750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regla-linea-fin"/>
          <p:cNvSpPr/>
          <p:nvPr/>
        </p:nvSpPr>
        <p:spPr>
          <a:xfrm>
            <a:off x="609600" y="6330950"/>
            <a:ext cx="10972800" cy="1905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!!regla-bola-4" descr="bola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" y="5581650"/>
            <a:ext cx="584200" cy="584200"/>
          </a:xfrm>
          <a:prstGeom prst="rect">
            <a:avLst/>
          </a:prstGeom>
        </p:spPr>
      </p:pic>
      <p:sp>
        <p:nvSpPr>
          <p:cNvPr id="22" name="!!regla-h3-4"/>
          <p:cNvSpPr txBox="1"/>
          <p:nvPr/>
        </p:nvSpPr>
        <p:spPr>
          <a:xfrm>
            <a:off x="1371600" y="5416550"/>
            <a:ext cx="5842000" cy="933450"/>
          </a:xfrm>
          <a:prstGeom prst="rect">
            <a:avLst/>
          </a:prstGeom>
          <a:noFill/>
        </p:spPr>
        <p:txBody>
          <a:bodyPr wrap="none" lIns="0" tIns="72555" rIns="0" bIns="0" anchor="ctr">
            <a:noAutofit/>
          </a:bodyPr>
          <a:lstStyle/>
          <a:p>
            <a:pPr algn="l">
              <a:lnSpc>
                <a:spcPts val="2900"/>
              </a:lnSpc>
            </a:pPr>
            <a:r>
              <a:rPr sz="2900" b="0" i="0" spc="-101">
                <a:solidFill>
                  <a:srgbClr val="0B0B0D"/>
                </a:solidFill>
                <a:latin typeface="Work Sans Black"/>
              </a:rPr>
              <a:t>La cocin</a:t>
            </a:r>
            <a:r>
              <a:rPr sz="2900" b="0" i="0" spc="-14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, a </a:t>
            </a:r>
            <a:r>
              <a:rPr sz="2900" b="0" i="0" spc="-64">
                <a:solidFill>
                  <a:srgbClr val="0B0B0D"/>
                </a:solidFill>
                <a:latin typeface="Work Sans Black"/>
              </a:rPr>
              <a:t>l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</a:t>
            </a:r>
            <a:r>
              <a:rPr sz="2900" b="0" i="0" spc="-160">
                <a:solidFill>
                  <a:srgbClr val="0B0B0D"/>
                </a:solidFill>
                <a:latin typeface="Work Sans Black"/>
              </a:rPr>
              <a:t> 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vis</a:t>
            </a:r>
            <a:r>
              <a:rPr sz="2900" b="0" i="0" spc="-61">
                <a:solidFill>
                  <a:srgbClr val="0B0B0D"/>
                </a:solidFill>
                <a:latin typeface="Work Sans Black"/>
              </a:rPr>
              <a:t>t</a:t>
            </a:r>
            <a:r>
              <a:rPr sz="2900" b="0" i="0" spc="-101">
                <a:solidFill>
                  <a:srgbClr val="0B0B0D"/>
                </a:solidFill>
                <a:latin typeface="Work Sans Black"/>
              </a:rPr>
              <a:t>a</a:t>
            </a:r>
            <a:endParaRPr sz="2900"/>
          </a:p>
        </p:txBody>
      </p:sp>
      <p:sp>
        <p:nvSpPr>
          <p:cNvPr id="23" name="!!regla-p-4"/>
          <p:cNvSpPr txBox="1"/>
          <p:nvPr/>
        </p:nvSpPr>
        <p:spPr>
          <a:xfrm>
            <a:off x="6985000" y="5630763"/>
            <a:ext cx="4597400" cy="485973"/>
          </a:xfrm>
          <a:prstGeom prst="rect">
            <a:avLst/>
          </a:prstGeom>
          <a:noFill/>
        </p:spPr>
        <p:txBody>
          <a:bodyPr wrap="none" lIns="0" tIns="3701" r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 i="0">
                <a:solidFill>
                  <a:srgbClr val="2A2A2E"/>
                </a:solidFill>
                <a:latin typeface="Work Sans"/>
              </a:rPr>
              <a:t>Cada paso se ve y se mide en «Bajo el capó». Lo</a:t>
            </a:r>
            <a:br/>
            <a:r>
              <a:rPr sz="1450" b="0" i="0">
                <a:solidFill>
                  <a:srgbClr val="2A2A2E"/>
                </a:solidFill>
                <a:latin typeface="Work Sans"/>
              </a:rPr>
              <a:t>que no se ve no se arregla.</a:t>
            </a:r>
            <a:endParaRPr sz="14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racias-titulo"/>
          <p:cNvSpPr txBox="1"/>
          <p:nvPr/>
        </p:nvSpPr>
        <p:spPr>
          <a:xfrm>
            <a:off x="609600" y="508000"/>
            <a:ext cx="6374209" cy="1092200"/>
          </a:xfrm>
          <a:prstGeom prst="rect">
            <a:avLst/>
          </a:prstGeom>
          <a:noFill/>
        </p:spPr>
        <p:txBody>
          <a:bodyPr wrap="none" lIns="0" tIns="168656" rIns="0" bIns="0" anchor="t">
            <a:noAutofit/>
          </a:bodyPr>
          <a:lstStyle/>
          <a:p>
            <a:pPr algn="l">
              <a:lnSpc>
                <a:spcPts val="8600"/>
              </a:lnSpc>
            </a:pPr>
            <a:r>
              <a:rPr sz="10000" b="0" i="0" cap="all" spc="-400">
                <a:solidFill>
                  <a:srgbClr val="0B0B0D"/>
                </a:solidFill>
                <a:latin typeface="Work Sans Black"/>
              </a:rPr>
              <a:t>¡Gr</a:t>
            </a:r>
            <a:r>
              <a:rPr sz="10000" b="0" i="0" cap="all" spc="-660">
                <a:solidFill>
                  <a:srgbClr val="0B0B0D"/>
                </a:solidFill>
                <a:latin typeface="Work Sans Black"/>
              </a:rPr>
              <a:t>a</a:t>
            </a:r>
            <a:r>
              <a:rPr sz="10000" b="0" i="0" cap="all" spc="-400">
                <a:solidFill>
                  <a:srgbClr val="0B0B0D"/>
                </a:solidFill>
                <a:latin typeface="Work Sans Black"/>
              </a:rPr>
              <a:t>cias!</a:t>
            </a:r>
            <a:endParaRPr sz="10000"/>
          </a:p>
        </p:txBody>
      </p:sp>
      <p:sp>
        <p:nvSpPr>
          <p:cNvPr id="3" name="!!gracias-preguntas"/>
          <p:cNvSpPr txBox="1"/>
          <p:nvPr/>
        </p:nvSpPr>
        <p:spPr>
          <a:xfrm>
            <a:off x="660400" y="1714500"/>
            <a:ext cx="5064919" cy="387350"/>
          </a:xfrm>
          <a:prstGeom prst="rect">
            <a:avLst/>
          </a:prstGeom>
          <a:noFill/>
        </p:spPr>
        <p:txBody>
          <a:bodyPr wrap="none" lIns="0" tIns="18529" rIns="0" bIns="0" anchor="t">
            <a:noAutofit/>
          </a:bodyPr>
          <a:lstStyle/>
          <a:p>
            <a:pPr algn="l">
              <a:lnSpc>
                <a:spcPts val="3049"/>
              </a:lnSpc>
            </a:pPr>
            <a:r>
              <a:rPr sz="2600" b="1" i="0" spc="-99">
                <a:solidFill>
                  <a:srgbClr val="0B0B0D"/>
                </a:solidFill>
                <a:latin typeface="Work Sans"/>
              </a:rPr>
              <a:t>¿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P</a:t>
            </a:r>
            <a:r>
              <a:rPr sz="2600" b="1" i="0" spc="-68">
                <a:solidFill>
                  <a:srgbClr val="0B0B0D"/>
                </a:solidFill>
                <a:latin typeface="Work Sans"/>
              </a:rPr>
              <a:t>r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egu</a:t>
            </a:r>
            <a:r>
              <a:rPr sz="2600" b="1" i="0" spc="-60">
                <a:solidFill>
                  <a:srgbClr val="0B0B0D"/>
                </a:solidFill>
                <a:latin typeface="Work Sans"/>
              </a:rPr>
              <a:t>n</a:t>
            </a:r>
            <a:r>
              <a:rPr sz="2600" b="1" i="0" spc="-31">
                <a:solidFill>
                  <a:srgbClr val="0B0B0D"/>
                </a:solidFill>
                <a:latin typeface="Work Sans"/>
              </a:rPr>
              <a:t>t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a</a:t>
            </a:r>
            <a:r>
              <a:rPr sz="2600" b="1" i="0" spc="-135">
                <a:solidFill>
                  <a:srgbClr val="0B0B0D"/>
                </a:solidFill>
                <a:latin typeface="Work Sans"/>
              </a:rPr>
              <a:t>s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? Elegid un</a:t>
            </a:r>
            <a:r>
              <a:rPr sz="2600" b="1" i="0" spc="-76">
                <a:solidFill>
                  <a:srgbClr val="0B0B0D"/>
                </a:solidFill>
                <a:latin typeface="Work Sans"/>
              </a:rPr>
              <a:t>a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 ca</a:t>
            </a:r>
            <a:r>
              <a:rPr sz="2600" b="1" i="0" spc="-83">
                <a:solidFill>
                  <a:srgbClr val="0B0B0D"/>
                </a:solidFill>
                <a:latin typeface="Work Sans"/>
              </a:rPr>
              <a:t>r</a:t>
            </a:r>
            <a:r>
              <a:rPr sz="2600" b="1" i="0" spc="-31">
                <a:solidFill>
                  <a:srgbClr val="0B0B0D"/>
                </a:solidFill>
                <a:latin typeface="Work Sans"/>
              </a:rPr>
              <a:t>t</a:t>
            </a:r>
            <a:r>
              <a:rPr sz="2600" b="1" i="0" spc="-5">
                <a:solidFill>
                  <a:srgbClr val="0B0B0D"/>
                </a:solidFill>
                <a:latin typeface="Work Sans"/>
              </a:rPr>
              <a:t>a</a:t>
            </a:r>
            <a:r>
              <a:rPr sz="2600" b="1" i="0" spc="-52">
                <a:solidFill>
                  <a:srgbClr val="0B0B0D"/>
                </a:solidFill>
                <a:latin typeface="Work Sans"/>
              </a:rPr>
              <a:t>.</a:t>
            </a:r>
            <a:endParaRPr sz="2600"/>
          </a:p>
        </p:txBody>
      </p:sp>
      <p:pic>
        <p:nvPicPr>
          <p:cNvPr id="4" name="!!gracias-logo" descr="dar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456" y="698500"/>
            <a:ext cx="2089944" cy="355600"/>
          </a:xfrm>
          <a:prstGeom prst="rect">
            <a:avLst/>
          </a:prstGeom>
        </p:spPr>
      </p:pic>
      <p:sp>
        <p:nvSpPr>
          <p:cNvPr id="5" name="!!qr-demo-carta-sombra">
            <a:hlinkClick action="ppaction://hlinksldjump" r:id="rId12"/>
          </p:cNvPr>
          <p:cNvSpPr/>
          <p:nvPr/>
        </p:nvSpPr>
        <p:spPr>
          <a:xfrm rot="21180000">
            <a:off x="1037418" y="2923846"/>
            <a:ext cx="2362200" cy="3556000"/>
          </a:xfrm>
          <a:prstGeom prst="roundRect">
            <a:avLst>
              <a:gd name="adj" fmla="val 4838"/>
            </a:avLst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qr-demo-carta">
            <a:hlinkClick action="ppaction://hlinksldjump" r:id="rId12"/>
          </p:cNvPr>
          <p:cNvSpPr/>
          <p:nvPr/>
        </p:nvSpPr>
        <p:spPr>
          <a:xfrm rot="21180000">
            <a:off x="965200" y="2870200"/>
            <a:ext cx="2336800" cy="3530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qr-demo-titulo">
            <a:hlinkClick action="ppaction://hlinksldjump" r:id="rId12"/>
          </p:cNvPr>
          <p:cNvSpPr txBox="1"/>
          <p:nvPr/>
        </p:nvSpPr>
        <p:spPr>
          <a:xfrm rot="21180000">
            <a:off x="962637" y="3100737"/>
            <a:ext cx="896739" cy="406400"/>
          </a:xfrm>
          <a:prstGeom prst="rect">
            <a:avLst/>
          </a:prstGeom>
          <a:noFill/>
        </p:spPr>
        <p:txBody>
          <a:bodyPr wrap="none" lIns="0" tIns="20015" r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0" i="0" cap="all" spc="-32">
                <a:solidFill>
                  <a:srgbClr val="0B0B0D"/>
                </a:solidFill>
                <a:latin typeface="Work Sans Black"/>
              </a:rPr>
              <a:t>Prueba</a:t>
            </a:r>
            <a:br/>
            <a:r>
              <a:rPr sz="1600" b="0" i="0" cap="all" spc="-32">
                <a:solidFill>
                  <a:srgbClr val="0B0B0D"/>
                </a:solidFill>
                <a:latin typeface="Work Sans Black"/>
              </a:rPr>
              <a:t>la demo</a:t>
            </a:r>
            <a:endParaRPr sz="1600"/>
          </a:p>
        </p:txBody>
      </p:sp>
      <p:pic>
        <p:nvPicPr>
          <p:cNvPr id="8" name="!!qr-demo-foto" descr="morcilla-negra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80000">
            <a:off x="2562200" y="2935600"/>
            <a:ext cx="387475" cy="406400"/>
          </a:xfrm>
          <a:prstGeom prst="rect">
            <a:avLst/>
          </a:prstGeom>
        </p:spPr>
      </p:pic>
      <p:pic>
        <p:nvPicPr>
          <p:cNvPr id="9" name="!!qr-demo-codigo" descr="qr-demo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80000">
            <a:off x="1114823" y="3506147"/>
            <a:ext cx="2006600" cy="2006600"/>
          </a:xfrm>
          <a:prstGeom prst="rect">
            <a:avLst/>
          </a:prstGeom>
        </p:spPr>
      </p:pic>
      <p:sp>
        <p:nvSpPr>
          <p:cNvPr id="10" name="!!qr-demo-pie">
            <a:hlinkClick action="ppaction://hlinksldjump" r:id="rId12"/>
          </p:cNvPr>
          <p:cNvSpPr txBox="1"/>
          <p:nvPr/>
        </p:nvSpPr>
        <p:spPr>
          <a:xfrm rot="21180000">
            <a:off x="1530143" y="5579480"/>
            <a:ext cx="1485602" cy="382588"/>
          </a:xfrm>
          <a:prstGeom prst="rect">
            <a:avLst/>
          </a:prstGeom>
          <a:noFill/>
        </p:spPr>
        <p:txBody>
          <a:bodyPr wrap="none" lIns="0" tIns="5440" rIns="0" bIns="0" anchor="t">
            <a:noAutofit/>
          </a:bodyPr>
          <a:lstStyle/>
          <a:p>
            <a:pPr algn="ctr">
              <a:lnSpc>
                <a:spcPts val="1437"/>
              </a:lnSpc>
            </a:pPr>
            <a:r>
              <a:rPr sz="1150" b="0" i="0">
                <a:solidFill>
                  <a:srgbClr val="0B0B0D"/>
                </a:solidFill>
                <a:latin typeface="Work Sans SemiBold"/>
              </a:rPr>
              <a:t>Entra con tu nombre</a:t>
            </a:r>
            <a:endParaRPr sz="1150"/>
          </a:p>
          <a:p>
            <a:pPr algn="ctr">
              <a:lnSpc>
                <a:spcPts val="1437"/>
              </a:lnSpc>
            </a:pPr>
            <a:r>
              <a:rPr sz="1100" b="0" i="0">
                <a:solidFill>
                  <a:srgbClr val="5F5F66"/>
                </a:solidFill>
                <a:latin typeface="Work Sans Medium"/>
              </a:rPr>
              <a:t>El mesón, en Azure</a:t>
            </a:r>
            <a:endParaRPr sz="1100"/>
          </a:p>
        </p:txBody>
      </p:sp>
      <p:sp>
        <p:nvSpPr>
          <p:cNvPr id="11" name="!!qr-repo-carta-sombra">
            <a:hlinkClick action="ppaction://hlinksldjump" r:id="rId13"/>
          </p:cNvPr>
          <p:cNvSpPr/>
          <p:nvPr/>
        </p:nvSpPr>
        <p:spPr>
          <a:xfrm rot="21450000">
            <a:off x="3686251" y="2739804"/>
            <a:ext cx="2362200" cy="3556000"/>
          </a:xfrm>
          <a:prstGeom prst="roundRect">
            <a:avLst>
              <a:gd name="adj" fmla="val 4838"/>
            </a:avLst>
          </a:pr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qr-repo-carta">
            <a:hlinkClick action="ppaction://hlinksldjump" r:id="rId13"/>
          </p:cNvPr>
          <p:cNvSpPr/>
          <p:nvPr/>
        </p:nvSpPr>
        <p:spPr>
          <a:xfrm rot="21450000">
            <a:off x="3619500" y="2679700"/>
            <a:ext cx="2336800" cy="3530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qr-repo-titulo">
            <a:hlinkClick action="ppaction://hlinksldjump" r:id="rId13"/>
          </p:cNvPr>
          <p:cNvSpPr txBox="1"/>
          <p:nvPr/>
        </p:nvSpPr>
        <p:spPr>
          <a:xfrm rot="21450000">
            <a:off x="3722732" y="2936786"/>
            <a:ext cx="1054001" cy="203200"/>
          </a:xfrm>
          <a:prstGeom prst="rect">
            <a:avLst/>
          </a:prstGeom>
          <a:noFill/>
        </p:spPr>
        <p:txBody>
          <a:bodyPr wrap="none" lIns="0" tIns="20015" r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0" i="0" cap="all" spc="-32">
                <a:solidFill>
                  <a:srgbClr val="0B0B0D"/>
                </a:solidFill>
                <a:latin typeface="Work Sans Black"/>
              </a:rPr>
              <a:t>El código</a:t>
            </a:r>
            <a:endParaRPr sz="1600"/>
          </a:p>
        </p:txBody>
      </p:sp>
      <p:pic>
        <p:nvPicPr>
          <p:cNvPr id="14" name="!!qr-repo-codigo" descr="qr-repo.png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50000">
            <a:off x="3777398" y="3276757"/>
            <a:ext cx="2006600" cy="2006600"/>
          </a:xfrm>
          <a:prstGeom prst="rect">
            <a:avLst/>
          </a:prstGeom>
        </p:spPr>
      </p:pic>
      <p:sp>
        <p:nvSpPr>
          <p:cNvPr id="15" name="!!qr-repo-pie">
            <a:hlinkClick action="ppaction://hlinksldjump" r:id="rId13"/>
          </p:cNvPr>
          <p:cNvSpPr txBox="1"/>
          <p:nvPr/>
        </p:nvSpPr>
        <p:spPr>
          <a:xfrm rot="21450000">
            <a:off x="4043189" y="5358356"/>
            <a:ext cx="1585119" cy="365125"/>
          </a:xfrm>
          <a:prstGeom prst="rect">
            <a:avLst/>
          </a:prstGeom>
          <a:noFill/>
        </p:spPr>
        <p:txBody>
          <a:bodyPr wrap="none" lIns="0" tIns="5440" rIns="0" bIns="0" anchor="t">
            <a:noAutofit/>
          </a:bodyPr>
          <a:lstStyle/>
          <a:p>
            <a:pPr algn="ctr">
              <a:lnSpc>
                <a:spcPts val="1437"/>
              </a:lnSpc>
            </a:pPr>
            <a:r>
              <a:rPr sz="1150" b="0" i="0">
                <a:solidFill>
                  <a:srgbClr val="0B0B0D"/>
                </a:solidFill>
                <a:latin typeface="Work Sans SemiBold"/>
              </a:rPr>
              <a:t>github.com/dsanchor/</a:t>
            </a:r>
            <a:br/>
            <a:r>
              <a:rPr sz="1150" b="0" i="0">
                <a:solidFill>
                  <a:srgbClr val="0B0B0D"/>
                </a:solidFill>
                <a:latin typeface="Work Sans SemiBold"/>
              </a:rPr>
              <a:t>morcillaconf</a:t>
            </a:r>
            <a:endParaRPr sz="1150"/>
          </a:p>
        </p:txBody>
      </p:sp>
      <p:sp>
        <p:nvSpPr>
          <p:cNvPr id="16" name="!!qr-jesus-carta-sombra">
            <a:hlinkClick action="ppaction://hlinksldjump" r:id="rId14"/>
          </p:cNvPr>
          <p:cNvSpPr/>
          <p:nvPr/>
        </p:nvSpPr>
        <p:spPr>
          <a:xfrm rot="150000">
            <a:off x="6333904" y="2746451"/>
            <a:ext cx="2362200" cy="3556000"/>
          </a:xfrm>
          <a:prstGeom prst="roundRect">
            <a:avLst>
              <a:gd name="adj" fmla="val 4838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qr-jesus-carta">
            <a:hlinkClick action="ppaction://hlinksldjump" r:id="rId14"/>
          </p:cNvPr>
          <p:cNvSpPr/>
          <p:nvPr/>
        </p:nvSpPr>
        <p:spPr>
          <a:xfrm rot="150000">
            <a:off x="6273800" y="2679700"/>
            <a:ext cx="2336800" cy="3530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qr-jesus-titulo">
            <a:hlinkClick action="ppaction://hlinksldjump" r:id="rId14"/>
          </p:cNvPr>
          <p:cNvSpPr txBox="1"/>
          <p:nvPr/>
        </p:nvSpPr>
        <p:spPr>
          <a:xfrm rot="150000">
            <a:off x="6857129" y="2901882"/>
            <a:ext cx="647601" cy="203200"/>
          </a:xfrm>
          <a:prstGeom prst="rect">
            <a:avLst/>
          </a:prstGeom>
          <a:noFill/>
        </p:spPr>
        <p:txBody>
          <a:bodyPr wrap="none" lIns="0" tIns="20015" r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0" i="0" cap="all" spc="-32">
                <a:solidFill>
                  <a:srgbClr val="0B0B0D"/>
                </a:solidFill>
                <a:latin typeface="Work Sans Black"/>
              </a:rPr>
              <a:t>Jesús</a:t>
            </a:r>
            <a:endParaRPr sz="1600"/>
          </a:p>
        </p:txBody>
      </p:sp>
      <p:pic>
        <p:nvPicPr>
          <p:cNvPr id="19" name="!!qr-jesus-li" descr="linkedin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0000">
            <a:off x="6502043" y="2840240"/>
            <a:ext cx="279400" cy="279400"/>
          </a:xfrm>
          <a:prstGeom prst="rect">
            <a:avLst/>
          </a:prstGeom>
        </p:spPr>
      </p:pic>
      <p:pic>
        <p:nvPicPr>
          <p:cNvPr id="20" name="!!qr-jesus-foto" descr="jesus-gris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0000">
            <a:off x="8148267" y="2878716"/>
            <a:ext cx="349250" cy="349250"/>
          </a:xfrm>
          <a:prstGeom prst="roundRect">
            <a:avLst>
              <a:gd name="adj" fmla="val 18181"/>
            </a:avLst>
          </a:prstGeom>
          <a:ln w="19050">
            <a:solidFill>
              <a:srgbClr val="0B0B0D"/>
            </a:solidFill>
          </a:ln>
        </p:spPr>
      </p:pic>
      <p:pic>
        <p:nvPicPr>
          <p:cNvPr id="21" name="!!qr-jesus-codigo" descr="qr-jesus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0000">
            <a:off x="6446102" y="3276757"/>
            <a:ext cx="2006600" cy="2006600"/>
          </a:xfrm>
          <a:prstGeom prst="rect">
            <a:avLst/>
          </a:prstGeom>
        </p:spPr>
      </p:pic>
      <p:sp>
        <p:nvSpPr>
          <p:cNvPr id="22" name="!!qr-jesus-pie">
            <a:hlinkClick action="ppaction://hlinksldjump" r:id="rId14"/>
          </p:cNvPr>
          <p:cNvSpPr txBox="1"/>
          <p:nvPr/>
        </p:nvSpPr>
        <p:spPr>
          <a:xfrm rot="150000">
            <a:off x="6462009" y="5358348"/>
            <a:ext cx="1863923" cy="382588"/>
          </a:xfrm>
          <a:prstGeom prst="rect">
            <a:avLst/>
          </a:prstGeom>
          <a:noFill/>
        </p:spPr>
        <p:txBody>
          <a:bodyPr wrap="none" lIns="0" tIns="5440" rIns="0" bIns="0" anchor="t">
            <a:noAutofit/>
          </a:bodyPr>
          <a:lstStyle/>
          <a:p>
            <a:pPr algn="ctr">
              <a:lnSpc>
                <a:spcPts val="1437"/>
              </a:lnSpc>
            </a:pPr>
            <a:r>
              <a:rPr sz="1150" b="0" i="0">
                <a:solidFill>
                  <a:srgbClr val="0B0B0D"/>
                </a:solidFill>
                <a:latin typeface="Work Sans SemiBold"/>
              </a:rPr>
              <a:t>Jesús Rubio Sainz</a:t>
            </a:r>
            <a:endParaRPr sz="1150"/>
          </a:p>
          <a:p>
            <a:pPr algn="ctr">
              <a:lnSpc>
                <a:spcPts val="1437"/>
              </a:lnSpc>
            </a:pPr>
            <a:r>
              <a:rPr sz="1100" b="0" i="0">
                <a:solidFill>
                  <a:srgbClr val="5F5F66"/>
                </a:solidFill>
                <a:latin typeface="Work Sans Medium"/>
              </a:rPr>
              <a:t>linkedin.com/in/jrubiosainz</a:t>
            </a:r>
            <a:endParaRPr sz="1100"/>
          </a:p>
        </p:txBody>
      </p:sp>
      <p:sp>
        <p:nvSpPr>
          <p:cNvPr id="23" name="!!qr-david-carta-sombra">
            <a:hlinkClick action="ppaction://hlinksldjump" r:id="rId15"/>
          </p:cNvPr>
          <p:cNvSpPr/>
          <p:nvPr/>
        </p:nvSpPr>
        <p:spPr>
          <a:xfrm rot="420000">
            <a:off x="8981746" y="2942418"/>
            <a:ext cx="2362200" cy="3556000"/>
          </a:xfrm>
          <a:prstGeom prst="roundRect">
            <a:avLst>
              <a:gd name="adj" fmla="val 4838"/>
            </a:avLst>
          </a:pr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!!qr-david-carta">
            <a:hlinkClick action="ppaction://hlinksldjump" r:id="rId15"/>
          </p:cNvPr>
          <p:cNvSpPr/>
          <p:nvPr/>
        </p:nvSpPr>
        <p:spPr>
          <a:xfrm rot="420000">
            <a:off x="8928100" y="2870200"/>
            <a:ext cx="2336800" cy="3530600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25400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!!qr-david-titulo">
            <a:hlinkClick action="ppaction://hlinksldjump" r:id="rId15"/>
          </p:cNvPr>
          <p:cNvSpPr txBox="1"/>
          <p:nvPr/>
        </p:nvSpPr>
        <p:spPr>
          <a:xfrm rot="420000">
            <a:off x="9625511" y="3073454"/>
            <a:ext cx="600472" cy="203200"/>
          </a:xfrm>
          <a:prstGeom prst="rect">
            <a:avLst/>
          </a:prstGeom>
          <a:noFill/>
        </p:spPr>
        <p:txBody>
          <a:bodyPr wrap="none" lIns="0" tIns="20015" r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0" i="0" cap="all" spc="-32">
                <a:solidFill>
                  <a:srgbClr val="0B0B0D"/>
                </a:solidFill>
                <a:latin typeface="Work Sans Black"/>
              </a:rPr>
              <a:t>David</a:t>
            </a:r>
            <a:endParaRPr sz="1600"/>
          </a:p>
        </p:txBody>
      </p:sp>
      <p:pic>
        <p:nvPicPr>
          <p:cNvPr id="26" name="!!qr-david-li" descr="linkedin.png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20000">
            <a:off x="9273758" y="2972453"/>
            <a:ext cx="279400" cy="279400"/>
          </a:xfrm>
          <a:prstGeom prst="rect">
            <a:avLst/>
          </a:prstGeom>
        </p:spPr>
      </p:pic>
      <p:pic>
        <p:nvPicPr>
          <p:cNvPr id="27" name="!!qr-david-foto" descr="david-gris.png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0000">
            <a:off x="10909040" y="3142604"/>
            <a:ext cx="349250" cy="349250"/>
          </a:xfrm>
          <a:prstGeom prst="roundRect">
            <a:avLst>
              <a:gd name="adj" fmla="val 18181"/>
            </a:avLst>
          </a:prstGeom>
          <a:ln w="19050">
            <a:solidFill>
              <a:srgbClr val="0B0B0D"/>
            </a:solidFill>
          </a:ln>
        </p:spPr>
      </p:pic>
      <p:pic>
        <p:nvPicPr>
          <p:cNvPr id="28" name="!!qr-david-codigo" descr="qr-david.png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20000">
            <a:off x="9113321" y="3468331"/>
            <a:ext cx="2006600" cy="2006600"/>
          </a:xfrm>
          <a:prstGeom prst="rect">
            <a:avLst/>
          </a:prstGeom>
        </p:spPr>
      </p:pic>
      <p:sp>
        <p:nvSpPr>
          <p:cNvPr id="29" name="!!qr-david-pie">
            <a:hlinkClick action="ppaction://hlinksldjump" r:id="rId15"/>
          </p:cNvPr>
          <p:cNvSpPr txBox="1"/>
          <p:nvPr/>
        </p:nvSpPr>
        <p:spPr>
          <a:xfrm rot="420000">
            <a:off x="8988613" y="5541652"/>
            <a:ext cx="1946176" cy="382588"/>
          </a:xfrm>
          <a:prstGeom prst="rect">
            <a:avLst/>
          </a:prstGeom>
          <a:noFill/>
        </p:spPr>
        <p:txBody>
          <a:bodyPr wrap="none" lIns="0" tIns="5440" rIns="0" bIns="0" anchor="t">
            <a:noAutofit/>
          </a:bodyPr>
          <a:lstStyle/>
          <a:p>
            <a:pPr algn="ctr">
              <a:lnSpc>
                <a:spcPts val="1437"/>
              </a:lnSpc>
            </a:pPr>
            <a:r>
              <a:rPr sz="1150" b="0" i="0">
                <a:solidFill>
                  <a:srgbClr val="0B0B0D"/>
                </a:solidFill>
                <a:latin typeface="Work Sans SemiBold"/>
              </a:rPr>
              <a:t>David Sancho Ruiz</a:t>
            </a:r>
            <a:endParaRPr sz="1150"/>
          </a:p>
          <a:p>
            <a:pPr algn="ctr">
              <a:lnSpc>
                <a:spcPts val="1437"/>
              </a:lnSpc>
            </a:pPr>
            <a:r>
              <a:rPr sz="1100" b="0" i="0">
                <a:solidFill>
                  <a:srgbClr val="5F5F66"/>
                </a:solidFill>
                <a:latin typeface="Work Sans Medium"/>
              </a:rPr>
              <a:t>linkedin.com/in/dsanchoruiz</a:t>
            </a:r>
            <a:endParaRPr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r-demo-carta-sombra"/>
          <p:cNvSpPr/>
          <p:nvPr/>
        </p:nvSpPr>
        <p:spPr>
          <a:xfrm>
            <a:off x="4306062" y="672084"/>
            <a:ext cx="3826764" cy="5760720"/>
          </a:xfrm>
          <a:prstGeom prst="roundRect">
            <a:avLst>
              <a:gd name="adj" fmla="val 4838"/>
            </a:avLst>
          </a:prstGeom>
          <a:solidFill>
            <a:srgbClr val="EF6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qr-demo-carta"/>
          <p:cNvSpPr/>
          <p:nvPr/>
        </p:nvSpPr>
        <p:spPr>
          <a:xfrm>
            <a:off x="4203192" y="569214"/>
            <a:ext cx="3785616" cy="571957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41148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qr-demo-titulo"/>
          <p:cNvSpPr txBox="1"/>
          <p:nvPr/>
        </p:nvSpPr>
        <p:spPr>
          <a:xfrm>
            <a:off x="4470654" y="816102"/>
            <a:ext cx="1452717" cy="658368"/>
          </a:xfrm>
          <a:prstGeom prst="rect">
            <a:avLst/>
          </a:prstGeom>
          <a:noFill/>
        </p:spPr>
        <p:txBody>
          <a:bodyPr wrap="none" lIns="0" tIns="32425" rIns="0" bIns="0" anchor="t">
            <a:noAutofit/>
          </a:bodyPr>
          <a:lstStyle/>
          <a:p>
            <a:pPr algn="ctr">
              <a:lnSpc>
                <a:spcPts val="2592"/>
              </a:lnSpc>
            </a:pP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Prueba</a:t>
            </a:r>
            <a:br/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l</a:t>
            </a:r>
            <a:r>
              <a:rPr sz="2592" b="0" i="0" cap="all" spc="-78">
                <a:solidFill>
                  <a:srgbClr val="0B0B0D"/>
                </a:solidFill>
                <a:latin typeface="Work Sans Black"/>
              </a:rPr>
              <a:t>a</a:t>
            </a: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 demo</a:t>
            </a:r>
            <a:endParaRPr sz="2592"/>
          </a:p>
        </p:txBody>
      </p:sp>
      <p:pic>
        <p:nvPicPr>
          <p:cNvPr id="5" name="!!qr-demo-foto" descr="morcilla-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308" y="816102"/>
            <a:ext cx="627709" cy="658368"/>
          </a:xfrm>
          <a:prstGeom prst="rect">
            <a:avLst/>
          </a:prstGeom>
        </p:spPr>
      </p:pic>
      <p:pic>
        <p:nvPicPr>
          <p:cNvPr id="6" name="!!qr-demo-codigo" descr="qr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654" y="1597914"/>
            <a:ext cx="3250692" cy="3250692"/>
          </a:xfrm>
          <a:prstGeom prst="rect">
            <a:avLst/>
          </a:prstGeom>
        </p:spPr>
      </p:pic>
      <p:sp>
        <p:nvSpPr>
          <p:cNvPr id="7" name="!!qr-demo-pie"/>
          <p:cNvSpPr txBox="1"/>
          <p:nvPr/>
        </p:nvSpPr>
        <p:spPr>
          <a:xfrm>
            <a:off x="4892582" y="4972050"/>
            <a:ext cx="2406676" cy="619792"/>
          </a:xfrm>
          <a:prstGeom prst="rect">
            <a:avLst/>
          </a:prstGeom>
          <a:noFill/>
        </p:spPr>
        <p:txBody>
          <a:bodyPr wrap="none" lIns="0" tIns="8813" rIns="0" bIns="0" anchor="t">
            <a:noAutofit/>
          </a:bodyPr>
          <a:lstStyle/>
          <a:p>
            <a:pPr algn="ctr">
              <a:lnSpc>
                <a:spcPts val="2328"/>
              </a:lnSpc>
            </a:pPr>
            <a:r>
              <a:rPr sz="1863" b="0" i="0">
                <a:solidFill>
                  <a:srgbClr val="0B0B0D"/>
                </a:solidFill>
                <a:latin typeface="Work Sans SemiBold"/>
              </a:rPr>
              <a:t>E</a:t>
            </a:r>
            <a:r>
              <a:rPr sz="1863" b="0" i="0" spc="-8">
                <a:solidFill>
                  <a:srgbClr val="0B0B0D"/>
                </a:solidFill>
                <a:latin typeface="Work Sans SemiBold"/>
              </a:rPr>
              <a:t>n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t</a:t>
            </a:r>
            <a:r>
              <a:rPr sz="1863" b="0" i="0" spc="-17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 spc="-26">
                <a:solidFill>
                  <a:srgbClr val="0B0B0D"/>
                </a:solidFill>
                <a:latin typeface="Work Sans SemiBold"/>
              </a:rPr>
              <a:t>a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 con</a:t>
            </a:r>
            <a:r>
              <a:rPr sz="1863" b="0" i="0" spc="-22">
                <a:solidFill>
                  <a:srgbClr val="0B0B0D"/>
                </a:solidFill>
                <a:latin typeface="Work Sans SemiBold"/>
              </a:rPr>
              <a:t> 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tu nomb</a:t>
            </a:r>
            <a:r>
              <a:rPr sz="1863" b="0" i="0" spc="-18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e</a:t>
            </a:r>
            <a:endParaRPr sz="1863"/>
          </a:p>
          <a:p>
            <a:pPr algn="ctr">
              <a:lnSpc>
                <a:spcPts val="2328"/>
              </a:lnSpc>
            </a:pPr>
            <a:r>
              <a:rPr sz="1782" b="0" i="0">
                <a:solidFill>
                  <a:srgbClr val="5F5F66"/>
                </a:solidFill>
                <a:latin typeface="Work Sans Medium"/>
              </a:rPr>
              <a:t>El mesón, en Azure</a:t>
            </a:r>
            <a:endParaRPr sz="1782"/>
          </a:p>
        </p:txBody>
      </p:sp>
      <p:sp>
        <p:nvSpPr>
          <p:cNvPr id="8" name="volver">
            <a:hlinkClick action="ppaction://hlinksldjump" r:id="rId5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r-repo-carta-sombra"/>
          <p:cNvSpPr/>
          <p:nvPr/>
        </p:nvSpPr>
        <p:spPr>
          <a:xfrm>
            <a:off x="4306062" y="672084"/>
            <a:ext cx="3826764" cy="5760720"/>
          </a:xfrm>
          <a:prstGeom prst="roundRect">
            <a:avLst>
              <a:gd name="adj" fmla="val 4838"/>
            </a:avLst>
          </a:prstGeom>
          <a:solidFill>
            <a:srgbClr val="D9C5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qr-repo-carta"/>
          <p:cNvSpPr/>
          <p:nvPr/>
        </p:nvSpPr>
        <p:spPr>
          <a:xfrm>
            <a:off x="4203192" y="569214"/>
            <a:ext cx="3785616" cy="571957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41148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qr-repo-titulo"/>
          <p:cNvSpPr txBox="1"/>
          <p:nvPr/>
        </p:nvSpPr>
        <p:spPr>
          <a:xfrm>
            <a:off x="4470654" y="949833"/>
            <a:ext cx="1707481" cy="329184"/>
          </a:xfrm>
          <a:prstGeom prst="rect">
            <a:avLst/>
          </a:prstGeom>
          <a:noFill/>
        </p:spPr>
        <p:txBody>
          <a:bodyPr wrap="none" lIns="0" tIns="32425" rIns="0" bIns="0" anchor="t">
            <a:noAutofit/>
          </a:bodyPr>
          <a:lstStyle/>
          <a:p>
            <a:pPr algn="ctr">
              <a:lnSpc>
                <a:spcPts val="2592"/>
              </a:lnSpc>
            </a:pP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E</a:t>
            </a:r>
            <a:r>
              <a:rPr sz="2592" b="0" i="0" cap="all" spc="-103">
                <a:solidFill>
                  <a:srgbClr val="0B0B0D"/>
                </a:solidFill>
                <a:latin typeface="Work Sans Black"/>
              </a:rPr>
              <a:t>l</a:t>
            </a: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 código</a:t>
            </a:r>
            <a:endParaRPr sz="2592"/>
          </a:p>
        </p:txBody>
      </p:sp>
      <p:pic>
        <p:nvPicPr>
          <p:cNvPr id="5" name="!!qr-repo-codigo" descr="qr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54" y="1536192"/>
            <a:ext cx="3250692" cy="3250692"/>
          </a:xfrm>
          <a:prstGeom prst="rect">
            <a:avLst/>
          </a:prstGeom>
        </p:spPr>
      </p:pic>
      <p:sp>
        <p:nvSpPr>
          <p:cNvPr id="6" name="!!qr-repo-pie"/>
          <p:cNvSpPr txBox="1"/>
          <p:nvPr/>
        </p:nvSpPr>
        <p:spPr>
          <a:xfrm>
            <a:off x="4812054" y="4910328"/>
            <a:ext cx="2567892" cy="591502"/>
          </a:xfrm>
          <a:prstGeom prst="rect">
            <a:avLst/>
          </a:prstGeom>
          <a:noFill/>
        </p:spPr>
        <p:txBody>
          <a:bodyPr wrap="none" lIns="0" tIns="8813" rIns="0" bIns="0" anchor="t">
            <a:noAutofit/>
          </a:bodyPr>
          <a:lstStyle/>
          <a:p>
            <a:pPr algn="ctr">
              <a:lnSpc>
                <a:spcPts val="2328"/>
              </a:lnSpc>
            </a:pPr>
            <a:r>
              <a:rPr sz="1863" b="0" i="0">
                <a:solidFill>
                  <a:srgbClr val="0B0B0D"/>
                </a:solidFill>
                <a:latin typeface="Work Sans SemiBold"/>
              </a:rPr>
              <a:t>gi</a:t>
            </a:r>
            <a:r>
              <a:rPr sz="1863" b="0" i="0" spc="15">
                <a:solidFill>
                  <a:srgbClr val="0B0B0D"/>
                </a:solidFill>
                <a:latin typeface="Work Sans SemiBold"/>
              </a:rPr>
              <a:t>t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hu</a:t>
            </a:r>
            <a:r>
              <a:rPr sz="1863" b="0" i="0" spc="-32">
                <a:solidFill>
                  <a:srgbClr val="0B0B0D"/>
                </a:solidFill>
                <a:latin typeface="Work Sans SemiBold"/>
              </a:rPr>
              <a:t>b.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com</a:t>
            </a:r>
            <a:r>
              <a:rPr sz="1863" b="0" i="0" spc="-92">
                <a:solidFill>
                  <a:srgbClr val="0B0B0D"/>
                </a:solidFill>
                <a:latin typeface="Work Sans SemiBold"/>
              </a:rPr>
              <a:t>/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dsancho</a:t>
            </a:r>
            <a:r>
              <a:rPr sz="1863" b="0" i="0" spc="-104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/</a:t>
            </a:r>
            <a:br/>
            <a:r>
              <a:rPr sz="1863" b="0" i="0">
                <a:solidFill>
                  <a:srgbClr val="0B0B0D"/>
                </a:solidFill>
                <a:latin typeface="Work Sans SemiBold"/>
              </a:rPr>
              <a:t>mo</a:t>
            </a:r>
            <a:r>
              <a:rPr sz="1863" b="0" i="0" spc="-18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cil</a:t>
            </a:r>
            <a:r>
              <a:rPr sz="1863" b="0" i="0" spc="10">
                <a:solidFill>
                  <a:srgbClr val="0B0B0D"/>
                </a:solidFill>
                <a:latin typeface="Work Sans SemiBold"/>
              </a:rPr>
              <a:t>l</a:t>
            </a:r>
            <a:r>
              <a:rPr sz="1863" b="0" i="0" spc="-4">
                <a:solidFill>
                  <a:srgbClr val="0B0B0D"/>
                </a:solidFill>
                <a:latin typeface="Work Sans SemiBold"/>
              </a:rPr>
              <a:t>a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co</a:t>
            </a:r>
            <a:r>
              <a:rPr sz="1863" b="0" i="0" spc="-8">
                <a:solidFill>
                  <a:srgbClr val="0B0B0D"/>
                </a:solidFill>
                <a:latin typeface="Work Sans SemiBold"/>
              </a:rPr>
              <a:t>n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f</a:t>
            </a:r>
            <a:endParaRPr sz="1863"/>
          </a:p>
        </p:txBody>
      </p:sp>
      <p:sp>
        <p:nvSpPr>
          <p:cNvPr id="7" name="volver">
            <a:hlinkClick action="ppaction://hlinksldjump"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r-jesus-carta-sombra"/>
          <p:cNvSpPr/>
          <p:nvPr/>
        </p:nvSpPr>
        <p:spPr>
          <a:xfrm>
            <a:off x="4306062" y="672084"/>
            <a:ext cx="3826764" cy="5760720"/>
          </a:xfrm>
          <a:prstGeom prst="roundRect">
            <a:avLst>
              <a:gd name="adj" fmla="val 4838"/>
            </a:avLst>
          </a:prstGeom>
          <a:solidFill>
            <a:srgbClr val="96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qr-jesus-carta"/>
          <p:cNvSpPr/>
          <p:nvPr/>
        </p:nvSpPr>
        <p:spPr>
          <a:xfrm>
            <a:off x="4203192" y="569214"/>
            <a:ext cx="3785616" cy="571957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41148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qr-jesus-titulo"/>
          <p:cNvSpPr txBox="1"/>
          <p:nvPr/>
        </p:nvSpPr>
        <p:spPr>
          <a:xfrm>
            <a:off x="5046726" y="949833"/>
            <a:ext cx="1049113" cy="329184"/>
          </a:xfrm>
          <a:prstGeom prst="rect">
            <a:avLst/>
          </a:prstGeom>
          <a:noFill/>
        </p:spPr>
        <p:txBody>
          <a:bodyPr wrap="none" lIns="0" tIns="32425" rIns="0" bIns="0" anchor="t">
            <a:noAutofit/>
          </a:bodyPr>
          <a:lstStyle/>
          <a:p>
            <a:pPr algn="ctr">
              <a:lnSpc>
                <a:spcPts val="2592"/>
              </a:lnSpc>
            </a:pP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Jesús</a:t>
            </a:r>
            <a:endParaRPr sz="2592"/>
          </a:p>
        </p:txBody>
      </p:sp>
      <p:pic>
        <p:nvPicPr>
          <p:cNvPr id="5" name="!!qr-jesus-li" descr="linke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54" y="888111"/>
            <a:ext cx="452628" cy="452628"/>
          </a:xfrm>
          <a:prstGeom prst="rect">
            <a:avLst/>
          </a:prstGeom>
        </p:spPr>
      </p:pic>
      <p:pic>
        <p:nvPicPr>
          <p:cNvPr id="6" name="!!qr-jesus-foto" descr="jesus-gr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130" y="831532"/>
            <a:ext cx="565785" cy="565785"/>
          </a:xfrm>
          <a:prstGeom prst="roundRect">
            <a:avLst>
              <a:gd name="adj" fmla="val 18181"/>
            </a:avLst>
          </a:prstGeom>
          <a:ln w="30861">
            <a:solidFill>
              <a:srgbClr val="0B0B0D"/>
            </a:solidFill>
          </a:ln>
        </p:spPr>
      </p:pic>
      <p:pic>
        <p:nvPicPr>
          <p:cNvPr id="7" name="!!qr-jesus-codigo" descr="qr-jes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654" y="1536192"/>
            <a:ext cx="3250692" cy="3250692"/>
          </a:xfrm>
          <a:prstGeom prst="rect">
            <a:avLst/>
          </a:prstGeom>
        </p:spPr>
      </p:pic>
      <p:sp>
        <p:nvSpPr>
          <p:cNvPr id="8" name="!!qr-jesus-pie"/>
          <p:cNvSpPr txBox="1"/>
          <p:nvPr/>
        </p:nvSpPr>
        <p:spPr>
          <a:xfrm>
            <a:off x="4586222" y="4910328"/>
            <a:ext cx="3019556" cy="619792"/>
          </a:xfrm>
          <a:prstGeom prst="rect">
            <a:avLst/>
          </a:prstGeom>
          <a:noFill/>
        </p:spPr>
        <p:txBody>
          <a:bodyPr wrap="none" lIns="0" tIns="8813" rIns="0" bIns="0" anchor="t">
            <a:noAutofit/>
          </a:bodyPr>
          <a:lstStyle/>
          <a:p>
            <a:pPr algn="ctr">
              <a:lnSpc>
                <a:spcPts val="2328"/>
              </a:lnSpc>
            </a:pPr>
            <a:r>
              <a:rPr sz="1863" b="0" i="0" spc="-10">
                <a:solidFill>
                  <a:srgbClr val="0B0B0D"/>
                </a:solidFill>
                <a:latin typeface="Work Sans SemiBold"/>
              </a:rPr>
              <a:t>J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esús </a:t>
            </a:r>
            <a:r>
              <a:rPr sz="1863" b="0" i="0" spc="-13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ubio </a:t>
            </a:r>
            <a:r>
              <a:rPr sz="1863" b="0" i="0" spc="-11">
                <a:solidFill>
                  <a:srgbClr val="0B0B0D"/>
                </a:solidFill>
                <a:latin typeface="Work Sans SemiBold"/>
              </a:rPr>
              <a:t>S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ainz</a:t>
            </a:r>
            <a:endParaRPr sz="1863"/>
          </a:p>
          <a:p>
            <a:pPr algn="ctr">
              <a:lnSpc>
                <a:spcPts val="2328"/>
              </a:lnSpc>
            </a:pPr>
            <a:r>
              <a:rPr sz="1782" b="0" i="0">
                <a:solidFill>
                  <a:srgbClr val="5F5F66"/>
                </a:solidFill>
                <a:latin typeface="Work Sans Medium"/>
              </a:rPr>
              <a:t>linkedin.com/in/jrubiosainz</a:t>
            </a:r>
            <a:endParaRPr sz="1782"/>
          </a:p>
        </p:txBody>
      </p:sp>
      <p:sp>
        <p:nvSpPr>
          <p:cNvPr id="9" name="volver">
            <a:hlinkClick action="ppaction://hlinksldjump" r:id="rId6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r-david-carta-sombra"/>
          <p:cNvSpPr/>
          <p:nvPr/>
        </p:nvSpPr>
        <p:spPr>
          <a:xfrm>
            <a:off x="4306062" y="672084"/>
            <a:ext cx="3826764" cy="5760720"/>
          </a:xfrm>
          <a:prstGeom prst="roundRect">
            <a:avLst>
              <a:gd name="adj" fmla="val 4838"/>
            </a:avLst>
          </a:prstGeom>
          <a:solidFill>
            <a:srgbClr val="F8C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qr-david-carta"/>
          <p:cNvSpPr/>
          <p:nvPr/>
        </p:nvSpPr>
        <p:spPr>
          <a:xfrm>
            <a:off x="4203192" y="569214"/>
            <a:ext cx="3785616" cy="5719572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41148">
            <a:solidFill>
              <a:srgbClr val="0B0B0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qr-david-titulo"/>
          <p:cNvSpPr txBox="1"/>
          <p:nvPr/>
        </p:nvSpPr>
        <p:spPr>
          <a:xfrm>
            <a:off x="5046726" y="949833"/>
            <a:ext cx="972764" cy="329184"/>
          </a:xfrm>
          <a:prstGeom prst="rect">
            <a:avLst/>
          </a:prstGeom>
          <a:noFill/>
        </p:spPr>
        <p:txBody>
          <a:bodyPr wrap="none" lIns="0" tIns="32425" rIns="0" bIns="0" anchor="t">
            <a:noAutofit/>
          </a:bodyPr>
          <a:lstStyle/>
          <a:p>
            <a:pPr algn="ctr">
              <a:lnSpc>
                <a:spcPts val="2592"/>
              </a:lnSpc>
            </a:pPr>
            <a:r>
              <a:rPr sz="2592" b="0" i="0" cap="all" spc="-119">
                <a:solidFill>
                  <a:srgbClr val="0B0B0D"/>
                </a:solidFill>
                <a:latin typeface="Work Sans Black"/>
              </a:rPr>
              <a:t>D</a:t>
            </a:r>
            <a:r>
              <a:rPr sz="2592" b="0" i="0" cap="all" spc="-259">
                <a:solidFill>
                  <a:srgbClr val="0B0B0D"/>
                </a:solidFill>
                <a:latin typeface="Work Sans Black"/>
              </a:rPr>
              <a:t>a</a:t>
            </a:r>
            <a:r>
              <a:rPr sz="2592" b="0" i="0" cap="all" spc="-52">
                <a:solidFill>
                  <a:srgbClr val="0B0B0D"/>
                </a:solidFill>
                <a:latin typeface="Work Sans Black"/>
              </a:rPr>
              <a:t>vid</a:t>
            </a:r>
            <a:endParaRPr sz="2592"/>
          </a:p>
        </p:txBody>
      </p:sp>
      <p:pic>
        <p:nvPicPr>
          <p:cNvPr id="5" name="!!qr-david-li" descr="linke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54" y="888111"/>
            <a:ext cx="452628" cy="452628"/>
          </a:xfrm>
          <a:prstGeom prst="rect">
            <a:avLst/>
          </a:prstGeom>
        </p:spPr>
      </p:pic>
      <p:pic>
        <p:nvPicPr>
          <p:cNvPr id="6" name="!!qr-david-foto" descr="david-gr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130" y="831532"/>
            <a:ext cx="565785" cy="565785"/>
          </a:xfrm>
          <a:prstGeom prst="roundRect">
            <a:avLst>
              <a:gd name="adj" fmla="val 18181"/>
            </a:avLst>
          </a:prstGeom>
          <a:ln w="30861">
            <a:solidFill>
              <a:srgbClr val="0B0B0D"/>
            </a:solidFill>
          </a:ln>
        </p:spPr>
      </p:pic>
      <p:pic>
        <p:nvPicPr>
          <p:cNvPr id="7" name="!!qr-david-codigo" descr="qr-da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654" y="1536192"/>
            <a:ext cx="3250692" cy="3250692"/>
          </a:xfrm>
          <a:prstGeom prst="rect">
            <a:avLst/>
          </a:prstGeom>
        </p:spPr>
      </p:pic>
      <p:sp>
        <p:nvSpPr>
          <p:cNvPr id="8" name="!!qr-david-pie"/>
          <p:cNvSpPr txBox="1"/>
          <p:nvPr/>
        </p:nvSpPr>
        <p:spPr>
          <a:xfrm>
            <a:off x="4519517" y="4910328"/>
            <a:ext cx="3152805" cy="619792"/>
          </a:xfrm>
          <a:prstGeom prst="rect">
            <a:avLst/>
          </a:prstGeom>
          <a:noFill/>
        </p:spPr>
        <p:txBody>
          <a:bodyPr wrap="none" lIns="0" tIns="8813" rIns="0" bIns="0" anchor="t">
            <a:noAutofit/>
          </a:bodyPr>
          <a:lstStyle/>
          <a:p>
            <a:pPr algn="ctr">
              <a:lnSpc>
                <a:spcPts val="2328"/>
              </a:lnSpc>
            </a:pPr>
            <a:r>
              <a:rPr sz="1863" b="0" i="0" spc="-8">
                <a:solidFill>
                  <a:srgbClr val="0B0B0D"/>
                </a:solidFill>
                <a:latin typeface="Work Sans SemiBold"/>
              </a:rPr>
              <a:t>D</a:t>
            </a:r>
            <a:r>
              <a:rPr sz="1863" b="0" i="0" spc="-38">
                <a:solidFill>
                  <a:srgbClr val="0B0B0D"/>
                </a:solidFill>
                <a:latin typeface="Work Sans SemiBold"/>
              </a:rPr>
              <a:t>a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vid </a:t>
            </a:r>
            <a:r>
              <a:rPr sz="1863" b="0" i="0" spc="-11">
                <a:solidFill>
                  <a:srgbClr val="0B0B0D"/>
                </a:solidFill>
                <a:latin typeface="Work Sans SemiBold"/>
              </a:rPr>
              <a:t>S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ancho </a:t>
            </a:r>
            <a:r>
              <a:rPr sz="1863" b="0" i="0" spc="-13">
                <a:solidFill>
                  <a:srgbClr val="0B0B0D"/>
                </a:solidFill>
                <a:latin typeface="Work Sans SemiBold"/>
              </a:rPr>
              <a:t>R</a:t>
            </a:r>
            <a:r>
              <a:rPr sz="1863" b="0" i="0">
                <a:solidFill>
                  <a:srgbClr val="0B0B0D"/>
                </a:solidFill>
                <a:latin typeface="Work Sans SemiBold"/>
              </a:rPr>
              <a:t>uiz</a:t>
            </a:r>
            <a:endParaRPr sz="1863"/>
          </a:p>
          <a:p>
            <a:pPr algn="ctr">
              <a:lnSpc>
                <a:spcPts val="2328"/>
              </a:lnSpc>
            </a:pPr>
            <a:r>
              <a:rPr sz="1782" b="0" i="0">
                <a:solidFill>
                  <a:srgbClr val="5F5F66"/>
                </a:solidFill>
                <a:latin typeface="Work Sans Medium"/>
              </a:rPr>
              <a:t>linkedin.com/in/dsanchoruiz</a:t>
            </a:r>
            <a:endParaRPr sz="1782"/>
          </a:p>
        </p:txBody>
      </p:sp>
      <p:sp>
        <p:nvSpPr>
          <p:cNvPr id="9" name="volver">
            <a:hlinkClick action="ppaction://hlinksldjump" r:id="rId6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6B3B"/>
      </a:accent1>
      <a:accent2>
        <a:srgbClr val="F89841"/>
      </a:accent2>
      <a:accent3>
        <a:srgbClr val="85DADC"/>
      </a:accent3>
      <a:accent4>
        <a:srgbClr val="D9C58B"/>
      </a:accent4>
      <a:accent5>
        <a:srgbClr val="F8C4FF"/>
      </a:accent5>
      <a:accent6>
        <a:srgbClr val="96C4FF"/>
      </a:accent6>
      <a:hlink>
        <a:srgbClr val="EF6B3B"/>
      </a:hlink>
      <a:folHlink>
        <a:srgbClr val="F89841"/>
      </a:folHlink>
    </a:clrScheme>
    <a:fontScheme name="Office">
      <a:majorFont>
        <a:latin typeface="Work Sans Bla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Work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es magia, es arquitectura</dc:title>
  <dc:subject>MorcillaConf 2026 · Jesús Rubio Sainz y David Sancho Ruiz</dc:subject>
  <dc:creator>Jesús Rubio Sainz, David Sancho Ruiz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